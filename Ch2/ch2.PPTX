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7" r:id="rId1"/>
  </p:sldMasterIdLst>
  <p:notesMasterIdLst>
    <p:notesMasterId r:id="rId46"/>
  </p:notesMasterIdLst>
  <p:sldIdLst>
    <p:sldId id="256" r:id="rId2"/>
    <p:sldId id="268" r:id="rId3"/>
    <p:sldId id="259" r:id="rId4"/>
    <p:sldId id="267" r:id="rId5"/>
    <p:sldId id="263" r:id="rId6"/>
    <p:sldId id="266" r:id="rId7"/>
    <p:sldId id="264" r:id="rId8"/>
    <p:sldId id="269" r:id="rId9"/>
    <p:sldId id="273" r:id="rId10"/>
    <p:sldId id="274" r:id="rId11"/>
    <p:sldId id="275" r:id="rId12"/>
    <p:sldId id="313" r:id="rId13"/>
    <p:sldId id="317" r:id="rId14"/>
    <p:sldId id="318" r:id="rId15"/>
    <p:sldId id="276" r:id="rId16"/>
    <p:sldId id="277" r:id="rId17"/>
    <p:sldId id="319" r:id="rId18"/>
    <p:sldId id="270" r:id="rId19"/>
    <p:sldId id="271" r:id="rId20"/>
    <p:sldId id="272" r:id="rId21"/>
    <p:sldId id="278" r:id="rId22"/>
    <p:sldId id="280" r:id="rId23"/>
    <p:sldId id="282" r:id="rId24"/>
    <p:sldId id="316" r:id="rId25"/>
    <p:sldId id="323" r:id="rId26"/>
    <p:sldId id="626" r:id="rId27"/>
    <p:sldId id="575" r:id="rId28"/>
    <p:sldId id="289" r:id="rId29"/>
    <p:sldId id="308" r:id="rId30"/>
    <p:sldId id="309" r:id="rId31"/>
    <p:sldId id="310" r:id="rId32"/>
    <p:sldId id="311" r:id="rId33"/>
    <p:sldId id="265" r:id="rId34"/>
    <p:sldId id="314" r:id="rId35"/>
    <p:sldId id="315" r:id="rId36"/>
    <p:sldId id="285" r:id="rId37"/>
    <p:sldId id="320" r:id="rId38"/>
    <p:sldId id="321" r:id="rId39"/>
    <p:sldId id="312" r:id="rId40"/>
    <p:sldId id="322" r:id="rId41"/>
    <p:sldId id="283" r:id="rId42"/>
    <p:sldId id="284" r:id="rId43"/>
    <p:sldId id="279" r:id="rId44"/>
    <p:sldId id="286"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9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94660"/>
  </p:normalViewPr>
  <p:slideViewPr>
    <p:cSldViewPr snapToGrid="0">
      <p:cViewPr varScale="1">
        <p:scale>
          <a:sx n="59" d="100"/>
          <a:sy n="59" d="100"/>
        </p:scale>
        <p:origin x="94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6-24T13:45:12.953"/>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1,'10913'0,"-10908"0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6-24T13:45:17.99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1,'11230'0,"-11230"0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6-24T13:45:23.60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1,'2731'0,"-2732"0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69141D-405F-4B53-9ED9-F5E6B9ACF4CF}" type="datetimeFigureOut">
              <a:rPr lang="en-US" smtClean="0"/>
              <a:t>12/13/2024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7C8F5E-759F-436F-8A80-239E61BF6BDC}" type="slidenum">
              <a:rPr lang="en-US" smtClean="0"/>
              <a:t>‹#›</a:t>
            </a:fld>
            <a:endParaRPr lang="en-US"/>
          </a:p>
        </p:txBody>
      </p:sp>
    </p:spTree>
    <p:extLst>
      <p:ext uri="{BB962C8B-B14F-4D97-AF65-F5344CB8AC3E}">
        <p14:creationId xmlns:p14="http://schemas.microsoft.com/office/powerpoint/2010/main" val="644132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6"/>
        <p:cNvGrpSpPr/>
        <p:nvPr/>
      </p:nvGrpSpPr>
      <p:grpSpPr>
        <a:xfrm>
          <a:off x="0" y="0"/>
          <a:ext cx="0" cy="0"/>
          <a:chOff x="0" y="0"/>
          <a:chExt cx="0" cy="0"/>
        </a:xfrm>
      </p:grpSpPr>
      <p:sp>
        <p:nvSpPr>
          <p:cNvPr id="5937" name="Google Shape;5937;gc69d1e7c39_0_47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8" name="Google Shape;5938;gc69d1e7c39_0_47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3"/>
        <p:cNvGrpSpPr/>
        <p:nvPr/>
      </p:nvGrpSpPr>
      <p:grpSpPr>
        <a:xfrm>
          <a:off x="0" y="0"/>
          <a:ext cx="0" cy="0"/>
          <a:chOff x="0" y="0"/>
          <a:chExt cx="0" cy="0"/>
        </a:xfrm>
      </p:grpSpPr>
      <p:sp>
        <p:nvSpPr>
          <p:cNvPr id="5954" name="Google Shape;5954;g20c38ac825d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55" name="Google Shape;5955;g20c38ac825d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1.1 - temp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4"/>
        <p:cNvGrpSpPr/>
        <p:nvPr/>
      </p:nvGrpSpPr>
      <p:grpSpPr>
        <a:xfrm>
          <a:off x="0" y="0"/>
          <a:ext cx="0" cy="0"/>
          <a:chOff x="0" y="0"/>
          <a:chExt cx="0" cy="0"/>
        </a:xfrm>
      </p:grpSpPr>
      <p:sp>
        <p:nvSpPr>
          <p:cNvPr id="5975" name="Google Shape;5975;gc69d1e7c39_0_110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6" name="Google Shape;5976;gc69d1e7c39_0_110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b="1" dirty="0">
                <a:solidFill>
                  <a:schemeClr val="dk1"/>
                </a:solidFill>
              </a:rPr>
              <a:t>https://learn.microsoft.com/en-us/power-bi/</a:t>
            </a:r>
            <a:endParaRPr lang="en" b="1" dirty="0">
              <a:solidFill>
                <a:schemeClr val="dk1"/>
              </a:solidFill>
            </a:endParaRPr>
          </a:p>
          <a:p>
            <a:pPr marL="0" lvl="0" indent="0" algn="l" rtl="0">
              <a:spcBef>
                <a:spcPts val="0"/>
              </a:spcBef>
              <a:spcAft>
                <a:spcPts val="0"/>
              </a:spcAft>
              <a:buClr>
                <a:schemeClr val="dk1"/>
              </a:buClr>
              <a:buSzPts val="1100"/>
              <a:buFont typeface="Arial"/>
              <a:buNone/>
            </a:pPr>
            <a:endParaRPr b="1" dirty="0">
              <a:solidFill>
                <a:schemeClr val="dk1"/>
              </a:solidFill>
            </a:endParaRPr>
          </a:p>
          <a:p>
            <a:pPr marL="0" lvl="0" indent="0" algn="l" rtl="0">
              <a:spcBef>
                <a:spcPts val="0"/>
              </a:spcBef>
              <a:spcAft>
                <a:spcPts val="0"/>
              </a:spcAft>
              <a:buClr>
                <a:schemeClr val="dk1"/>
              </a:buClr>
              <a:buSzPts val="1100"/>
              <a:buFont typeface="Arial"/>
              <a:buNone/>
            </a:pPr>
            <a:endParaRPr b="1" dirty="0">
              <a:solidFill>
                <a:schemeClr val="dk1"/>
              </a:solidFill>
            </a:endParaRPr>
          </a:p>
          <a:p>
            <a:pPr marL="0" lvl="0" indent="0" algn="l" rtl="0">
              <a:spcBef>
                <a:spcPts val="0"/>
              </a:spcBef>
              <a:spcAft>
                <a:spcPts val="0"/>
              </a:spcAft>
              <a:buClr>
                <a:schemeClr val="dk1"/>
              </a:buClr>
              <a:buSzPts val="1100"/>
              <a:buFont typeface="Arial"/>
              <a:buNone/>
            </a:pPr>
            <a:r>
              <a:rPr lang="en" b="1" dirty="0">
                <a:solidFill>
                  <a:srgbClr val="FF0000"/>
                </a:solidFill>
              </a:rPr>
              <a:t> </a:t>
            </a:r>
            <a:endParaRPr b="1" dirty="0">
              <a:solidFill>
                <a:srgbClr val="FF0000"/>
              </a:solidFill>
            </a:endParaRPr>
          </a:p>
        </p:txBody>
      </p:sp>
    </p:spTree>
    <p:extLst>
      <p:ext uri="{BB962C8B-B14F-4D97-AF65-F5344CB8AC3E}">
        <p14:creationId xmlns:p14="http://schemas.microsoft.com/office/powerpoint/2010/main" val="1907740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4"/>
        <p:cNvGrpSpPr/>
        <p:nvPr/>
      </p:nvGrpSpPr>
      <p:grpSpPr>
        <a:xfrm>
          <a:off x="0" y="0"/>
          <a:ext cx="0" cy="0"/>
          <a:chOff x="0" y="0"/>
          <a:chExt cx="0" cy="0"/>
        </a:xfrm>
      </p:grpSpPr>
      <p:sp>
        <p:nvSpPr>
          <p:cNvPr id="5975" name="Google Shape;5975;gc69d1e7c39_0_110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6" name="Google Shape;5976;gc69d1e7c39_0_110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1.2</a:t>
            </a: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r>
              <a:rPr lang="en" b="1">
                <a:solidFill>
                  <a:srgbClr val="FF0000"/>
                </a:solidFill>
              </a:rPr>
              <a:t> </a:t>
            </a:r>
            <a:endParaRPr b="1">
              <a:solidFill>
                <a:srgbClr val="FF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8"/>
        <p:cNvGrpSpPr/>
        <p:nvPr/>
      </p:nvGrpSpPr>
      <p:grpSpPr>
        <a:xfrm>
          <a:off x="0" y="0"/>
          <a:ext cx="0" cy="0"/>
          <a:chOff x="0" y="0"/>
          <a:chExt cx="0" cy="0"/>
        </a:xfrm>
      </p:grpSpPr>
      <p:sp>
        <p:nvSpPr>
          <p:cNvPr id="5989" name="Google Shape;5989;gc6c127308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0" name="Google Shape;5990;gc6c127308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rgbClr val="24292E"/>
                </a:solidFill>
              </a:rPr>
              <a:t>2.1</a:t>
            </a:r>
            <a:endParaRPr b="1">
              <a:solidFill>
                <a:srgbClr val="24292E"/>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457200" lvl="0" indent="0" algn="l" rtl="0">
              <a:lnSpc>
                <a:spcPct val="115000"/>
              </a:lnSpc>
              <a:spcBef>
                <a:spcPts val="3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300"/>
              </a:spcBef>
              <a:spcAft>
                <a:spcPts val="0"/>
              </a:spcAft>
              <a:buNone/>
            </a:pPr>
            <a:endParaRPr sz="1200">
              <a:solidFill>
                <a:srgbClr val="24292E"/>
              </a:solidFill>
            </a:endParaRPr>
          </a:p>
          <a:p>
            <a:pPr marL="0" lvl="0" indent="0" algn="l" rtl="0">
              <a:spcBef>
                <a:spcPts val="120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a:solidFill>
                <a:srgbClr val="24292E"/>
              </a:solidFill>
              <a:highlight>
                <a:schemeClr val="lt1"/>
              </a:highlight>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a:solidFill>
                <a:srgbClr val="24292E"/>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endParaRPr sz="1200" b="1">
              <a:solidFill>
                <a:srgbClr val="24292E"/>
              </a:solidFill>
            </a:endParaRPr>
          </a:p>
          <a:p>
            <a:pPr marL="0" lvl="0" indent="0" algn="l" rtl="0">
              <a:spcBef>
                <a:spcPts val="1200"/>
              </a:spcBef>
              <a:spcAft>
                <a:spcPts val="0"/>
              </a:spcAft>
              <a:buNone/>
            </a:pPr>
            <a:endParaRPr b="1">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4"/>
        <p:cNvGrpSpPr/>
        <p:nvPr/>
      </p:nvGrpSpPr>
      <p:grpSpPr>
        <a:xfrm>
          <a:off x="0" y="0"/>
          <a:ext cx="0" cy="0"/>
          <a:chOff x="0" y="0"/>
          <a:chExt cx="0" cy="0"/>
        </a:xfrm>
      </p:grpSpPr>
      <p:sp>
        <p:nvSpPr>
          <p:cNvPr id="5975" name="Google Shape;5975;gc69d1e7c39_0_110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6" name="Google Shape;5976;gc69d1e7c39_0_110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1.2</a:t>
            </a: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r>
              <a:rPr lang="en" b="1">
                <a:solidFill>
                  <a:srgbClr val="FF0000"/>
                </a:solidFill>
              </a:rPr>
              <a:t> </a:t>
            </a:r>
            <a:endParaRPr b="1">
              <a:solidFill>
                <a:srgbClr val="FF0000"/>
              </a:solidFill>
            </a:endParaRPr>
          </a:p>
        </p:txBody>
      </p:sp>
    </p:spTree>
    <p:extLst>
      <p:ext uri="{BB962C8B-B14F-4D97-AF65-F5344CB8AC3E}">
        <p14:creationId xmlns:p14="http://schemas.microsoft.com/office/powerpoint/2010/main" val="27918616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9"/>
        <p:cNvGrpSpPr/>
        <p:nvPr/>
      </p:nvGrpSpPr>
      <p:grpSpPr>
        <a:xfrm>
          <a:off x="0" y="0"/>
          <a:ext cx="0" cy="0"/>
          <a:chOff x="0" y="0"/>
          <a:chExt cx="0" cy="0"/>
        </a:xfrm>
      </p:grpSpPr>
      <p:sp>
        <p:nvSpPr>
          <p:cNvPr id="6010" name="Google Shape;6010;g20c38ac825d_0_3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11" name="Google Shape;6011;g20c38ac825d_0_3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rgbClr val="24292E"/>
                </a:solidFill>
              </a:rPr>
              <a:t>2.1</a:t>
            </a:r>
            <a:endParaRPr b="1">
              <a:solidFill>
                <a:srgbClr val="24292E"/>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457200" lvl="0" indent="0" algn="l" rtl="0">
              <a:lnSpc>
                <a:spcPct val="115000"/>
              </a:lnSpc>
              <a:spcBef>
                <a:spcPts val="3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300"/>
              </a:spcBef>
              <a:spcAft>
                <a:spcPts val="0"/>
              </a:spcAft>
              <a:buNone/>
            </a:pPr>
            <a:endParaRPr sz="1200">
              <a:solidFill>
                <a:srgbClr val="24292E"/>
              </a:solidFill>
            </a:endParaRPr>
          </a:p>
          <a:p>
            <a:pPr marL="0" lvl="0" indent="0" algn="l" rtl="0">
              <a:spcBef>
                <a:spcPts val="120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a:solidFill>
                <a:srgbClr val="24292E"/>
              </a:solidFill>
              <a:highlight>
                <a:schemeClr val="lt1"/>
              </a:highlight>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a:solidFill>
                <a:srgbClr val="24292E"/>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endParaRPr sz="1200" b="1">
              <a:solidFill>
                <a:srgbClr val="24292E"/>
              </a:solidFill>
            </a:endParaRPr>
          </a:p>
          <a:p>
            <a:pPr marL="0" lvl="0" indent="0" algn="l" rtl="0">
              <a:spcBef>
                <a:spcPts val="1200"/>
              </a:spcBef>
              <a:spcAft>
                <a:spcPts val="0"/>
              </a:spcAft>
              <a:buNone/>
            </a:pPr>
            <a:endParaRPr b="1">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6"/>
        <p:cNvGrpSpPr/>
        <p:nvPr/>
      </p:nvGrpSpPr>
      <p:grpSpPr>
        <a:xfrm>
          <a:off x="0" y="0"/>
          <a:ext cx="0" cy="0"/>
          <a:chOff x="0" y="0"/>
          <a:chExt cx="0" cy="0"/>
        </a:xfrm>
      </p:grpSpPr>
      <p:sp>
        <p:nvSpPr>
          <p:cNvPr id="6017" name="Google Shape;6017;g20c38ac825d_0_3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18" name="Google Shape;6018;g20c38ac825d_0_3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rgbClr val="24292E"/>
                </a:solidFill>
              </a:rPr>
              <a:t>2.1</a:t>
            </a:r>
            <a:endParaRPr b="1">
              <a:solidFill>
                <a:srgbClr val="24292E"/>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457200" lvl="0" indent="0" algn="l" rtl="0">
              <a:lnSpc>
                <a:spcPct val="115000"/>
              </a:lnSpc>
              <a:spcBef>
                <a:spcPts val="3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300"/>
              </a:spcBef>
              <a:spcAft>
                <a:spcPts val="0"/>
              </a:spcAft>
              <a:buNone/>
            </a:pPr>
            <a:endParaRPr sz="1200">
              <a:solidFill>
                <a:srgbClr val="24292E"/>
              </a:solidFill>
            </a:endParaRPr>
          </a:p>
          <a:p>
            <a:pPr marL="0" lvl="0" indent="0" algn="l" rtl="0">
              <a:spcBef>
                <a:spcPts val="120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a:solidFill>
                <a:srgbClr val="24292E"/>
              </a:solidFill>
              <a:highlight>
                <a:schemeClr val="lt1"/>
              </a:highlight>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a:solidFill>
                <a:srgbClr val="24292E"/>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endParaRPr sz="1200" b="1">
              <a:solidFill>
                <a:srgbClr val="24292E"/>
              </a:solidFill>
            </a:endParaRPr>
          </a:p>
          <a:p>
            <a:pPr marL="0" lvl="0" indent="0" algn="l" rtl="0">
              <a:spcBef>
                <a:spcPts val="1200"/>
              </a:spcBef>
              <a:spcAft>
                <a:spcPts val="0"/>
              </a:spcAft>
              <a:buNone/>
            </a:pPr>
            <a:endParaRPr b="1">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4"/>
        <p:cNvGrpSpPr/>
        <p:nvPr/>
      </p:nvGrpSpPr>
      <p:grpSpPr>
        <a:xfrm>
          <a:off x="0" y="0"/>
          <a:ext cx="0" cy="0"/>
          <a:chOff x="0" y="0"/>
          <a:chExt cx="0" cy="0"/>
        </a:xfrm>
      </p:grpSpPr>
      <p:sp>
        <p:nvSpPr>
          <p:cNvPr id="5975" name="Google Shape;5975;gc69d1e7c39_0_110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6" name="Google Shape;5976;gc69d1e7c39_0_110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1.2</a:t>
            </a: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r>
              <a:rPr lang="en" b="1">
                <a:solidFill>
                  <a:srgbClr val="FF0000"/>
                </a:solidFill>
              </a:rPr>
              <a:t> </a:t>
            </a:r>
            <a:endParaRPr b="1">
              <a:solidFill>
                <a:srgbClr val="FF0000"/>
              </a:solidFill>
            </a:endParaRPr>
          </a:p>
        </p:txBody>
      </p:sp>
    </p:spTree>
    <p:extLst>
      <p:ext uri="{BB962C8B-B14F-4D97-AF65-F5344CB8AC3E}">
        <p14:creationId xmlns:p14="http://schemas.microsoft.com/office/powerpoint/2010/main" val="7428536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3"/>
        <p:cNvGrpSpPr/>
        <p:nvPr/>
      </p:nvGrpSpPr>
      <p:grpSpPr>
        <a:xfrm>
          <a:off x="0" y="0"/>
          <a:ext cx="0" cy="0"/>
          <a:chOff x="0" y="0"/>
          <a:chExt cx="0" cy="0"/>
        </a:xfrm>
      </p:grpSpPr>
      <p:sp>
        <p:nvSpPr>
          <p:cNvPr id="6024" name="Google Shape;6024;g20c38ac825d_0_3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25" name="Google Shape;6025;g20c38ac825d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rgbClr val="24292E"/>
                </a:solidFill>
              </a:rPr>
              <a:t>2.1</a:t>
            </a:r>
            <a:endParaRPr b="1">
              <a:solidFill>
                <a:srgbClr val="24292E"/>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457200" lvl="0" indent="0" algn="l" rtl="0">
              <a:lnSpc>
                <a:spcPct val="115000"/>
              </a:lnSpc>
              <a:spcBef>
                <a:spcPts val="3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300"/>
              </a:spcBef>
              <a:spcAft>
                <a:spcPts val="0"/>
              </a:spcAft>
              <a:buNone/>
            </a:pPr>
            <a:endParaRPr sz="1200">
              <a:solidFill>
                <a:srgbClr val="24292E"/>
              </a:solidFill>
            </a:endParaRPr>
          </a:p>
          <a:p>
            <a:pPr marL="0" lvl="0" indent="0" algn="l" rtl="0">
              <a:spcBef>
                <a:spcPts val="120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a:solidFill>
                <a:srgbClr val="24292E"/>
              </a:solidFill>
              <a:highlight>
                <a:schemeClr val="lt1"/>
              </a:highlight>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a:solidFill>
                <a:srgbClr val="24292E"/>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endParaRPr sz="1200" b="1">
              <a:solidFill>
                <a:srgbClr val="24292E"/>
              </a:solidFill>
            </a:endParaRPr>
          </a:p>
          <a:p>
            <a:pPr marL="0" lvl="0" indent="0" algn="l" rtl="0">
              <a:spcBef>
                <a:spcPts val="1200"/>
              </a:spcBef>
              <a:spcAft>
                <a:spcPts val="0"/>
              </a:spcAft>
              <a:buNone/>
            </a:pPr>
            <a:endParaRPr b="1">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0"/>
        <p:cNvGrpSpPr/>
        <p:nvPr/>
      </p:nvGrpSpPr>
      <p:grpSpPr>
        <a:xfrm>
          <a:off x="0" y="0"/>
          <a:ext cx="0" cy="0"/>
          <a:chOff x="0" y="0"/>
          <a:chExt cx="0" cy="0"/>
        </a:xfrm>
      </p:grpSpPr>
      <p:sp>
        <p:nvSpPr>
          <p:cNvPr id="6031" name="Google Shape;6031;g20c38ac825d_0_4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2" name="Google Shape;6032;g20c38ac825d_0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rgbClr val="24292E"/>
                </a:solidFill>
              </a:rPr>
              <a:t>2.1</a:t>
            </a:r>
            <a:endParaRPr b="1">
              <a:solidFill>
                <a:srgbClr val="24292E"/>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457200" lvl="0" indent="0" algn="l" rtl="0">
              <a:lnSpc>
                <a:spcPct val="115000"/>
              </a:lnSpc>
              <a:spcBef>
                <a:spcPts val="3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300"/>
              </a:spcBef>
              <a:spcAft>
                <a:spcPts val="0"/>
              </a:spcAft>
              <a:buNone/>
            </a:pPr>
            <a:endParaRPr sz="1200">
              <a:solidFill>
                <a:srgbClr val="24292E"/>
              </a:solidFill>
            </a:endParaRPr>
          </a:p>
          <a:p>
            <a:pPr marL="0" lvl="0" indent="0" algn="l" rtl="0">
              <a:spcBef>
                <a:spcPts val="120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a:solidFill>
                <a:srgbClr val="24292E"/>
              </a:solidFill>
              <a:highlight>
                <a:schemeClr val="lt1"/>
              </a:highlight>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a:solidFill>
                <a:srgbClr val="24292E"/>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endParaRPr sz="1200" b="1">
              <a:solidFill>
                <a:srgbClr val="24292E"/>
              </a:solidFill>
            </a:endParaRPr>
          </a:p>
          <a:p>
            <a:pPr marL="0" lvl="0" indent="0" algn="l" rtl="0">
              <a:spcBef>
                <a:spcPts val="1200"/>
              </a:spcBef>
              <a:spcAft>
                <a:spcPts val="0"/>
              </a:spcAft>
              <a:buNone/>
            </a:pPr>
            <a:endParaRPr b="1">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7"/>
        <p:cNvGrpSpPr/>
        <p:nvPr/>
      </p:nvGrpSpPr>
      <p:grpSpPr>
        <a:xfrm>
          <a:off x="0" y="0"/>
          <a:ext cx="0" cy="0"/>
          <a:chOff x="0" y="0"/>
          <a:chExt cx="0" cy="0"/>
        </a:xfrm>
      </p:grpSpPr>
      <p:sp>
        <p:nvSpPr>
          <p:cNvPr id="6038" name="Google Shape;6038;g20c38ac825d_0_4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9" name="Google Shape;6039;g20c38ac825d_0_4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rgbClr val="24292E"/>
                </a:solidFill>
              </a:rPr>
              <a:t>2.1</a:t>
            </a:r>
            <a:endParaRPr b="1">
              <a:solidFill>
                <a:srgbClr val="24292E"/>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457200" lvl="0" indent="0" algn="l" rtl="0">
              <a:lnSpc>
                <a:spcPct val="115000"/>
              </a:lnSpc>
              <a:spcBef>
                <a:spcPts val="3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300"/>
              </a:spcBef>
              <a:spcAft>
                <a:spcPts val="0"/>
              </a:spcAft>
              <a:buNone/>
            </a:pPr>
            <a:endParaRPr sz="1200">
              <a:solidFill>
                <a:srgbClr val="24292E"/>
              </a:solidFill>
            </a:endParaRPr>
          </a:p>
          <a:p>
            <a:pPr marL="0" lvl="0" indent="0" algn="l" rtl="0">
              <a:spcBef>
                <a:spcPts val="120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a:solidFill>
                <a:srgbClr val="24292E"/>
              </a:solidFill>
              <a:highlight>
                <a:schemeClr val="lt1"/>
              </a:highlight>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a:solidFill>
                <a:srgbClr val="24292E"/>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endParaRPr sz="1200" b="1">
              <a:solidFill>
                <a:srgbClr val="24292E"/>
              </a:solidFill>
            </a:endParaRPr>
          </a:p>
          <a:p>
            <a:pPr marL="0" lvl="0" indent="0" algn="l" rtl="0">
              <a:spcBef>
                <a:spcPts val="1200"/>
              </a:spcBef>
              <a:spcAft>
                <a:spcPts val="0"/>
              </a:spcAft>
              <a:buNone/>
            </a:pPr>
            <a:endParaRPr b="1">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5"/>
        <p:cNvGrpSpPr/>
        <p:nvPr/>
      </p:nvGrpSpPr>
      <p:grpSpPr>
        <a:xfrm>
          <a:off x="0" y="0"/>
          <a:ext cx="0" cy="0"/>
          <a:chOff x="0" y="0"/>
          <a:chExt cx="0" cy="0"/>
        </a:xfrm>
      </p:grpSpPr>
      <p:sp>
        <p:nvSpPr>
          <p:cNvPr id="6046" name="Google Shape;6046;g20c38ac825d_0_4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47" name="Google Shape;6047;g20c38ac825d_0_4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rgbClr val="24292E"/>
                </a:solidFill>
              </a:rPr>
              <a:t>2.1</a:t>
            </a:r>
            <a:endParaRPr b="1">
              <a:solidFill>
                <a:srgbClr val="24292E"/>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457200" lvl="0" indent="0" algn="l" rtl="0">
              <a:lnSpc>
                <a:spcPct val="115000"/>
              </a:lnSpc>
              <a:spcBef>
                <a:spcPts val="3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300"/>
              </a:spcBef>
              <a:spcAft>
                <a:spcPts val="0"/>
              </a:spcAft>
              <a:buNone/>
            </a:pPr>
            <a:endParaRPr sz="1200">
              <a:solidFill>
                <a:srgbClr val="24292E"/>
              </a:solidFill>
            </a:endParaRPr>
          </a:p>
          <a:p>
            <a:pPr marL="0" lvl="0" indent="0" algn="l" rtl="0">
              <a:spcBef>
                <a:spcPts val="120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a:solidFill>
                <a:srgbClr val="24292E"/>
              </a:solidFill>
              <a:highlight>
                <a:schemeClr val="lt1"/>
              </a:highlight>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a:solidFill>
                <a:srgbClr val="24292E"/>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endParaRPr sz="1200" b="1">
              <a:solidFill>
                <a:srgbClr val="24292E"/>
              </a:solidFill>
            </a:endParaRPr>
          </a:p>
          <a:p>
            <a:pPr marL="0" lvl="0" indent="0" algn="l" rtl="0">
              <a:spcBef>
                <a:spcPts val="1200"/>
              </a:spcBef>
              <a:spcAft>
                <a:spcPts val="0"/>
              </a:spcAft>
              <a:buNone/>
            </a:pPr>
            <a:endParaRPr b="1">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4"/>
        <p:cNvGrpSpPr/>
        <p:nvPr/>
      </p:nvGrpSpPr>
      <p:grpSpPr>
        <a:xfrm>
          <a:off x="0" y="0"/>
          <a:ext cx="0" cy="0"/>
          <a:chOff x="0" y="0"/>
          <a:chExt cx="0" cy="0"/>
        </a:xfrm>
      </p:grpSpPr>
      <p:sp>
        <p:nvSpPr>
          <p:cNvPr id="5975" name="Google Shape;5975;gc69d1e7c39_0_110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6" name="Google Shape;5976;gc69d1e7c39_0_110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1.2</a:t>
            </a: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r>
              <a:rPr lang="en" b="1">
                <a:solidFill>
                  <a:srgbClr val="FF0000"/>
                </a:solidFill>
              </a:rPr>
              <a:t> </a:t>
            </a:r>
            <a:endParaRPr b="1">
              <a:solidFill>
                <a:srgbClr val="FF0000"/>
              </a:solidFill>
            </a:endParaRPr>
          </a:p>
        </p:txBody>
      </p:sp>
    </p:spTree>
    <p:extLst>
      <p:ext uri="{BB962C8B-B14F-4D97-AF65-F5344CB8AC3E}">
        <p14:creationId xmlns:p14="http://schemas.microsoft.com/office/powerpoint/2010/main" val="8810880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5"/>
        <p:cNvGrpSpPr/>
        <p:nvPr/>
      </p:nvGrpSpPr>
      <p:grpSpPr>
        <a:xfrm>
          <a:off x="0" y="0"/>
          <a:ext cx="0" cy="0"/>
          <a:chOff x="0" y="0"/>
          <a:chExt cx="0" cy="0"/>
        </a:xfrm>
      </p:grpSpPr>
      <p:sp>
        <p:nvSpPr>
          <p:cNvPr id="6076" name="Google Shape;6076;gc69d1e7c39_0_110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7" name="Google Shape;6077;gc69d1e7c39_0_110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rgbClr val="24292E"/>
                </a:solidFill>
              </a:rPr>
              <a:t>2.2</a:t>
            </a:r>
            <a:endParaRPr b="1">
              <a:solidFill>
                <a:srgbClr val="24292E"/>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457200" lvl="0" indent="0" algn="l" rtl="0">
              <a:lnSpc>
                <a:spcPct val="115000"/>
              </a:lnSpc>
              <a:spcBef>
                <a:spcPts val="3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300"/>
              </a:spcBef>
              <a:spcAft>
                <a:spcPts val="0"/>
              </a:spcAft>
              <a:buNone/>
            </a:pPr>
            <a:endParaRPr sz="1200">
              <a:solidFill>
                <a:srgbClr val="24292E"/>
              </a:solidFill>
            </a:endParaRPr>
          </a:p>
          <a:p>
            <a:pPr marL="0" lvl="0" indent="0" algn="l" rtl="0">
              <a:spcBef>
                <a:spcPts val="120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a:solidFill>
                <a:srgbClr val="24292E"/>
              </a:solidFill>
              <a:highlight>
                <a:schemeClr val="lt1"/>
              </a:highlight>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a:solidFill>
                <a:srgbClr val="24292E"/>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endParaRPr sz="1200" b="1">
              <a:solidFill>
                <a:srgbClr val="24292E"/>
              </a:solidFill>
            </a:endParaRPr>
          </a:p>
          <a:p>
            <a:pPr marL="0" lvl="0" indent="0" algn="l" rtl="0">
              <a:spcBef>
                <a:spcPts val="1200"/>
              </a:spcBef>
              <a:spcAft>
                <a:spcPts val="0"/>
              </a:spcAft>
              <a:buNone/>
            </a:pPr>
            <a:endParaRPr b="1">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4">
          <a:extLst>
            <a:ext uri="{FF2B5EF4-FFF2-40B4-BE49-F238E27FC236}">
              <a16:creationId xmlns:a16="http://schemas.microsoft.com/office/drawing/2014/main" id="{D0F2D668-30D6-555E-9CB9-ED745751EC54}"/>
            </a:ext>
          </a:extLst>
        </p:cNvPr>
        <p:cNvGrpSpPr/>
        <p:nvPr/>
      </p:nvGrpSpPr>
      <p:grpSpPr>
        <a:xfrm>
          <a:off x="0" y="0"/>
          <a:ext cx="0" cy="0"/>
          <a:chOff x="0" y="0"/>
          <a:chExt cx="0" cy="0"/>
        </a:xfrm>
      </p:grpSpPr>
      <p:sp>
        <p:nvSpPr>
          <p:cNvPr id="5975" name="Google Shape;5975;gc69d1e7c39_0_11063:notes">
            <a:extLst>
              <a:ext uri="{FF2B5EF4-FFF2-40B4-BE49-F238E27FC236}">
                <a16:creationId xmlns:a16="http://schemas.microsoft.com/office/drawing/2014/main" id="{4E8C9C2B-A336-EA59-5F02-C8D7E36217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6" name="Google Shape;5976;gc69d1e7c39_0_11063:notes">
            <a:extLst>
              <a:ext uri="{FF2B5EF4-FFF2-40B4-BE49-F238E27FC236}">
                <a16:creationId xmlns:a16="http://schemas.microsoft.com/office/drawing/2014/main" id="{7EEDB725-A33B-74BE-36B7-F0194221FB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1.2</a:t>
            </a: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r>
              <a:rPr lang="en" b="1">
                <a:solidFill>
                  <a:srgbClr val="FF0000"/>
                </a:solidFill>
              </a:rPr>
              <a:t> </a:t>
            </a:r>
            <a:endParaRPr b="1">
              <a:solidFill>
                <a:srgbClr val="FF0000"/>
              </a:solidFill>
            </a:endParaRPr>
          </a:p>
        </p:txBody>
      </p:sp>
    </p:spTree>
    <p:extLst>
      <p:ext uri="{BB962C8B-B14F-4D97-AF65-F5344CB8AC3E}">
        <p14:creationId xmlns:p14="http://schemas.microsoft.com/office/powerpoint/2010/main" val="26017459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5">
          <a:extLst>
            <a:ext uri="{FF2B5EF4-FFF2-40B4-BE49-F238E27FC236}">
              <a16:creationId xmlns:a16="http://schemas.microsoft.com/office/drawing/2014/main" id="{DB19038D-6777-0942-6554-911A8F127B3E}"/>
            </a:ext>
          </a:extLst>
        </p:cNvPr>
        <p:cNvGrpSpPr/>
        <p:nvPr/>
      </p:nvGrpSpPr>
      <p:grpSpPr>
        <a:xfrm>
          <a:off x="0" y="0"/>
          <a:ext cx="0" cy="0"/>
          <a:chOff x="0" y="0"/>
          <a:chExt cx="0" cy="0"/>
        </a:xfrm>
      </p:grpSpPr>
      <p:sp>
        <p:nvSpPr>
          <p:cNvPr id="6076" name="Google Shape;6076;gc69d1e7c39_0_11086:notes">
            <a:extLst>
              <a:ext uri="{FF2B5EF4-FFF2-40B4-BE49-F238E27FC236}">
                <a16:creationId xmlns:a16="http://schemas.microsoft.com/office/drawing/2014/main" id="{08E073FF-6385-2953-FB26-AC77438DC2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7" name="Google Shape;6077;gc69d1e7c39_0_11086:notes">
            <a:extLst>
              <a:ext uri="{FF2B5EF4-FFF2-40B4-BE49-F238E27FC236}">
                <a16:creationId xmlns:a16="http://schemas.microsoft.com/office/drawing/2014/main" id="{F40590E2-5617-D154-6F69-BF50C19D4B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rgbClr val="24292E"/>
                </a:solidFill>
              </a:rPr>
              <a:t>2.2</a:t>
            </a:r>
            <a:endParaRPr b="1">
              <a:solidFill>
                <a:srgbClr val="24292E"/>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457200" lvl="0" indent="0" algn="l" rtl="0">
              <a:lnSpc>
                <a:spcPct val="115000"/>
              </a:lnSpc>
              <a:spcBef>
                <a:spcPts val="3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300"/>
              </a:spcBef>
              <a:spcAft>
                <a:spcPts val="0"/>
              </a:spcAft>
              <a:buNone/>
            </a:pPr>
            <a:endParaRPr sz="1200">
              <a:solidFill>
                <a:srgbClr val="24292E"/>
              </a:solidFill>
            </a:endParaRPr>
          </a:p>
          <a:p>
            <a:pPr marL="0" lvl="0" indent="0" algn="l" rtl="0">
              <a:spcBef>
                <a:spcPts val="120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a:solidFill>
                <a:srgbClr val="24292E"/>
              </a:solidFill>
              <a:highlight>
                <a:schemeClr val="lt1"/>
              </a:highlight>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a:solidFill>
                <a:srgbClr val="24292E"/>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endParaRPr sz="1200" b="1">
              <a:solidFill>
                <a:srgbClr val="24292E"/>
              </a:solidFill>
            </a:endParaRPr>
          </a:p>
          <a:p>
            <a:pPr marL="0" lvl="0" indent="0" algn="l" rtl="0">
              <a:spcBef>
                <a:spcPts val="1200"/>
              </a:spcBef>
              <a:spcAft>
                <a:spcPts val="0"/>
              </a:spcAft>
              <a:buNone/>
            </a:pPr>
            <a:endParaRPr b="1">
              <a:solidFill>
                <a:schemeClr val="dk1"/>
              </a:solidFill>
            </a:endParaRPr>
          </a:p>
        </p:txBody>
      </p:sp>
    </p:spTree>
    <p:extLst>
      <p:ext uri="{BB962C8B-B14F-4D97-AF65-F5344CB8AC3E}">
        <p14:creationId xmlns:p14="http://schemas.microsoft.com/office/powerpoint/2010/main" val="2605466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4"/>
        <p:cNvGrpSpPr/>
        <p:nvPr/>
      </p:nvGrpSpPr>
      <p:grpSpPr>
        <a:xfrm>
          <a:off x="0" y="0"/>
          <a:ext cx="0" cy="0"/>
          <a:chOff x="0" y="0"/>
          <a:chExt cx="0" cy="0"/>
        </a:xfrm>
      </p:grpSpPr>
      <p:sp>
        <p:nvSpPr>
          <p:cNvPr id="6125" name="Google Shape;6125;gc69d1e7c39_0_215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6" name="Google Shape;6126;gc69d1e7c39_0_215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solidFill>
                  <a:srgbClr val="24292E"/>
                </a:solidFill>
              </a:rPr>
              <a:t>To change what type of join is used, simply click on the interlacing circles at the top of the application, and select what form of join to use from the menu, as in the following image; this same menu can be used to modify what columns to merge on.</a:t>
            </a:r>
            <a:endParaRPr b="1" dirty="0">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2"/>
        <p:cNvGrpSpPr/>
        <p:nvPr/>
      </p:nvGrpSpPr>
      <p:grpSpPr>
        <a:xfrm>
          <a:off x="0" y="0"/>
          <a:ext cx="0" cy="0"/>
          <a:chOff x="0" y="0"/>
          <a:chExt cx="0" cy="0"/>
        </a:xfrm>
      </p:grpSpPr>
      <p:sp>
        <p:nvSpPr>
          <p:cNvPr id="6133" name="Google Shape;6133;g20c38ac825d_0_4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34" name="Google Shape;6134;g20c38ac825d_0_4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rgbClr val="24292E"/>
                </a:solidFill>
              </a:rPr>
              <a:t>2.1</a:t>
            </a:r>
            <a:endParaRPr b="1">
              <a:solidFill>
                <a:srgbClr val="24292E"/>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457200" lvl="0" indent="0" algn="l" rtl="0">
              <a:lnSpc>
                <a:spcPct val="115000"/>
              </a:lnSpc>
              <a:spcBef>
                <a:spcPts val="3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300"/>
              </a:spcBef>
              <a:spcAft>
                <a:spcPts val="0"/>
              </a:spcAft>
              <a:buNone/>
            </a:pPr>
            <a:endParaRPr sz="1200">
              <a:solidFill>
                <a:srgbClr val="24292E"/>
              </a:solidFill>
            </a:endParaRPr>
          </a:p>
          <a:p>
            <a:pPr marL="0" lvl="0" indent="0" algn="l" rtl="0">
              <a:spcBef>
                <a:spcPts val="120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a:solidFill>
                <a:srgbClr val="24292E"/>
              </a:solidFill>
              <a:highlight>
                <a:schemeClr val="lt1"/>
              </a:highlight>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a:solidFill>
                <a:srgbClr val="24292E"/>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endParaRPr sz="1200" b="1">
              <a:solidFill>
                <a:srgbClr val="24292E"/>
              </a:solidFill>
            </a:endParaRPr>
          </a:p>
          <a:p>
            <a:pPr marL="0" lvl="0" indent="0" algn="l" rtl="0">
              <a:spcBef>
                <a:spcPts val="1200"/>
              </a:spcBef>
              <a:spcAft>
                <a:spcPts val="0"/>
              </a:spcAft>
              <a:buNone/>
            </a:pPr>
            <a:endParaRPr b="1">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4">
          <a:extLst>
            <a:ext uri="{FF2B5EF4-FFF2-40B4-BE49-F238E27FC236}">
              <a16:creationId xmlns:a16="http://schemas.microsoft.com/office/drawing/2014/main" id="{BAA1CFAD-C3F6-333D-8E15-DB0ECF4565F5}"/>
            </a:ext>
          </a:extLst>
        </p:cNvPr>
        <p:cNvGrpSpPr/>
        <p:nvPr/>
      </p:nvGrpSpPr>
      <p:grpSpPr>
        <a:xfrm>
          <a:off x="0" y="0"/>
          <a:ext cx="0" cy="0"/>
          <a:chOff x="0" y="0"/>
          <a:chExt cx="0" cy="0"/>
        </a:xfrm>
      </p:grpSpPr>
      <p:sp>
        <p:nvSpPr>
          <p:cNvPr id="5975" name="Google Shape;5975;gc69d1e7c39_0_11063:notes">
            <a:extLst>
              <a:ext uri="{FF2B5EF4-FFF2-40B4-BE49-F238E27FC236}">
                <a16:creationId xmlns:a16="http://schemas.microsoft.com/office/drawing/2014/main" id="{4E632CF3-836C-07E0-6BEF-B1B8D2A66C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6" name="Google Shape;5976;gc69d1e7c39_0_11063:notes">
            <a:extLst>
              <a:ext uri="{FF2B5EF4-FFF2-40B4-BE49-F238E27FC236}">
                <a16:creationId xmlns:a16="http://schemas.microsoft.com/office/drawing/2014/main" id="{91ECBA73-9EE9-486C-E4A9-B367011FE8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1.2</a:t>
            </a: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r>
              <a:rPr lang="en" b="1">
                <a:solidFill>
                  <a:srgbClr val="FF0000"/>
                </a:solidFill>
              </a:rPr>
              <a:t> </a:t>
            </a:r>
            <a:endParaRPr b="1">
              <a:solidFill>
                <a:srgbClr val="FF0000"/>
              </a:solidFill>
            </a:endParaRPr>
          </a:p>
        </p:txBody>
      </p:sp>
    </p:spTree>
    <p:extLst>
      <p:ext uri="{BB962C8B-B14F-4D97-AF65-F5344CB8AC3E}">
        <p14:creationId xmlns:p14="http://schemas.microsoft.com/office/powerpoint/2010/main" val="36504193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5"/>
        <p:cNvGrpSpPr/>
        <p:nvPr/>
      </p:nvGrpSpPr>
      <p:grpSpPr>
        <a:xfrm>
          <a:off x="0" y="0"/>
          <a:ext cx="0" cy="0"/>
          <a:chOff x="0" y="0"/>
          <a:chExt cx="0" cy="0"/>
        </a:xfrm>
      </p:grpSpPr>
      <p:sp>
        <p:nvSpPr>
          <p:cNvPr id="6176" name="Google Shape;6176;g20c38ac825d_0_5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7" name="Google Shape;6177;g20c38ac825d_0_5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rgbClr val="24292E"/>
                </a:solidFill>
              </a:rPr>
              <a:t>2.1</a:t>
            </a:r>
            <a:endParaRPr b="1">
              <a:solidFill>
                <a:srgbClr val="24292E"/>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457200" lvl="0" indent="0" algn="l" rtl="0">
              <a:lnSpc>
                <a:spcPct val="115000"/>
              </a:lnSpc>
              <a:spcBef>
                <a:spcPts val="3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300"/>
              </a:spcBef>
              <a:spcAft>
                <a:spcPts val="0"/>
              </a:spcAft>
              <a:buNone/>
            </a:pPr>
            <a:endParaRPr sz="1200">
              <a:solidFill>
                <a:srgbClr val="24292E"/>
              </a:solidFill>
            </a:endParaRPr>
          </a:p>
          <a:p>
            <a:pPr marL="0" lvl="0" indent="0" algn="l" rtl="0">
              <a:spcBef>
                <a:spcPts val="120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a:solidFill>
                <a:srgbClr val="24292E"/>
              </a:solidFill>
              <a:highlight>
                <a:schemeClr val="lt1"/>
              </a:highlight>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a:solidFill>
                <a:srgbClr val="24292E"/>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endParaRPr sz="1200" b="1">
              <a:solidFill>
                <a:srgbClr val="24292E"/>
              </a:solidFill>
            </a:endParaRPr>
          </a:p>
          <a:p>
            <a:pPr marL="0" lvl="0" indent="0" algn="l" rtl="0">
              <a:spcBef>
                <a:spcPts val="1200"/>
              </a:spcBef>
              <a:spcAft>
                <a:spcPts val="0"/>
              </a:spcAft>
              <a:buNone/>
            </a:pPr>
            <a:endParaRPr b="1">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4"/>
        <p:cNvGrpSpPr/>
        <p:nvPr/>
      </p:nvGrpSpPr>
      <p:grpSpPr>
        <a:xfrm>
          <a:off x="0" y="0"/>
          <a:ext cx="0" cy="0"/>
          <a:chOff x="0" y="0"/>
          <a:chExt cx="0" cy="0"/>
        </a:xfrm>
      </p:grpSpPr>
      <p:sp>
        <p:nvSpPr>
          <p:cNvPr id="5975" name="Google Shape;5975;gc69d1e7c39_0_110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6" name="Google Shape;5976;gc69d1e7c39_0_110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1.2</a:t>
            </a: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r>
              <a:rPr lang="en" b="1">
                <a:solidFill>
                  <a:srgbClr val="FF0000"/>
                </a:solidFill>
              </a:rPr>
              <a:t> </a:t>
            </a:r>
            <a:endParaRPr b="1">
              <a:solidFill>
                <a:srgbClr val="FF0000"/>
              </a:solidFill>
            </a:endParaRPr>
          </a:p>
        </p:txBody>
      </p:sp>
    </p:spTree>
    <p:extLst>
      <p:ext uri="{BB962C8B-B14F-4D97-AF65-F5344CB8AC3E}">
        <p14:creationId xmlns:p14="http://schemas.microsoft.com/office/powerpoint/2010/main" val="35947362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5"/>
        <p:cNvGrpSpPr/>
        <p:nvPr/>
      </p:nvGrpSpPr>
      <p:grpSpPr>
        <a:xfrm>
          <a:off x="0" y="0"/>
          <a:ext cx="0" cy="0"/>
          <a:chOff x="0" y="0"/>
          <a:chExt cx="0" cy="0"/>
        </a:xfrm>
      </p:grpSpPr>
      <p:sp>
        <p:nvSpPr>
          <p:cNvPr id="6076" name="Google Shape;6076;gc69d1e7c39_0_110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7" name="Google Shape;6077;gc69d1e7c39_0_110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rgbClr val="24292E"/>
                </a:solidFill>
              </a:rPr>
              <a:t>2.2</a:t>
            </a:r>
            <a:endParaRPr b="1">
              <a:solidFill>
                <a:srgbClr val="24292E"/>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endParaRPr>
          </a:p>
          <a:p>
            <a:pPr marL="457200" lvl="0" indent="0" algn="l" rtl="0">
              <a:lnSpc>
                <a:spcPct val="115000"/>
              </a:lnSpc>
              <a:spcBef>
                <a:spcPts val="3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300"/>
              </a:spcBef>
              <a:spcAft>
                <a:spcPts val="0"/>
              </a:spcAft>
              <a:buNone/>
            </a:pPr>
            <a:endParaRPr sz="1200">
              <a:solidFill>
                <a:srgbClr val="24292E"/>
              </a:solidFill>
            </a:endParaRPr>
          </a:p>
          <a:p>
            <a:pPr marL="0" lvl="0" indent="0" algn="l" rtl="0">
              <a:spcBef>
                <a:spcPts val="1200"/>
              </a:spcBef>
              <a:spcAft>
                <a:spcPts val="0"/>
              </a:spcAft>
              <a:buClr>
                <a:schemeClr val="dk1"/>
              </a:buClr>
              <a:buSzPts val="1100"/>
              <a:buFont typeface="Arial"/>
              <a:buNone/>
            </a:pPr>
            <a:endParaRPr b="1">
              <a:solidFill>
                <a:schemeClr val="dk1"/>
              </a:solidFill>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a:solidFill>
                <a:srgbClr val="24292E"/>
              </a:solidFill>
              <a:highlight>
                <a:schemeClr val="lt1"/>
              </a:highlight>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120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a:solidFill>
                <a:srgbClr val="24292E"/>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400">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b="1">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None/>
            </a:pPr>
            <a:endParaRPr sz="1200">
              <a:solidFill>
                <a:srgbClr val="24292E"/>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endParaRPr sz="1200" b="1">
              <a:solidFill>
                <a:srgbClr val="24292E"/>
              </a:solidFill>
            </a:endParaRPr>
          </a:p>
          <a:p>
            <a:pPr marL="0" lvl="0" indent="0" algn="l" rtl="0">
              <a:spcBef>
                <a:spcPts val="1200"/>
              </a:spcBef>
              <a:spcAft>
                <a:spcPts val="0"/>
              </a:spcAft>
              <a:buNone/>
            </a:pPr>
            <a:endParaRPr b="1">
              <a:solidFill>
                <a:schemeClr val="dk1"/>
              </a:solidFill>
            </a:endParaRPr>
          </a:p>
        </p:txBody>
      </p:sp>
    </p:spTree>
    <p:extLst>
      <p:ext uri="{BB962C8B-B14F-4D97-AF65-F5344CB8AC3E}">
        <p14:creationId xmlns:p14="http://schemas.microsoft.com/office/powerpoint/2010/main" val="2534369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62207-0DD0-C04A-23F2-31B9668953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57C8647-D2A8-8859-6BB8-CEA2CF25BE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C962A-5657-8484-FACA-AE91D79A5519}"/>
              </a:ext>
            </a:extLst>
          </p:cNvPr>
          <p:cNvSpPr>
            <a:spLocks noGrp="1"/>
          </p:cNvSpPr>
          <p:nvPr>
            <p:ph type="dt" sz="half" idx="10"/>
          </p:nvPr>
        </p:nvSpPr>
        <p:spPr/>
        <p:txBody>
          <a:bodyPr/>
          <a:lstStyle/>
          <a:p>
            <a:fld id="{116AB6AB-B19C-4A18-B35D-F02BE370A671}" type="datetimeFigureOut">
              <a:rPr lang="en-US" smtClean="0"/>
              <a:t>12/13/2024</a:t>
            </a:fld>
            <a:endParaRPr lang="en-US"/>
          </a:p>
        </p:txBody>
      </p:sp>
      <p:sp>
        <p:nvSpPr>
          <p:cNvPr id="5" name="Footer Placeholder 4">
            <a:extLst>
              <a:ext uri="{FF2B5EF4-FFF2-40B4-BE49-F238E27FC236}">
                <a16:creationId xmlns:a16="http://schemas.microsoft.com/office/drawing/2014/main" id="{B43E98C5-4066-11AA-44FB-CBAD8C6867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AE9AB9-2876-FBDF-9F41-87B064A5E755}"/>
              </a:ext>
            </a:extLst>
          </p:cNvPr>
          <p:cNvSpPr>
            <a:spLocks noGrp="1"/>
          </p:cNvSpPr>
          <p:nvPr>
            <p:ph type="sldNum" sz="quarter" idx="12"/>
          </p:nvPr>
        </p:nvSpPr>
        <p:spPr/>
        <p:txBody>
          <a:bodyPr/>
          <a:lstStyle/>
          <a:p>
            <a:fld id="{D6A7E557-5186-4E40-A4E0-0B776B39CA81}" type="slidenum">
              <a:rPr lang="en-US" smtClean="0"/>
              <a:t>‹#›</a:t>
            </a:fld>
            <a:endParaRPr lang="en-US"/>
          </a:p>
        </p:txBody>
      </p:sp>
    </p:spTree>
    <p:extLst>
      <p:ext uri="{BB962C8B-B14F-4D97-AF65-F5344CB8AC3E}">
        <p14:creationId xmlns:p14="http://schemas.microsoft.com/office/powerpoint/2010/main" val="4157933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77EB0-1132-B4C4-1655-24B4C9CBC8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4902F8-8E9E-5F56-7EF1-71A0C32F2D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2479-5337-499F-926A-722CD755421A}"/>
              </a:ext>
            </a:extLst>
          </p:cNvPr>
          <p:cNvSpPr>
            <a:spLocks noGrp="1"/>
          </p:cNvSpPr>
          <p:nvPr>
            <p:ph type="dt" sz="half" idx="10"/>
          </p:nvPr>
        </p:nvSpPr>
        <p:spPr/>
        <p:txBody>
          <a:bodyPr/>
          <a:lstStyle/>
          <a:p>
            <a:fld id="{116AB6AB-B19C-4A18-B35D-F02BE370A671}" type="datetimeFigureOut">
              <a:rPr lang="en-US" smtClean="0"/>
              <a:t>12/13/2024</a:t>
            </a:fld>
            <a:endParaRPr lang="en-US"/>
          </a:p>
        </p:txBody>
      </p:sp>
      <p:sp>
        <p:nvSpPr>
          <p:cNvPr id="5" name="Footer Placeholder 4">
            <a:extLst>
              <a:ext uri="{FF2B5EF4-FFF2-40B4-BE49-F238E27FC236}">
                <a16:creationId xmlns:a16="http://schemas.microsoft.com/office/drawing/2014/main" id="{550A19F5-C9EB-7020-B29E-D3A58BFF19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0AD131-2BA5-C17C-ED46-503D17BF15A8}"/>
              </a:ext>
            </a:extLst>
          </p:cNvPr>
          <p:cNvSpPr>
            <a:spLocks noGrp="1"/>
          </p:cNvSpPr>
          <p:nvPr>
            <p:ph type="sldNum" sz="quarter" idx="12"/>
          </p:nvPr>
        </p:nvSpPr>
        <p:spPr/>
        <p:txBody>
          <a:bodyPr/>
          <a:lstStyle/>
          <a:p>
            <a:fld id="{D6A7E557-5186-4E40-A4E0-0B776B39CA81}" type="slidenum">
              <a:rPr lang="en-US" smtClean="0"/>
              <a:t>‹#›</a:t>
            </a:fld>
            <a:endParaRPr lang="en-US"/>
          </a:p>
        </p:txBody>
      </p:sp>
    </p:spTree>
    <p:extLst>
      <p:ext uri="{BB962C8B-B14F-4D97-AF65-F5344CB8AC3E}">
        <p14:creationId xmlns:p14="http://schemas.microsoft.com/office/powerpoint/2010/main" val="2955856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5FF1A-7406-4165-D046-D32055706E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6A02563-9083-14EC-D927-450E933C21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9639AD-09B6-3D25-FF16-6C337B8D9E28}"/>
              </a:ext>
            </a:extLst>
          </p:cNvPr>
          <p:cNvSpPr>
            <a:spLocks noGrp="1"/>
          </p:cNvSpPr>
          <p:nvPr>
            <p:ph type="dt" sz="half" idx="10"/>
          </p:nvPr>
        </p:nvSpPr>
        <p:spPr/>
        <p:txBody>
          <a:bodyPr/>
          <a:lstStyle/>
          <a:p>
            <a:fld id="{116AB6AB-B19C-4A18-B35D-F02BE370A671}" type="datetimeFigureOut">
              <a:rPr lang="en-US" smtClean="0"/>
              <a:t>12/13/2024</a:t>
            </a:fld>
            <a:endParaRPr lang="en-US"/>
          </a:p>
        </p:txBody>
      </p:sp>
      <p:sp>
        <p:nvSpPr>
          <p:cNvPr id="5" name="Footer Placeholder 4">
            <a:extLst>
              <a:ext uri="{FF2B5EF4-FFF2-40B4-BE49-F238E27FC236}">
                <a16:creationId xmlns:a16="http://schemas.microsoft.com/office/drawing/2014/main" id="{F67CDD71-A4DD-B17E-1E25-25589CFD46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F13066-1151-9816-871E-E1898B9349D3}"/>
              </a:ext>
            </a:extLst>
          </p:cNvPr>
          <p:cNvSpPr>
            <a:spLocks noGrp="1"/>
          </p:cNvSpPr>
          <p:nvPr>
            <p:ph type="sldNum" sz="quarter" idx="12"/>
          </p:nvPr>
        </p:nvSpPr>
        <p:spPr/>
        <p:txBody>
          <a:bodyPr/>
          <a:lstStyle/>
          <a:p>
            <a:fld id="{D6A7E557-5186-4E40-A4E0-0B776B39CA81}" type="slidenum">
              <a:rPr lang="en-US" smtClean="0"/>
              <a:t>‹#›</a:t>
            </a:fld>
            <a:endParaRPr lang="en-US"/>
          </a:p>
        </p:txBody>
      </p:sp>
    </p:spTree>
    <p:extLst>
      <p:ext uri="{BB962C8B-B14F-4D97-AF65-F5344CB8AC3E}">
        <p14:creationId xmlns:p14="http://schemas.microsoft.com/office/powerpoint/2010/main" val="3308264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77789-975A-C27C-64DA-FEA479CA08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F27AC5-4F63-B59E-E9A3-15E103C3C5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47C7B8D-8BF9-9018-79F7-961AA4109F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E8E0B5-2BC8-C92F-99E7-1E9701765962}"/>
              </a:ext>
            </a:extLst>
          </p:cNvPr>
          <p:cNvSpPr>
            <a:spLocks noGrp="1"/>
          </p:cNvSpPr>
          <p:nvPr>
            <p:ph type="dt" sz="half" idx="10"/>
          </p:nvPr>
        </p:nvSpPr>
        <p:spPr/>
        <p:txBody>
          <a:bodyPr/>
          <a:lstStyle/>
          <a:p>
            <a:fld id="{116AB6AB-B19C-4A18-B35D-F02BE370A671}" type="datetimeFigureOut">
              <a:rPr lang="en-US" smtClean="0"/>
              <a:t>12/13/2024</a:t>
            </a:fld>
            <a:endParaRPr lang="en-US"/>
          </a:p>
        </p:txBody>
      </p:sp>
      <p:sp>
        <p:nvSpPr>
          <p:cNvPr id="6" name="Footer Placeholder 5">
            <a:extLst>
              <a:ext uri="{FF2B5EF4-FFF2-40B4-BE49-F238E27FC236}">
                <a16:creationId xmlns:a16="http://schemas.microsoft.com/office/drawing/2014/main" id="{9EA7AEBB-F3D7-ECB0-2E8E-75D604EED3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B286FE-16EA-EC2A-CBFE-E8105E5DDED2}"/>
              </a:ext>
            </a:extLst>
          </p:cNvPr>
          <p:cNvSpPr>
            <a:spLocks noGrp="1"/>
          </p:cNvSpPr>
          <p:nvPr>
            <p:ph type="sldNum" sz="quarter" idx="12"/>
          </p:nvPr>
        </p:nvSpPr>
        <p:spPr/>
        <p:txBody>
          <a:bodyPr/>
          <a:lstStyle/>
          <a:p>
            <a:fld id="{D6A7E557-5186-4E40-A4E0-0B776B39CA81}" type="slidenum">
              <a:rPr lang="en-US" smtClean="0"/>
              <a:t>‹#›</a:t>
            </a:fld>
            <a:endParaRPr lang="en-US"/>
          </a:p>
        </p:txBody>
      </p:sp>
    </p:spTree>
    <p:extLst>
      <p:ext uri="{BB962C8B-B14F-4D97-AF65-F5344CB8AC3E}">
        <p14:creationId xmlns:p14="http://schemas.microsoft.com/office/powerpoint/2010/main" val="1200816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D2128-9982-E49C-D08A-52AE1DB2729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084836-45AF-0817-D783-4B44ABFB0A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769C14-442D-539A-4EF0-1E79ECC34D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77CAA6A-53BA-6A43-D62E-0D6C44BF01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9739A2-C2A8-1050-DA44-C6939FA289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CF49F5-F0A0-8307-1B3B-18CB9513B0DF}"/>
              </a:ext>
            </a:extLst>
          </p:cNvPr>
          <p:cNvSpPr>
            <a:spLocks noGrp="1"/>
          </p:cNvSpPr>
          <p:nvPr>
            <p:ph type="dt" sz="half" idx="10"/>
          </p:nvPr>
        </p:nvSpPr>
        <p:spPr/>
        <p:txBody>
          <a:bodyPr/>
          <a:lstStyle/>
          <a:p>
            <a:fld id="{116AB6AB-B19C-4A18-B35D-F02BE370A671}" type="datetimeFigureOut">
              <a:rPr lang="en-US" smtClean="0"/>
              <a:t>12/13/2024</a:t>
            </a:fld>
            <a:endParaRPr lang="en-US"/>
          </a:p>
        </p:txBody>
      </p:sp>
      <p:sp>
        <p:nvSpPr>
          <p:cNvPr id="8" name="Footer Placeholder 7">
            <a:extLst>
              <a:ext uri="{FF2B5EF4-FFF2-40B4-BE49-F238E27FC236}">
                <a16:creationId xmlns:a16="http://schemas.microsoft.com/office/drawing/2014/main" id="{4FB75015-E2B0-48F3-6948-28EA492675E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D73380-BD1B-A52B-CCE5-7B33A5AF3DCB}"/>
              </a:ext>
            </a:extLst>
          </p:cNvPr>
          <p:cNvSpPr>
            <a:spLocks noGrp="1"/>
          </p:cNvSpPr>
          <p:nvPr>
            <p:ph type="sldNum" sz="quarter" idx="12"/>
          </p:nvPr>
        </p:nvSpPr>
        <p:spPr/>
        <p:txBody>
          <a:bodyPr/>
          <a:lstStyle/>
          <a:p>
            <a:fld id="{D6A7E557-5186-4E40-A4E0-0B776B39CA81}" type="slidenum">
              <a:rPr lang="en-US" smtClean="0"/>
              <a:t>‹#›</a:t>
            </a:fld>
            <a:endParaRPr lang="en-US"/>
          </a:p>
        </p:txBody>
      </p:sp>
    </p:spTree>
    <p:extLst>
      <p:ext uri="{BB962C8B-B14F-4D97-AF65-F5344CB8AC3E}">
        <p14:creationId xmlns:p14="http://schemas.microsoft.com/office/powerpoint/2010/main" val="2796035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DB755-113E-6B7D-A4B0-720E56C582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04A1AF-188A-4DC8-4C79-8E2B07B1731C}"/>
              </a:ext>
            </a:extLst>
          </p:cNvPr>
          <p:cNvSpPr>
            <a:spLocks noGrp="1"/>
          </p:cNvSpPr>
          <p:nvPr>
            <p:ph type="dt" sz="half" idx="10"/>
          </p:nvPr>
        </p:nvSpPr>
        <p:spPr/>
        <p:txBody>
          <a:bodyPr/>
          <a:lstStyle/>
          <a:p>
            <a:fld id="{116AB6AB-B19C-4A18-B35D-F02BE370A671}" type="datetimeFigureOut">
              <a:rPr lang="en-US" smtClean="0"/>
              <a:t>12/13/2024</a:t>
            </a:fld>
            <a:endParaRPr lang="en-US"/>
          </a:p>
        </p:txBody>
      </p:sp>
      <p:sp>
        <p:nvSpPr>
          <p:cNvPr id="4" name="Footer Placeholder 3">
            <a:extLst>
              <a:ext uri="{FF2B5EF4-FFF2-40B4-BE49-F238E27FC236}">
                <a16:creationId xmlns:a16="http://schemas.microsoft.com/office/drawing/2014/main" id="{6364270A-548E-B654-E00B-FF7C9DC117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C96945-55D4-9914-D02C-81F139A5DA83}"/>
              </a:ext>
            </a:extLst>
          </p:cNvPr>
          <p:cNvSpPr>
            <a:spLocks noGrp="1"/>
          </p:cNvSpPr>
          <p:nvPr>
            <p:ph type="sldNum" sz="quarter" idx="12"/>
          </p:nvPr>
        </p:nvSpPr>
        <p:spPr/>
        <p:txBody>
          <a:bodyPr/>
          <a:lstStyle/>
          <a:p>
            <a:fld id="{D6A7E557-5186-4E40-A4E0-0B776B39CA81}" type="slidenum">
              <a:rPr lang="en-US" smtClean="0"/>
              <a:t>‹#›</a:t>
            </a:fld>
            <a:endParaRPr lang="en-US"/>
          </a:p>
        </p:txBody>
      </p:sp>
    </p:spTree>
    <p:extLst>
      <p:ext uri="{BB962C8B-B14F-4D97-AF65-F5344CB8AC3E}">
        <p14:creationId xmlns:p14="http://schemas.microsoft.com/office/powerpoint/2010/main" val="2174573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9CEC58-D582-F40F-DD9D-E9A3F2D0734D}"/>
              </a:ext>
            </a:extLst>
          </p:cNvPr>
          <p:cNvSpPr>
            <a:spLocks noGrp="1"/>
          </p:cNvSpPr>
          <p:nvPr>
            <p:ph type="dt" sz="half" idx="10"/>
          </p:nvPr>
        </p:nvSpPr>
        <p:spPr/>
        <p:txBody>
          <a:bodyPr/>
          <a:lstStyle/>
          <a:p>
            <a:fld id="{116AB6AB-B19C-4A18-B35D-F02BE370A671}" type="datetimeFigureOut">
              <a:rPr lang="en-US" smtClean="0"/>
              <a:t>12/13/2024</a:t>
            </a:fld>
            <a:endParaRPr lang="en-US"/>
          </a:p>
        </p:txBody>
      </p:sp>
      <p:sp>
        <p:nvSpPr>
          <p:cNvPr id="3" name="Footer Placeholder 2">
            <a:extLst>
              <a:ext uri="{FF2B5EF4-FFF2-40B4-BE49-F238E27FC236}">
                <a16:creationId xmlns:a16="http://schemas.microsoft.com/office/drawing/2014/main" id="{2EA73278-AF60-691D-A4FB-4F40C9943A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5AD2B1-CA62-EBD6-0DE9-C7E142335B65}"/>
              </a:ext>
            </a:extLst>
          </p:cNvPr>
          <p:cNvSpPr>
            <a:spLocks noGrp="1"/>
          </p:cNvSpPr>
          <p:nvPr>
            <p:ph type="sldNum" sz="quarter" idx="12"/>
          </p:nvPr>
        </p:nvSpPr>
        <p:spPr/>
        <p:txBody>
          <a:bodyPr/>
          <a:lstStyle/>
          <a:p>
            <a:fld id="{D6A7E557-5186-4E40-A4E0-0B776B39CA81}" type="slidenum">
              <a:rPr lang="en-US" smtClean="0"/>
              <a:t>‹#›</a:t>
            </a:fld>
            <a:endParaRPr lang="en-US"/>
          </a:p>
        </p:txBody>
      </p:sp>
    </p:spTree>
    <p:extLst>
      <p:ext uri="{BB962C8B-B14F-4D97-AF65-F5344CB8AC3E}">
        <p14:creationId xmlns:p14="http://schemas.microsoft.com/office/powerpoint/2010/main" val="2054016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850E1-F4E3-037F-C250-3A40BB323C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49E277B-FD87-E925-1896-8503652075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D7EC01-31F9-145F-E2CC-C5B17FD227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9E4C42-F673-BE08-8E5F-1BA584C95667}"/>
              </a:ext>
            </a:extLst>
          </p:cNvPr>
          <p:cNvSpPr>
            <a:spLocks noGrp="1"/>
          </p:cNvSpPr>
          <p:nvPr>
            <p:ph type="dt" sz="half" idx="10"/>
          </p:nvPr>
        </p:nvSpPr>
        <p:spPr/>
        <p:txBody>
          <a:bodyPr/>
          <a:lstStyle/>
          <a:p>
            <a:fld id="{116AB6AB-B19C-4A18-B35D-F02BE370A671}" type="datetimeFigureOut">
              <a:rPr lang="en-US" smtClean="0"/>
              <a:t>12/13/2024</a:t>
            </a:fld>
            <a:endParaRPr lang="en-US"/>
          </a:p>
        </p:txBody>
      </p:sp>
      <p:sp>
        <p:nvSpPr>
          <p:cNvPr id="6" name="Footer Placeholder 5">
            <a:extLst>
              <a:ext uri="{FF2B5EF4-FFF2-40B4-BE49-F238E27FC236}">
                <a16:creationId xmlns:a16="http://schemas.microsoft.com/office/drawing/2014/main" id="{B0AC69E6-9EA8-64CB-B141-99954A8486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4260DA-F011-91DD-DDF4-3F8F4DE9B5D1}"/>
              </a:ext>
            </a:extLst>
          </p:cNvPr>
          <p:cNvSpPr>
            <a:spLocks noGrp="1"/>
          </p:cNvSpPr>
          <p:nvPr>
            <p:ph type="sldNum" sz="quarter" idx="12"/>
          </p:nvPr>
        </p:nvSpPr>
        <p:spPr/>
        <p:txBody>
          <a:bodyPr/>
          <a:lstStyle/>
          <a:p>
            <a:fld id="{D6A7E557-5186-4E40-A4E0-0B776B39CA81}" type="slidenum">
              <a:rPr lang="en-US" smtClean="0"/>
              <a:t>‹#›</a:t>
            </a:fld>
            <a:endParaRPr lang="en-US"/>
          </a:p>
        </p:txBody>
      </p:sp>
    </p:spTree>
    <p:extLst>
      <p:ext uri="{BB962C8B-B14F-4D97-AF65-F5344CB8AC3E}">
        <p14:creationId xmlns:p14="http://schemas.microsoft.com/office/powerpoint/2010/main" val="3170475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1F0D5-7CAA-766D-C0AA-2702B29DF7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799069-586A-8737-0637-0B682642A2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B130584-AC19-EF27-FE16-69CAD34F2D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F83F4E-10CB-80E7-3A7C-CB9238191DFB}"/>
              </a:ext>
            </a:extLst>
          </p:cNvPr>
          <p:cNvSpPr>
            <a:spLocks noGrp="1"/>
          </p:cNvSpPr>
          <p:nvPr>
            <p:ph type="dt" sz="half" idx="10"/>
          </p:nvPr>
        </p:nvSpPr>
        <p:spPr/>
        <p:txBody>
          <a:bodyPr/>
          <a:lstStyle/>
          <a:p>
            <a:fld id="{116AB6AB-B19C-4A18-B35D-F02BE370A671}" type="datetimeFigureOut">
              <a:rPr lang="en-US" smtClean="0"/>
              <a:t>12/13/2024</a:t>
            </a:fld>
            <a:endParaRPr lang="en-US"/>
          </a:p>
        </p:txBody>
      </p:sp>
      <p:sp>
        <p:nvSpPr>
          <p:cNvPr id="6" name="Footer Placeholder 5">
            <a:extLst>
              <a:ext uri="{FF2B5EF4-FFF2-40B4-BE49-F238E27FC236}">
                <a16:creationId xmlns:a16="http://schemas.microsoft.com/office/drawing/2014/main" id="{16B148EE-DF3F-C185-15A6-203C0B485F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676B75-6E64-C2B0-B971-D62431432334}"/>
              </a:ext>
            </a:extLst>
          </p:cNvPr>
          <p:cNvSpPr>
            <a:spLocks noGrp="1"/>
          </p:cNvSpPr>
          <p:nvPr>
            <p:ph type="sldNum" sz="quarter" idx="12"/>
          </p:nvPr>
        </p:nvSpPr>
        <p:spPr/>
        <p:txBody>
          <a:bodyPr/>
          <a:lstStyle/>
          <a:p>
            <a:fld id="{D6A7E557-5186-4E40-A4E0-0B776B39CA81}" type="slidenum">
              <a:rPr lang="en-US" smtClean="0"/>
              <a:t>‹#›</a:t>
            </a:fld>
            <a:endParaRPr lang="en-US"/>
          </a:p>
        </p:txBody>
      </p:sp>
    </p:spTree>
    <p:extLst>
      <p:ext uri="{BB962C8B-B14F-4D97-AF65-F5344CB8AC3E}">
        <p14:creationId xmlns:p14="http://schemas.microsoft.com/office/powerpoint/2010/main" val="2252407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15A89-3495-3AC3-F37B-CAFE858C5A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885B39F-6154-9A2A-EA23-B9CEAE91CF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1F9C89-7099-40AB-50A6-1A1D79275DC6}"/>
              </a:ext>
            </a:extLst>
          </p:cNvPr>
          <p:cNvSpPr>
            <a:spLocks noGrp="1"/>
          </p:cNvSpPr>
          <p:nvPr>
            <p:ph type="dt" sz="half" idx="10"/>
          </p:nvPr>
        </p:nvSpPr>
        <p:spPr/>
        <p:txBody>
          <a:bodyPr/>
          <a:lstStyle/>
          <a:p>
            <a:fld id="{116AB6AB-B19C-4A18-B35D-F02BE370A671}" type="datetimeFigureOut">
              <a:rPr lang="en-US" smtClean="0"/>
              <a:t>12/13/2024</a:t>
            </a:fld>
            <a:endParaRPr lang="en-US"/>
          </a:p>
        </p:txBody>
      </p:sp>
      <p:sp>
        <p:nvSpPr>
          <p:cNvPr id="5" name="Footer Placeholder 4">
            <a:extLst>
              <a:ext uri="{FF2B5EF4-FFF2-40B4-BE49-F238E27FC236}">
                <a16:creationId xmlns:a16="http://schemas.microsoft.com/office/drawing/2014/main" id="{05A38F98-3AF8-DE88-B8C6-6098E61446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F432A8-95E7-18F6-16E1-E693CCA274B8}"/>
              </a:ext>
            </a:extLst>
          </p:cNvPr>
          <p:cNvSpPr>
            <a:spLocks noGrp="1"/>
          </p:cNvSpPr>
          <p:nvPr>
            <p:ph type="sldNum" sz="quarter" idx="12"/>
          </p:nvPr>
        </p:nvSpPr>
        <p:spPr/>
        <p:txBody>
          <a:bodyPr/>
          <a:lstStyle/>
          <a:p>
            <a:fld id="{D6A7E557-5186-4E40-A4E0-0B776B39CA81}" type="slidenum">
              <a:rPr lang="en-US" smtClean="0"/>
              <a:t>‹#›</a:t>
            </a:fld>
            <a:endParaRPr lang="en-US"/>
          </a:p>
        </p:txBody>
      </p:sp>
    </p:spTree>
    <p:extLst>
      <p:ext uri="{BB962C8B-B14F-4D97-AF65-F5344CB8AC3E}">
        <p14:creationId xmlns:p14="http://schemas.microsoft.com/office/powerpoint/2010/main" val="571668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C3C0AA-D680-2408-27CA-A81A887A1A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00E5BD7-345A-3101-5690-5C72ADDC9E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694ABA-D266-3CBA-DD7B-F8BD58A2E201}"/>
              </a:ext>
            </a:extLst>
          </p:cNvPr>
          <p:cNvSpPr>
            <a:spLocks noGrp="1"/>
          </p:cNvSpPr>
          <p:nvPr>
            <p:ph type="dt" sz="half" idx="10"/>
          </p:nvPr>
        </p:nvSpPr>
        <p:spPr/>
        <p:txBody>
          <a:bodyPr/>
          <a:lstStyle/>
          <a:p>
            <a:fld id="{116AB6AB-B19C-4A18-B35D-F02BE370A671}" type="datetimeFigureOut">
              <a:rPr lang="en-US" smtClean="0"/>
              <a:t>12/13/2024</a:t>
            </a:fld>
            <a:endParaRPr lang="en-US"/>
          </a:p>
        </p:txBody>
      </p:sp>
      <p:sp>
        <p:nvSpPr>
          <p:cNvPr id="5" name="Footer Placeholder 4">
            <a:extLst>
              <a:ext uri="{FF2B5EF4-FFF2-40B4-BE49-F238E27FC236}">
                <a16:creationId xmlns:a16="http://schemas.microsoft.com/office/drawing/2014/main" id="{B1B20431-5BF9-8585-B5A5-33BF72E565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4AFA9B-BA66-7AE6-B01D-6603F8C120EF}"/>
              </a:ext>
            </a:extLst>
          </p:cNvPr>
          <p:cNvSpPr>
            <a:spLocks noGrp="1"/>
          </p:cNvSpPr>
          <p:nvPr>
            <p:ph type="sldNum" sz="quarter" idx="12"/>
          </p:nvPr>
        </p:nvSpPr>
        <p:spPr/>
        <p:txBody>
          <a:bodyPr/>
          <a:lstStyle/>
          <a:p>
            <a:fld id="{D6A7E557-5186-4E40-A4E0-0B776B39CA81}" type="slidenum">
              <a:rPr lang="en-US" smtClean="0"/>
              <a:t>‹#›</a:t>
            </a:fld>
            <a:endParaRPr lang="en-US"/>
          </a:p>
        </p:txBody>
      </p:sp>
    </p:spTree>
    <p:extLst>
      <p:ext uri="{BB962C8B-B14F-4D97-AF65-F5344CB8AC3E}">
        <p14:creationId xmlns:p14="http://schemas.microsoft.com/office/powerpoint/2010/main" val="16417639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9. Text Only">
  <p:cSld name="9. Text Only">
    <p:spTree>
      <p:nvGrpSpPr>
        <p:cNvPr id="1" name="Shape 3589"/>
        <p:cNvGrpSpPr/>
        <p:nvPr/>
      </p:nvGrpSpPr>
      <p:grpSpPr>
        <a:xfrm>
          <a:off x="0" y="0"/>
          <a:ext cx="0" cy="0"/>
          <a:chOff x="0" y="0"/>
          <a:chExt cx="0" cy="0"/>
        </a:xfrm>
      </p:grpSpPr>
      <p:sp>
        <p:nvSpPr>
          <p:cNvPr id="3590" name="Google Shape;3590;p246"/>
          <p:cNvSpPr txBox="1">
            <a:spLocks noGrp="1"/>
          </p:cNvSpPr>
          <p:nvPr>
            <p:ph type="title"/>
          </p:nvPr>
        </p:nvSpPr>
        <p:spPr>
          <a:xfrm>
            <a:off x="-16400" y="0"/>
            <a:ext cx="12224800" cy="711600"/>
          </a:xfrm>
          <a:prstGeom prst="rect">
            <a:avLst/>
          </a:prstGeom>
          <a:noFill/>
          <a:ln>
            <a:noFill/>
          </a:ln>
        </p:spPr>
        <p:txBody>
          <a:bodyPr spcFirstLastPara="1" wrap="square" lIns="457200" tIns="182875" rIns="274300" bIns="91425" anchor="t" anchorCtr="0">
            <a:noAutofit/>
          </a:bodyPr>
          <a:lstStyle>
            <a:lvl1pPr lvl="0" rtl="0">
              <a:spcBef>
                <a:spcPts val="0"/>
              </a:spcBef>
              <a:spcAft>
                <a:spcPts val="0"/>
              </a:spcAft>
              <a:buNone/>
              <a:defRPr sz="32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591" name="Google Shape;3591;p246"/>
          <p:cNvSpPr txBox="1">
            <a:spLocks noGrp="1"/>
          </p:cNvSpPr>
          <p:nvPr>
            <p:ph type="subTitle" idx="1"/>
          </p:nvPr>
        </p:nvSpPr>
        <p:spPr>
          <a:xfrm>
            <a:off x="0" y="901300"/>
            <a:ext cx="12192000" cy="486400"/>
          </a:xfrm>
          <a:prstGeom prst="rect">
            <a:avLst/>
          </a:prstGeom>
          <a:noFill/>
          <a:ln>
            <a:noFill/>
          </a:ln>
        </p:spPr>
        <p:txBody>
          <a:bodyPr spcFirstLastPara="1" wrap="square" lIns="457200" tIns="91425" rIns="457200" bIns="0" anchor="t" anchorCtr="0">
            <a:noAutofit/>
          </a:bodyPr>
          <a:lstStyle>
            <a:lvl1pPr lvl="0" rtl="0">
              <a:spcBef>
                <a:spcPts val="0"/>
              </a:spcBef>
              <a:spcAft>
                <a:spcPts val="0"/>
              </a:spcAft>
              <a:buNone/>
              <a:defRPr sz="24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593" name="Google Shape;3593;p246"/>
          <p:cNvSpPr txBox="1">
            <a:spLocks noGrp="1"/>
          </p:cNvSpPr>
          <p:nvPr>
            <p:ph type="sldNum" idx="12"/>
          </p:nvPr>
        </p:nvSpPr>
        <p:spPr>
          <a:xfrm>
            <a:off x="11477033" y="6609600"/>
            <a:ext cx="349200" cy="140800"/>
          </a:xfrm>
          <a:prstGeom prst="rect">
            <a:avLst/>
          </a:prstGeom>
        </p:spPr>
        <p:txBody>
          <a:bodyPr spcFirstLastPara="1" wrap="square" lIns="0" tIns="0" rIns="0" bIns="91425" anchor="t" anchorCtr="0">
            <a:noAutofit/>
          </a:bodyPr>
          <a:lstStyle>
            <a:lvl1pPr lvl="0" rtl="0">
              <a:buNone/>
              <a:defRPr sz="800">
                <a:solidFill>
                  <a:srgbClr val="000000"/>
                </a:solidFill>
              </a:defRPr>
            </a:lvl1pPr>
            <a:lvl2pPr lvl="1" rtl="0">
              <a:buNone/>
              <a:defRPr sz="800">
                <a:solidFill>
                  <a:srgbClr val="000000"/>
                </a:solidFill>
              </a:defRPr>
            </a:lvl2pPr>
            <a:lvl3pPr lvl="2" rtl="0">
              <a:buNone/>
              <a:defRPr sz="800">
                <a:solidFill>
                  <a:srgbClr val="000000"/>
                </a:solidFill>
              </a:defRPr>
            </a:lvl3pPr>
            <a:lvl4pPr lvl="3" rtl="0">
              <a:buNone/>
              <a:defRPr sz="800">
                <a:solidFill>
                  <a:srgbClr val="000000"/>
                </a:solidFill>
              </a:defRPr>
            </a:lvl4pPr>
            <a:lvl5pPr lvl="4" rtl="0">
              <a:buNone/>
              <a:defRPr sz="800">
                <a:solidFill>
                  <a:srgbClr val="000000"/>
                </a:solidFill>
              </a:defRPr>
            </a:lvl5pPr>
            <a:lvl6pPr lvl="5" rtl="0">
              <a:buNone/>
              <a:defRPr sz="800">
                <a:solidFill>
                  <a:srgbClr val="000000"/>
                </a:solidFill>
              </a:defRPr>
            </a:lvl6pPr>
            <a:lvl7pPr lvl="6" rtl="0">
              <a:buNone/>
              <a:defRPr sz="800">
                <a:solidFill>
                  <a:srgbClr val="000000"/>
                </a:solidFill>
              </a:defRPr>
            </a:lvl7pPr>
            <a:lvl8pPr lvl="7" rtl="0">
              <a:buNone/>
              <a:defRPr sz="800">
                <a:solidFill>
                  <a:srgbClr val="000000"/>
                </a:solidFill>
              </a:defRPr>
            </a:lvl8pPr>
            <a:lvl9pPr lvl="8" rtl="0">
              <a:buNone/>
              <a:defRPr sz="800">
                <a:solidFill>
                  <a:srgbClr val="000000"/>
                </a:solidFill>
              </a:defRPr>
            </a:lvl9pPr>
          </a:lstStyle>
          <a:p>
            <a:fld id="{00000000-1234-1234-1234-123412341234}" type="slidenum">
              <a:rPr lang="en" smtClean="0"/>
              <a:pPr/>
              <a:t>‹#›</a:t>
            </a:fld>
            <a:endParaRPr lang="en"/>
          </a:p>
        </p:txBody>
      </p:sp>
      <p:sp>
        <p:nvSpPr>
          <p:cNvPr id="3595" name="Google Shape;3595;p246"/>
          <p:cNvSpPr txBox="1">
            <a:spLocks noGrp="1"/>
          </p:cNvSpPr>
          <p:nvPr>
            <p:ph type="subTitle" idx="2"/>
          </p:nvPr>
        </p:nvSpPr>
        <p:spPr>
          <a:xfrm>
            <a:off x="-16400" y="6555533"/>
            <a:ext cx="10629200" cy="302400"/>
          </a:xfrm>
          <a:prstGeom prst="rect">
            <a:avLst/>
          </a:prstGeom>
          <a:noFill/>
          <a:ln>
            <a:noFill/>
          </a:ln>
        </p:spPr>
        <p:txBody>
          <a:bodyPr spcFirstLastPara="1" wrap="square" lIns="274300" tIns="45700" rIns="0" bIns="0" anchor="t" anchorCtr="0">
            <a:noAutofit/>
          </a:bodyPr>
          <a:lstStyle>
            <a:lvl1pPr lvl="0" rtl="0">
              <a:spcBef>
                <a:spcPts val="0"/>
              </a:spcBef>
              <a:spcAft>
                <a:spcPts val="0"/>
              </a:spcAft>
              <a:buNone/>
              <a:defRPr sz="933"/>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596" name="Google Shape;3596;p246"/>
          <p:cNvSpPr txBox="1">
            <a:spLocks noGrp="1"/>
          </p:cNvSpPr>
          <p:nvPr>
            <p:ph type="body" idx="3"/>
          </p:nvPr>
        </p:nvSpPr>
        <p:spPr>
          <a:xfrm>
            <a:off x="233" y="1712333"/>
            <a:ext cx="12192000" cy="4829600"/>
          </a:xfrm>
          <a:prstGeom prst="rect">
            <a:avLst/>
          </a:prstGeom>
          <a:noFill/>
          <a:ln>
            <a:noFill/>
          </a:ln>
        </p:spPr>
        <p:txBody>
          <a:bodyPr spcFirstLastPara="1" wrap="square" lIns="457200" tIns="0" rIns="457200" bIns="914400" anchor="t" anchorCtr="0">
            <a:noAutofit/>
          </a:bodyPr>
          <a:lstStyle>
            <a:lvl1pPr marL="609585" lvl="0" indent="-423323" rtl="0">
              <a:spcBef>
                <a:spcPts val="0"/>
              </a:spcBef>
              <a:spcAft>
                <a:spcPts val="0"/>
              </a:spcAft>
              <a:buSzPts val="1400"/>
              <a:buFont typeface="Roboto"/>
              <a:buChar char="●"/>
              <a:defRPr>
                <a:latin typeface="Roboto"/>
                <a:ea typeface="Roboto"/>
                <a:cs typeface="Roboto"/>
                <a:sym typeface="Roboto"/>
              </a:defRPr>
            </a:lvl1pPr>
            <a:lvl2pPr marL="1219170" lvl="1" indent="-423323" rtl="0">
              <a:spcBef>
                <a:spcPts val="1067"/>
              </a:spcBef>
              <a:spcAft>
                <a:spcPts val="0"/>
              </a:spcAft>
              <a:buSzPts val="1400"/>
              <a:buFont typeface="Roboto"/>
              <a:buChar char="○"/>
              <a:defRPr>
                <a:latin typeface="Roboto"/>
                <a:ea typeface="Roboto"/>
                <a:cs typeface="Roboto"/>
                <a:sym typeface="Roboto"/>
              </a:defRPr>
            </a:lvl2pPr>
            <a:lvl3pPr marL="1828754" lvl="2" indent="-423323" rtl="0">
              <a:spcBef>
                <a:spcPts val="1067"/>
              </a:spcBef>
              <a:spcAft>
                <a:spcPts val="0"/>
              </a:spcAft>
              <a:buSzPts val="1400"/>
              <a:buFont typeface="Roboto"/>
              <a:buChar char="■"/>
              <a:defRPr>
                <a:latin typeface="Roboto"/>
                <a:ea typeface="Roboto"/>
                <a:cs typeface="Roboto"/>
                <a:sym typeface="Roboto"/>
              </a:defRPr>
            </a:lvl3pPr>
            <a:lvl4pPr marL="2438339" lvl="3" indent="-423323" rtl="0">
              <a:spcBef>
                <a:spcPts val="1067"/>
              </a:spcBef>
              <a:spcAft>
                <a:spcPts val="0"/>
              </a:spcAft>
              <a:buSzPts val="1400"/>
              <a:buFont typeface="Roboto"/>
              <a:buChar char="●"/>
              <a:defRPr>
                <a:latin typeface="Roboto"/>
                <a:ea typeface="Roboto"/>
                <a:cs typeface="Roboto"/>
                <a:sym typeface="Roboto"/>
              </a:defRPr>
            </a:lvl4pPr>
            <a:lvl5pPr marL="3047924" lvl="4" indent="-423323" rtl="0">
              <a:spcBef>
                <a:spcPts val="1067"/>
              </a:spcBef>
              <a:spcAft>
                <a:spcPts val="0"/>
              </a:spcAft>
              <a:buSzPts val="1400"/>
              <a:buFont typeface="Roboto"/>
              <a:buChar char="○"/>
              <a:defRPr>
                <a:latin typeface="Roboto"/>
                <a:ea typeface="Roboto"/>
                <a:cs typeface="Roboto"/>
                <a:sym typeface="Roboto"/>
              </a:defRPr>
            </a:lvl5pPr>
            <a:lvl6pPr marL="3657509" lvl="5" indent="-423323" rtl="0">
              <a:spcBef>
                <a:spcPts val="1067"/>
              </a:spcBef>
              <a:spcAft>
                <a:spcPts val="0"/>
              </a:spcAft>
              <a:buSzPts val="1400"/>
              <a:buFont typeface="Roboto"/>
              <a:buChar char="■"/>
              <a:defRPr>
                <a:latin typeface="Roboto"/>
                <a:ea typeface="Roboto"/>
                <a:cs typeface="Roboto"/>
                <a:sym typeface="Roboto"/>
              </a:defRPr>
            </a:lvl6pPr>
            <a:lvl7pPr marL="4267093" lvl="6" indent="-423323" rtl="0">
              <a:spcBef>
                <a:spcPts val="1067"/>
              </a:spcBef>
              <a:spcAft>
                <a:spcPts val="0"/>
              </a:spcAft>
              <a:buSzPts val="1400"/>
              <a:buFont typeface="Roboto"/>
              <a:buChar char="●"/>
              <a:defRPr>
                <a:latin typeface="Roboto"/>
                <a:ea typeface="Roboto"/>
                <a:cs typeface="Roboto"/>
                <a:sym typeface="Roboto"/>
              </a:defRPr>
            </a:lvl7pPr>
            <a:lvl8pPr marL="4876678" lvl="7" indent="-423323" rtl="0">
              <a:spcBef>
                <a:spcPts val="1067"/>
              </a:spcBef>
              <a:spcAft>
                <a:spcPts val="0"/>
              </a:spcAft>
              <a:buSzPts val="1400"/>
              <a:buFont typeface="Roboto"/>
              <a:buChar char="○"/>
              <a:defRPr>
                <a:latin typeface="Roboto"/>
                <a:ea typeface="Roboto"/>
                <a:cs typeface="Roboto"/>
                <a:sym typeface="Roboto"/>
              </a:defRPr>
            </a:lvl8pPr>
            <a:lvl9pPr marL="5486263" lvl="8" indent="-423323" rtl="0">
              <a:spcBef>
                <a:spcPts val="1067"/>
              </a:spcBef>
              <a:spcAft>
                <a:spcPts val="1067"/>
              </a:spcAft>
              <a:buSzPts val="1400"/>
              <a:buFont typeface="Roboto"/>
              <a:buChar char="■"/>
              <a:defRPr>
                <a:latin typeface="Roboto"/>
                <a:ea typeface="Roboto"/>
                <a:cs typeface="Roboto"/>
                <a:sym typeface="Roboto"/>
              </a:defRPr>
            </a:lvl9pPr>
          </a:lstStyle>
          <a:p>
            <a:endParaRPr/>
          </a:p>
        </p:txBody>
      </p:sp>
    </p:spTree>
    <p:extLst>
      <p:ext uri="{BB962C8B-B14F-4D97-AF65-F5344CB8AC3E}">
        <p14:creationId xmlns:p14="http://schemas.microsoft.com/office/powerpoint/2010/main" val="22623978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2. Activity">
  <p:cSld name="12. Activity">
    <p:spTree>
      <p:nvGrpSpPr>
        <p:cNvPr id="1" name="Shape 3612"/>
        <p:cNvGrpSpPr/>
        <p:nvPr/>
      </p:nvGrpSpPr>
      <p:grpSpPr>
        <a:xfrm>
          <a:off x="0" y="0"/>
          <a:ext cx="0" cy="0"/>
          <a:chOff x="0" y="0"/>
          <a:chExt cx="0" cy="0"/>
        </a:xfrm>
      </p:grpSpPr>
      <p:sp>
        <p:nvSpPr>
          <p:cNvPr id="3616" name="Google Shape;3616;p249"/>
          <p:cNvSpPr txBox="1">
            <a:spLocks noGrp="1"/>
          </p:cNvSpPr>
          <p:nvPr>
            <p:ph type="title"/>
          </p:nvPr>
        </p:nvSpPr>
        <p:spPr>
          <a:xfrm>
            <a:off x="-134800" y="5646133"/>
            <a:ext cx="11960400" cy="846000"/>
          </a:xfrm>
          <a:prstGeom prst="rect">
            <a:avLst/>
          </a:prstGeom>
          <a:noFill/>
          <a:ln>
            <a:noFill/>
          </a:ln>
        </p:spPr>
        <p:txBody>
          <a:bodyPr spcFirstLastPara="1" wrap="square" lIns="457200" tIns="9125" rIns="1005825" bIns="0" anchor="t" anchorCtr="0">
            <a:noAutofit/>
          </a:bodyPr>
          <a:lstStyle>
            <a:lvl1pPr lvl="0" algn="r" rtl="0">
              <a:spcBef>
                <a:spcPts val="0"/>
              </a:spcBef>
              <a:spcAft>
                <a:spcPts val="0"/>
              </a:spcAft>
              <a:buNone/>
              <a:defRPr sz="2400">
                <a:solidFill>
                  <a:srgbClr val="FFFFFF"/>
                </a:solidFill>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619" name="Google Shape;3619;p249"/>
          <p:cNvSpPr txBox="1">
            <a:spLocks noGrp="1"/>
          </p:cNvSpPr>
          <p:nvPr>
            <p:ph type="sldNum" idx="12"/>
          </p:nvPr>
        </p:nvSpPr>
        <p:spPr>
          <a:xfrm>
            <a:off x="11477033" y="6609600"/>
            <a:ext cx="349200" cy="140800"/>
          </a:xfrm>
          <a:prstGeom prst="rect">
            <a:avLst/>
          </a:prstGeom>
        </p:spPr>
        <p:txBody>
          <a:bodyPr spcFirstLastPara="1" wrap="square" lIns="0" tIns="0" rIns="0" bIns="91425" anchor="t" anchorCtr="0">
            <a:noAutofit/>
          </a:bodyPr>
          <a:lstStyle>
            <a:lvl1pPr lvl="0" rtl="0">
              <a:buNone/>
              <a:defRPr sz="800">
                <a:solidFill>
                  <a:srgbClr val="000000"/>
                </a:solidFill>
              </a:defRPr>
            </a:lvl1pPr>
            <a:lvl2pPr lvl="1" rtl="0">
              <a:buNone/>
              <a:defRPr sz="800">
                <a:solidFill>
                  <a:srgbClr val="000000"/>
                </a:solidFill>
              </a:defRPr>
            </a:lvl2pPr>
            <a:lvl3pPr lvl="2" rtl="0">
              <a:buNone/>
              <a:defRPr sz="800">
                <a:solidFill>
                  <a:srgbClr val="000000"/>
                </a:solidFill>
              </a:defRPr>
            </a:lvl3pPr>
            <a:lvl4pPr lvl="3" rtl="0">
              <a:buNone/>
              <a:defRPr sz="800">
                <a:solidFill>
                  <a:srgbClr val="000000"/>
                </a:solidFill>
              </a:defRPr>
            </a:lvl4pPr>
            <a:lvl5pPr lvl="4" rtl="0">
              <a:buNone/>
              <a:defRPr sz="800">
                <a:solidFill>
                  <a:srgbClr val="000000"/>
                </a:solidFill>
              </a:defRPr>
            </a:lvl5pPr>
            <a:lvl6pPr lvl="5" rtl="0">
              <a:buNone/>
              <a:defRPr sz="800">
                <a:solidFill>
                  <a:srgbClr val="000000"/>
                </a:solidFill>
              </a:defRPr>
            </a:lvl6pPr>
            <a:lvl7pPr lvl="6" rtl="0">
              <a:buNone/>
              <a:defRPr sz="800">
                <a:solidFill>
                  <a:srgbClr val="000000"/>
                </a:solidFill>
              </a:defRPr>
            </a:lvl7pPr>
            <a:lvl8pPr lvl="7" rtl="0">
              <a:buNone/>
              <a:defRPr sz="800">
                <a:solidFill>
                  <a:srgbClr val="000000"/>
                </a:solidFill>
              </a:defRPr>
            </a:lvl8pPr>
            <a:lvl9pPr lvl="8" rtl="0">
              <a:buNone/>
              <a:defRPr sz="800">
                <a:solidFill>
                  <a:srgbClr val="000000"/>
                </a:solidFill>
              </a:defRPr>
            </a:lvl9pPr>
          </a:lstStyle>
          <a:p>
            <a:fld id="{00000000-1234-1234-1234-123412341234}" type="slidenum">
              <a:rPr lang="en" smtClean="0"/>
              <a:pPr/>
              <a:t>‹#›</a:t>
            </a:fld>
            <a:endParaRPr lang="en"/>
          </a:p>
        </p:txBody>
      </p:sp>
      <p:sp>
        <p:nvSpPr>
          <p:cNvPr id="3621" name="Google Shape;3621;p249"/>
          <p:cNvSpPr txBox="1">
            <a:spLocks noGrp="1"/>
          </p:cNvSpPr>
          <p:nvPr>
            <p:ph type="subTitle" idx="1"/>
          </p:nvPr>
        </p:nvSpPr>
        <p:spPr>
          <a:xfrm>
            <a:off x="-16400" y="6555533"/>
            <a:ext cx="10629200" cy="302400"/>
          </a:xfrm>
          <a:prstGeom prst="rect">
            <a:avLst/>
          </a:prstGeom>
          <a:noFill/>
          <a:ln>
            <a:noFill/>
          </a:ln>
        </p:spPr>
        <p:txBody>
          <a:bodyPr spcFirstLastPara="1" wrap="square" lIns="274300" tIns="45700" rIns="0" bIns="0" anchor="t" anchorCtr="0">
            <a:noAutofit/>
          </a:bodyPr>
          <a:lstStyle>
            <a:lvl1pPr lvl="0" rtl="0">
              <a:spcBef>
                <a:spcPts val="0"/>
              </a:spcBef>
              <a:spcAft>
                <a:spcPts val="0"/>
              </a:spcAft>
              <a:buNone/>
              <a:defRPr sz="933"/>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622" name="Google Shape;3622;p249"/>
          <p:cNvSpPr txBox="1">
            <a:spLocks noGrp="1"/>
          </p:cNvSpPr>
          <p:nvPr>
            <p:ph type="title" idx="2"/>
          </p:nvPr>
        </p:nvSpPr>
        <p:spPr>
          <a:xfrm>
            <a:off x="365200" y="1390500"/>
            <a:ext cx="11460400" cy="3685600"/>
          </a:xfrm>
          <a:prstGeom prst="rect">
            <a:avLst/>
          </a:prstGeom>
          <a:noFill/>
          <a:ln>
            <a:noFill/>
          </a:ln>
        </p:spPr>
        <p:txBody>
          <a:bodyPr spcFirstLastPara="1" wrap="square" lIns="2560300" tIns="0" rIns="457200" bIns="457200" anchor="t" anchorCtr="0">
            <a:noAutofit/>
          </a:bodyPr>
          <a:lstStyle>
            <a:lvl1pPr lvl="0" rtl="0">
              <a:spcBef>
                <a:spcPts val="0"/>
              </a:spcBef>
              <a:spcAft>
                <a:spcPts val="0"/>
              </a:spcAft>
              <a:buNone/>
              <a:defRPr sz="32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extLst>
      <p:ext uri="{BB962C8B-B14F-4D97-AF65-F5344CB8AC3E}">
        <p14:creationId xmlns:p14="http://schemas.microsoft.com/office/powerpoint/2010/main" val="28772398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6. Bullets 1–4 (Yellow/Green)">
  <p:cSld name="26. Bullets 1–4 (Yellow/Green)">
    <p:spTree>
      <p:nvGrpSpPr>
        <p:cNvPr id="1" name="Shape 2922"/>
        <p:cNvGrpSpPr/>
        <p:nvPr/>
      </p:nvGrpSpPr>
      <p:grpSpPr>
        <a:xfrm>
          <a:off x="0" y="0"/>
          <a:ext cx="0" cy="0"/>
          <a:chOff x="0" y="0"/>
          <a:chExt cx="0" cy="0"/>
        </a:xfrm>
      </p:grpSpPr>
      <p:sp>
        <p:nvSpPr>
          <p:cNvPr id="2923" name="Google Shape;2923;p209"/>
          <p:cNvSpPr/>
          <p:nvPr/>
        </p:nvSpPr>
        <p:spPr>
          <a:xfrm>
            <a:off x="1803400" y="1838433"/>
            <a:ext cx="10022800" cy="828400"/>
          </a:xfrm>
          <a:prstGeom prst="roundRect">
            <a:avLst>
              <a:gd name="adj" fmla="val 16667"/>
            </a:avLst>
          </a:prstGeom>
          <a:solidFill>
            <a:srgbClr val="F3F3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24" name="Google Shape;2924;p209"/>
          <p:cNvSpPr txBox="1">
            <a:spLocks noGrp="1"/>
          </p:cNvSpPr>
          <p:nvPr>
            <p:ph type="title"/>
          </p:nvPr>
        </p:nvSpPr>
        <p:spPr>
          <a:xfrm>
            <a:off x="-16400" y="0"/>
            <a:ext cx="12224800" cy="711600"/>
          </a:xfrm>
          <a:prstGeom prst="rect">
            <a:avLst/>
          </a:prstGeom>
        </p:spPr>
        <p:txBody>
          <a:bodyPr spcFirstLastPara="1" wrap="square" lIns="457200" tIns="182875" rIns="274300" bIns="91425" anchor="t" anchorCtr="0">
            <a:noAutofit/>
          </a:bodyPr>
          <a:lstStyle>
            <a:lvl1pPr lvl="0" rtl="0">
              <a:spcBef>
                <a:spcPts val="0"/>
              </a:spcBef>
              <a:spcAft>
                <a:spcPts val="0"/>
              </a:spcAft>
              <a:buNone/>
              <a:defRPr sz="32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2925" name="Google Shape;2925;p209"/>
          <p:cNvSpPr txBox="1">
            <a:spLocks noGrp="1"/>
          </p:cNvSpPr>
          <p:nvPr>
            <p:ph type="subTitle" idx="1"/>
          </p:nvPr>
        </p:nvSpPr>
        <p:spPr>
          <a:xfrm>
            <a:off x="0" y="901300"/>
            <a:ext cx="12192000" cy="486400"/>
          </a:xfrm>
          <a:prstGeom prst="rect">
            <a:avLst/>
          </a:prstGeom>
        </p:spPr>
        <p:txBody>
          <a:bodyPr spcFirstLastPara="1" wrap="square" lIns="457200" tIns="91425" rIns="457200" bIns="0" anchor="t" anchorCtr="0">
            <a:noAutofit/>
          </a:bodyPr>
          <a:lstStyle>
            <a:lvl1pPr lvl="0" rtl="0">
              <a:spcBef>
                <a:spcPts val="0"/>
              </a:spcBef>
              <a:spcAft>
                <a:spcPts val="0"/>
              </a:spcAft>
              <a:buNone/>
              <a:defRPr sz="2400">
                <a:latin typeface="Roboto"/>
                <a:ea typeface="Roboto"/>
                <a:cs typeface="Roboto"/>
                <a:sym typeface="Roboto"/>
              </a:defRPr>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endParaRPr/>
          </a:p>
        </p:txBody>
      </p:sp>
      <p:cxnSp>
        <p:nvCxnSpPr>
          <p:cNvPr id="2926" name="Google Shape;2926;p209"/>
          <p:cNvCxnSpPr/>
          <p:nvPr/>
        </p:nvCxnSpPr>
        <p:spPr>
          <a:xfrm>
            <a:off x="365833" y="853440"/>
            <a:ext cx="11460800" cy="13600"/>
          </a:xfrm>
          <a:prstGeom prst="straightConnector1">
            <a:avLst/>
          </a:prstGeom>
          <a:noFill/>
          <a:ln w="9525" cap="flat" cmpd="sng">
            <a:solidFill>
              <a:schemeClr val="dk2"/>
            </a:solidFill>
            <a:prstDash val="solid"/>
            <a:round/>
            <a:headEnd type="none" w="med" len="med"/>
            <a:tailEnd type="none" w="med" len="med"/>
          </a:ln>
        </p:spPr>
      </p:cxnSp>
      <p:sp>
        <p:nvSpPr>
          <p:cNvPr id="2927" name="Google Shape;2927;p209"/>
          <p:cNvSpPr txBox="1">
            <a:spLocks noGrp="1"/>
          </p:cNvSpPr>
          <p:nvPr>
            <p:ph type="sldNum" idx="12"/>
          </p:nvPr>
        </p:nvSpPr>
        <p:spPr>
          <a:xfrm>
            <a:off x="11477033" y="6609600"/>
            <a:ext cx="349200" cy="140800"/>
          </a:xfrm>
          <a:prstGeom prst="rect">
            <a:avLst/>
          </a:prstGeom>
        </p:spPr>
        <p:txBody>
          <a:bodyPr spcFirstLastPara="1" wrap="square" lIns="0" tIns="0" rIns="0" bIns="91425" anchor="t" anchorCtr="0">
            <a:noAutofit/>
          </a:bodyPr>
          <a:lstStyle>
            <a:lvl1pPr lvl="0" rtl="0">
              <a:buNone/>
              <a:defRPr sz="800">
                <a:solidFill>
                  <a:srgbClr val="000000"/>
                </a:solidFill>
              </a:defRPr>
            </a:lvl1pPr>
            <a:lvl2pPr lvl="1" rtl="0">
              <a:buNone/>
              <a:defRPr sz="800">
                <a:solidFill>
                  <a:srgbClr val="000000"/>
                </a:solidFill>
              </a:defRPr>
            </a:lvl2pPr>
            <a:lvl3pPr lvl="2" rtl="0">
              <a:buNone/>
              <a:defRPr sz="800">
                <a:solidFill>
                  <a:srgbClr val="000000"/>
                </a:solidFill>
              </a:defRPr>
            </a:lvl3pPr>
            <a:lvl4pPr lvl="3" rtl="0">
              <a:buNone/>
              <a:defRPr sz="800">
                <a:solidFill>
                  <a:srgbClr val="000000"/>
                </a:solidFill>
              </a:defRPr>
            </a:lvl4pPr>
            <a:lvl5pPr lvl="4" rtl="0">
              <a:buNone/>
              <a:defRPr sz="800">
                <a:solidFill>
                  <a:srgbClr val="000000"/>
                </a:solidFill>
              </a:defRPr>
            </a:lvl5pPr>
            <a:lvl6pPr lvl="5" rtl="0">
              <a:buNone/>
              <a:defRPr sz="800">
                <a:solidFill>
                  <a:srgbClr val="000000"/>
                </a:solidFill>
              </a:defRPr>
            </a:lvl6pPr>
            <a:lvl7pPr lvl="6" rtl="0">
              <a:buNone/>
              <a:defRPr sz="800">
                <a:solidFill>
                  <a:srgbClr val="000000"/>
                </a:solidFill>
              </a:defRPr>
            </a:lvl7pPr>
            <a:lvl8pPr lvl="7" rtl="0">
              <a:buNone/>
              <a:defRPr sz="800">
                <a:solidFill>
                  <a:srgbClr val="000000"/>
                </a:solidFill>
              </a:defRPr>
            </a:lvl8pPr>
            <a:lvl9pPr lvl="8" rtl="0">
              <a:buNone/>
              <a:defRPr sz="800">
                <a:solidFill>
                  <a:srgbClr val="000000"/>
                </a:solidFill>
              </a:defRPr>
            </a:lvl9pPr>
          </a:lstStyle>
          <a:p>
            <a:fld id="{00000000-1234-1234-1234-123412341234}" type="slidenum">
              <a:rPr lang="en" smtClean="0"/>
              <a:pPr/>
              <a:t>‹#›</a:t>
            </a:fld>
            <a:endParaRPr lang="en"/>
          </a:p>
        </p:txBody>
      </p:sp>
      <p:cxnSp>
        <p:nvCxnSpPr>
          <p:cNvPr id="2928" name="Google Shape;2928;p209"/>
          <p:cNvCxnSpPr/>
          <p:nvPr/>
        </p:nvCxnSpPr>
        <p:spPr>
          <a:xfrm>
            <a:off x="365760" y="6541940"/>
            <a:ext cx="11460800" cy="13600"/>
          </a:xfrm>
          <a:prstGeom prst="straightConnector1">
            <a:avLst/>
          </a:prstGeom>
          <a:noFill/>
          <a:ln w="9525" cap="flat" cmpd="sng">
            <a:solidFill>
              <a:srgbClr val="A9B7C0"/>
            </a:solidFill>
            <a:prstDash val="solid"/>
            <a:round/>
            <a:headEnd type="none" w="med" len="med"/>
            <a:tailEnd type="none" w="med" len="med"/>
          </a:ln>
        </p:spPr>
      </p:cxnSp>
      <p:sp>
        <p:nvSpPr>
          <p:cNvPr id="2929" name="Google Shape;2929;p209"/>
          <p:cNvSpPr txBox="1">
            <a:spLocks noGrp="1"/>
          </p:cNvSpPr>
          <p:nvPr>
            <p:ph type="subTitle" idx="2"/>
          </p:nvPr>
        </p:nvSpPr>
        <p:spPr>
          <a:xfrm>
            <a:off x="-16400" y="6555533"/>
            <a:ext cx="10629200" cy="302400"/>
          </a:xfrm>
          <a:prstGeom prst="rect">
            <a:avLst/>
          </a:prstGeom>
        </p:spPr>
        <p:txBody>
          <a:bodyPr spcFirstLastPara="1" wrap="square" lIns="274300" tIns="45700" rIns="0" bIns="0" anchor="t" anchorCtr="0">
            <a:noAutofit/>
          </a:bodyPr>
          <a:lstStyle>
            <a:lvl1pPr lvl="0" rtl="0">
              <a:spcBef>
                <a:spcPts val="0"/>
              </a:spcBef>
              <a:spcAft>
                <a:spcPts val="0"/>
              </a:spcAft>
              <a:buNone/>
              <a:defRPr sz="933"/>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endParaRPr/>
          </a:p>
        </p:txBody>
      </p:sp>
      <p:sp>
        <p:nvSpPr>
          <p:cNvPr id="2930" name="Google Shape;2930;p209"/>
          <p:cNvSpPr txBox="1">
            <a:spLocks noGrp="1"/>
          </p:cNvSpPr>
          <p:nvPr>
            <p:ph type="subTitle" idx="3"/>
          </p:nvPr>
        </p:nvSpPr>
        <p:spPr>
          <a:xfrm>
            <a:off x="16300" y="1864000"/>
            <a:ext cx="12192000" cy="809200"/>
          </a:xfrm>
          <a:prstGeom prst="rect">
            <a:avLst/>
          </a:prstGeom>
        </p:spPr>
        <p:txBody>
          <a:bodyPr spcFirstLastPara="1" wrap="square" lIns="1554475" tIns="0" rIns="457200" bIns="0" anchor="ctr" anchorCtr="0">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endParaRPr/>
          </a:p>
        </p:txBody>
      </p:sp>
      <p:sp>
        <p:nvSpPr>
          <p:cNvPr id="2931" name="Google Shape;2931;p209"/>
          <p:cNvSpPr/>
          <p:nvPr/>
        </p:nvSpPr>
        <p:spPr>
          <a:xfrm>
            <a:off x="1803400" y="2974848"/>
            <a:ext cx="10022800" cy="828400"/>
          </a:xfrm>
          <a:prstGeom prst="roundRect">
            <a:avLst>
              <a:gd name="adj" fmla="val 16667"/>
            </a:avLst>
          </a:prstGeom>
          <a:solidFill>
            <a:srgbClr val="F3F3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32" name="Google Shape;2932;p209"/>
          <p:cNvSpPr/>
          <p:nvPr/>
        </p:nvSpPr>
        <p:spPr>
          <a:xfrm>
            <a:off x="1803400" y="4098467"/>
            <a:ext cx="10022800" cy="828400"/>
          </a:xfrm>
          <a:prstGeom prst="roundRect">
            <a:avLst>
              <a:gd name="adj" fmla="val 16667"/>
            </a:avLst>
          </a:prstGeom>
          <a:solidFill>
            <a:srgbClr val="F3F3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33" name="Google Shape;2933;p209"/>
          <p:cNvSpPr/>
          <p:nvPr/>
        </p:nvSpPr>
        <p:spPr>
          <a:xfrm>
            <a:off x="1803400" y="5225300"/>
            <a:ext cx="10022800" cy="828400"/>
          </a:xfrm>
          <a:prstGeom prst="roundRect">
            <a:avLst>
              <a:gd name="adj" fmla="val 16667"/>
            </a:avLst>
          </a:prstGeom>
          <a:solidFill>
            <a:srgbClr val="F3F3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34" name="Google Shape;2934;p209"/>
          <p:cNvSpPr txBox="1">
            <a:spLocks noGrp="1"/>
          </p:cNvSpPr>
          <p:nvPr>
            <p:ph type="subTitle" idx="4"/>
          </p:nvPr>
        </p:nvSpPr>
        <p:spPr>
          <a:xfrm>
            <a:off x="-16300" y="2978067"/>
            <a:ext cx="12224800" cy="809200"/>
          </a:xfrm>
          <a:prstGeom prst="rect">
            <a:avLst/>
          </a:prstGeom>
        </p:spPr>
        <p:txBody>
          <a:bodyPr spcFirstLastPara="1" wrap="square" lIns="1554475" tIns="0" rIns="457200" bIns="0" anchor="ctr" anchorCtr="0">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endParaRPr/>
          </a:p>
        </p:txBody>
      </p:sp>
      <p:sp>
        <p:nvSpPr>
          <p:cNvPr id="2935" name="Google Shape;2935;p209"/>
          <p:cNvSpPr txBox="1">
            <a:spLocks noGrp="1"/>
          </p:cNvSpPr>
          <p:nvPr>
            <p:ph type="subTitle" idx="5"/>
          </p:nvPr>
        </p:nvSpPr>
        <p:spPr>
          <a:xfrm>
            <a:off x="0" y="4101700"/>
            <a:ext cx="12224800" cy="809200"/>
          </a:xfrm>
          <a:prstGeom prst="rect">
            <a:avLst/>
          </a:prstGeom>
        </p:spPr>
        <p:txBody>
          <a:bodyPr spcFirstLastPara="1" wrap="square" lIns="1554475" tIns="0" rIns="457200" bIns="0" anchor="ctr" anchorCtr="0">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endParaRPr/>
          </a:p>
        </p:txBody>
      </p:sp>
      <p:sp>
        <p:nvSpPr>
          <p:cNvPr id="2936" name="Google Shape;2936;p209"/>
          <p:cNvSpPr txBox="1">
            <a:spLocks noGrp="1"/>
          </p:cNvSpPr>
          <p:nvPr>
            <p:ph type="subTitle" idx="6"/>
          </p:nvPr>
        </p:nvSpPr>
        <p:spPr>
          <a:xfrm>
            <a:off x="-16400" y="5225300"/>
            <a:ext cx="12224800" cy="809200"/>
          </a:xfrm>
          <a:prstGeom prst="rect">
            <a:avLst/>
          </a:prstGeom>
        </p:spPr>
        <p:txBody>
          <a:bodyPr spcFirstLastPara="1" wrap="square" lIns="1554475" tIns="0" rIns="457200" bIns="0" anchor="ctr" anchorCtr="0">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endParaRPr/>
          </a:p>
        </p:txBody>
      </p:sp>
      <p:pic>
        <p:nvPicPr>
          <p:cNvPr id="2937" name="Google Shape;2937;p209"/>
          <p:cNvPicPr preferRelativeResize="0"/>
          <p:nvPr/>
        </p:nvPicPr>
        <p:blipFill rotWithShape="1">
          <a:blip r:embed="rId2">
            <a:alphaModFix/>
          </a:blip>
          <a:srcRect t="1830" b="1830"/>
          <a:stretch/>
        </p:blipFill>
        <p:spPr>
          <a:xfrm>
            <a:off x="573025" y="1870415"/>
            <a:ext cx="1047423" cy="809200"/>
          </a:xfrm>
          <a:prstGeom prst="rect">
            <a:avLst/>
          </a:prstGeom>
          <a:noFill/>
          <a:ln>
            <a:noFill/>
          </a:ln>
        </p:spPr>
      </p:pic>
      <p:pic>
        <p:nvPicPr>
          <p:cNvPr id="2938" name="Google Shape;2938;p209"/>
          <p:cNvPicPr preferRelativeResize="0"/>
          <p:nvPr/>
        </p:nvPicPr>
        <p:blipFill rotWithShape="1">
          <a:blip r:embed="rId2">
            <a:alphaModFix/>
          </a:blip>
          <a:srcRect t="1830" b="1830"/>
          <a:stretch/>
        </p:blipFill>
        <p:spPr>
          <a:xfrm>
            <a:off x="573025" y="2969464"/>
            <a:ext cx="1047423" cy="809200"/>
          </a:xfrm>
          <a:prstGeom prst="rect">
            <a:avLst/>
          </a:prstGeom>
          <a:noFill/>
          <a:ln>
            <a:noFill/>
          </a:ln>
        </p:spPr>
      </p:pic>
      <p:pic>
        <p:nvPicPr>
          <p:cNvPr id="2939" name="Google Shape;2939;p209"/>
          <p:cNvPicPr preferRelativeResize="0"/>
          <p:nvPr/>
        </p:nvPicPr>
        <p:blipFill rotWithShape="1">
          <a:blip r:embed="rId2">
            <a:alphaModFix/>
          </a:blip>
          <a:srcRect t="1830" b="1830"/>
          <a:stretch/>
        </p:blipFill>
        <p:spPr>
          <a:xfrm>
            <a:off x="576409" y="5222097"/>
            <a:ext cx="1047423" cy="809200"/>
          </a:xfrm>
          <a:prstGeom prst="rect">
            <a:avLst/>
          </a:prstGeom>
          <a:noFill/>
          <a:ln>
            <a:noFill/>
          </a:ln>
        </p:spPr>
      </p:pic>
      <p:pic>
        <p:nvPicPr>
          <p:cNvPr id="2940" name="Google Shape;2940;p209"/>
          <p:cNvPicPr preferRelativeResize="0"/>
          <p:nvPr/>
        </p:nvPicPr>
        <p:blipFill rotWithShape="1">
          <a:blip r:embed="rId2">
            <a:alphaModFix/>
          </a:blip>
          <a:srcRect t="1830" b="1830"/>
          <a:stretch/>
        </p:blipFill>
        <p:spPr>
          <a:xfrm>
            <a:off x="573025" y="4109681"/>
            <a:ext cx="1047423" cy="809200"/>
          </a:xfrm>
          <a:prstGeom prst="rect">
            <a:avLst/>
          </a:prstGeom>
          <a:noFill/>
          <a:ln>
            <a:noFill/>
          </a:ln>
        </p:spPr>
      </p:pic>
    </p:spTree>
    <p:extLst>
      <p:ext uri="{BB962C8B-B14F-4D97-AF65-F5344CB8AC3E}">
        <p14:creationId xmlns:p14="http://schemas.microsoft.com/office/powerpoint/2010/main" val="2139608120"/>
      </p:ext>
    </p:extLst>
  </p:cSld>
  <p:clrMapOvr>
    <a:masterClrMapping/>
  </p:clrMapOvr>
  <p:extLst>
    <p:ext uri="{DCECCB84-F9BA-43D5-87BE-67443E8EF086}">
      <p15:sldGuideLst xmlns:p15="http://schemas.microsoft.com/office/powerpoint/2012/main">
        <p15:guide id="1" pos="288">
          <p15:clr>
            <a:srgbClr val="F9AD4C"/>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066CCE-7051-D813-F46E-D143198170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DC6B23E-43C2-CFB0-71BE-ADAD573D79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976007-6AC2-AB21-A487-80F7F92230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16AB6AB-B19C-4A18-B35D-F02BE370A671}" type="datetimeFigureOut">
              <a:rPr lang="en-US" smtClean="0"/>
              <a:t>12/13/2024</a:t>
            </a:fld>
            <a:endParaRPr lang="en-US"/>
          </a:p>
        </p:txBody>
      </p:sp>
      <p:sp>
        <p:nvSpPr>
          <p:cNvPr id="5" name="Footer Placeholder 4">
            <a:extLst>
              <a:ext uri="{FF2B5EF4-FFF2-40B4-BE49-F238E27FC236}">
                <a16:creationId xmlns:a16="http://schemas.microsoft.com/office/drawing/2014/main" id="{578E16FA-3667-276A-432B-C94778CB94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922A165-1336-DA6B-4342-368466A5DB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6A7E557-5186-4E40-A4E0-0B776B39CA81}" type="slidenum">
              <a:rPr lang="en-US" smtClean="0"/>
              <a:t>‹#›</a:t>
            </a:fld>
            <a:endParaRPr lang="en-US"/>
          </a:p>
        </p:txBody>
      </p:sp>
    </p:spTree>
    <p:extLst>
      <p:ext uri="{BB962C8B-B14F-4D97-AF65-F5344CB8AC3E}">
        <p14:creationId xmlns:p14="http://schemas.microsoft.com/office/powerpoint/2010/main" val="709991102"/>
      </p:ext>
    </p:extLst>
  </p:cSld>
  <p:clrMap bg1="lt1" tx1="dk1" bg2="lt2" tx2="dk2" accent1="accent1" accent2="accent2" accent3="accent3" accent4="accent4" accent5="accent5" accent6="accent6" hlink="hlink" folHlink="folHlink"/>
  <p:sldLayoutIdLst>
    <p:sldLayoutId id="2147483858"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68" r:id="rId11"/>
    <p:sldLayoutId id="2147483870" r:id="rId12"/>
    <p:sldLayoutId id="2147483871" r:id="rId13"/>
    <p:sldLayoutId id="214748387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100.png"/><Relationship Id="rId5" Type="http://schemas.openxmlformats.org/officeDocument/2006/relationships/customXml" Target="../ink/ink2.xml"/><Relationship Id="rId4" Type="http://schemas.openxmlformats.org/officeDocument/2006/relationships/image" Target="../media/image910.png"/><Relationship Id="rId9"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75E2C-E9D4-5293-77D7-487B946CCE3C}"/>
              </a:ext>
            </a:extLst>
          </p:cNvPr>
          <p:cNvSpPr>
            <a:spLocks noGrp="1"/>
          </p:cNvSpPr>
          <p:nvPr>
            <p:ph type="ctrTitle"/>
          </p:nvPr>
        </p:nvSpPr>
        <p:spPr/>
        <p:txBody>
          <a:bodyPr/>
          <a:lstStyle/>
          <a:p>
            <a:pPr algn="ctr"/>
            <a:r>
              <a:rPr lang="en-US" dirty="0"/>
              <a:t>TABLEAU DESKTOP</a:t>
            </a:r>
          </a:p>
        </p:txBody>
      </p:sp>
      <p:sp>
        <p:nvSpPr>
          <p:cNvPr id="3" name="Subtitle 2">
            <a:extLst>
              <a:ext uri="{FF2B5EF4-FFF2-40B4-BE49-F238E27FC236}">
                <a16:creationId xmlns:a16="http://schemas.microsoft.com/office/drawing/2014/main" id="{90BD4649-2DA0-59F0-EC18-EC8378299209}"/>
              </a:ext>
            </a:extLst>
          </p:cNvPr>
          <p:cNvSpPr>
            <a:spLocks noGrp="1"/>
          </p:cNvSpPr>
          <p:nvPr>
            <p:ph type="subTitle" idx="1"/>
          </p:nvPr>
        </p:nvSpPr>
        <p:spPr/>
        <p:txBody>
          <a:bodyPr/>
          <a:lstStyle/>
          <a:p>
            <a:r>
              <a:rPr lang="en-US"/>
              <a:t>By Ahmad Mousa </a:t>
            </a:r>
            <a:endParaRPr lang="en-US" dirty="0"/>
          </a:p>
        </p:txBody>
      </p:sp>
    </p:spTree>
    <p:extLst>
      <p:ext uri="{BB962C8B-B14F-4D97-AF65-F5344CB8AC3E}">
        <p14:creationId xmlns:p14="http://schemas.microsoft.com/office/powerpoint/2010/main" val="748437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39"/>
        <p:cNvGrpSpPr/>
        <p:nvPr/>
      </p:nvGrpSpPr>
      <p:grpSpPr>
        <a:xfrm>
          <a:off x="0" y="0"/>
          <a:ext cx="0" cy="0"/>
          <a:chOff x="0" y="0"/>
          <a:chExt cx="0" cy="0"/>
        </a:xfrm>
      </p:grpSpPr>
      <p:sp>
        <p:nvSpPr>
          <p:cNvPr id="5940" name="Google Shape;5940;p388"/>
          <p:cNvSpPr txBox="1">
            <a:spLocks noGrp="1"/>
          </p:cNvSpPr>
          <p:nvPr>
            <p:ph type="title"/>
          </p:nvPr>
        </p:nvSpPr>
        <p:spPr>
          <a:xfrm>
            <a:off x="-16400" y="0"/>
            <a:ext cx="12224800" cy="711600"/>
          </a:xfrm>
          <a:prstGeom prst="rect">
            <a:avLst/>
          </a:prstGeom>
        </p:spPr>
        <p:txBody>
          <a:bodyPr spcFirstLastPara="1" vert="horz" wrap="square" lIns="609600" tIns="243833" rIns="365733" bIns="121900" rtlCol="0" anchor="t" anchorCtr="0">
            <a:noAutofit/>
          </a:bodyPr>
          <a:lstStyle/>
          <a:p>
            <a:pPr>
              <a:buClr>
                <a:schemeClr val="dk1"/>
              </a:buClr>
              <a:buSzPts val="1100"/>
            </a:pPr>
            <a:r>
              <a:rPr lang="en"/>
              <a:t>Class Objectives</a:t>
            </a:r>
            <a:endParaRPr>
              <a:solidFill>
                <a:schemeClr val="dk1"/>
              </a:solidFill>
            </a:endParaRPr>
          </a:p>
          <a:p>
            <a:endParaRPr>
              <a:solidFill>
                <a:schemeClr val="dk1"/>
              </a:solidFill>
            </a:endParaRPr>
          </a:p>
        </p:txBody>
      </p:sp>
      <p:sp>
        <p:nvSpPr>
          <p:cNvPr id="5941" name="Google Shape;5941;p388"/>
          <p:cNvSpPr txBox="1">
            <a:spLocks noGrp="1"/>
          </p:cNvSpPr>
          <p:nvPr>
            <p:ph type="sldNum" idx="12"/>
          </p:nvPr>
        </p:nvSpPr>
        <p:spPr>
          <a:xfrm>
            <a:off x="11477033" y="6609600"/>
            <a:ext cx="349200" cy="140800"/>
          </a:xfrm>
          <a:prstGeom prst="rect">
            <a:avLst/>
          </a:prstGeom>
        </p:spPr>
        <p:txBody>
          <a:bodyPr spcFirstLastPara="1" vert="horz" wrap="square" lIns="0" tIns="0" rIns="0" bIns="121900" rtlCol="0" anchor="t" anchorCtr="0">
            <a:noAutofit/>
          </a:bodyPr>
          <a:lstStyle/>
          <a:p>
            <a:fld id="{00000000-1234-1234-1234-123412341234}" type="slidenum">
              <a:rPr lang="en"/>
              <a:pPr/>
              <a:t>2</a:t>
            </a:fld>
            <a:endParaRPr/>
          </a:p>
        </p:txBody>
      </p:sp>
      <p:sp>
        <p:nvSpPr>
          <p:cNvPr id="5942" name="Google Shape;5942;p388"/>
          <p:cNvSpPr txBox="1">
            <a:spLocks noGrp="1"/>
          </p:cNvSpPr>
          <p:nvPr>
            <p:ph type="subTitle" idx="1"/>
          </p:nvPr>
        </p:nvSpPr>
        <p:spPr>
          <a:xfrm>
            <a:off x="0" y="901300"/>
            <a:ext cx="12192000" cy="486400"/>
          </a:xfrm>
          <a:prstGeom prst="rect">
            <a:avLst/>
          </a:prstGeom>
        </p:spPr>
        <p:txBody>
          <a:bodyPr spcFirstLastPara="1" vert="horz" wrap="square" lIns="609600" tIns="121900" rIns="609600" bIns="0" rtlCol="0" anchor="t" anchorCtr="0">
            <a:noAutofit/>
          </a:bodyPr>
          <a:lstStyle/>
          <a:p>
            <a:pPr marL="0" indent="0">
              <a:spcAft>
                <a:spcPts val="2133"/>
              </a:spcAft>
            </a:pPr>
            <a:r>
              <a:rPr lang="en">
                <a:solidFill>
                  <a:schemeClr val="dk1"/>
                </a:solidFill>
              </a:rPr>
              <a:t>By the end of this lesson, you will be able to:</a:t>
            </a:r>
            <a:endParaRPr/>
          </a:p>
        </p:txBody>
      </p:sp>
      <p:sp>
        <p:nvSpPr>
          <p:cNvPr id="5943" name="Google Shape;5943;p388"/>
          <p:cNvSpPr txBox="1">
            <a:spLocks noGrp="1"/>
          </p:cNvSpPr>
          <p:nvPr>
            <p:ph type="subTitle" idx="3"/>
          </p:nvPr>
        </p:nvSpPr>
        <p:spPr>
          <a:xfrm>
            <a:off x="16300" y="2025339"/>
            <a:ext cx="12192000" cy="809200"/>
          </a:xfrm>
          <a:prstGeom prst="rect">
            <a:avLst/>
          </a:prstGeom>
        </p:spPr>
        <p:txBody>
          <a:bodyPr spcFirstLastPara="1" vert="horz" wrap="square" lIns="2072633" tIns="0" rIns="609600" bIns="0" rtlCol="0" anchor="ctr" anchorCtr="0">
            <a:noAutofit/>
          </a:bodyPr>
          <a:lstStyle/>
          <a:p>
            <a:pPr marL="0" indent="0">
              <a:spcAft>
                <a:spcPts val="2133"/>
              </a:spcAft>
            </a:pPr>
            <a:r>
              <a:rPr lang="en-US" sz="1867" dirty="0"/>
              <a:t>Exploring the Tableau Desktop Interface</a:t>
            </a:r>
          </a:p>
        </p:txBody>
      </p:sp>
      <p:sp>
        <p:nvSpPr>
          <p:cNvPr id="5944" name="Google Shape;5944;p388"/>
          <p:cNvSpPr txBox="1">
            <a:spLocks noGrp="1"/>
          </p:cNvSpPr>
          <p:nvPr>
            <p:ph type="subTitle" idx="4"/>
          </p:nvPr>
        </p:nvSpPr>
        <p:spPr>
          <a:xfrm>
            <a:off x="-16400" y="3148560"/>
            <a:ext cx="12224800" cy="809200"/>
          </a:xfrm>
          <a:prstGeom prst="rect">
            <a:avLst/>
          </a:prstGeom>
        </p:spPr>
        <p:txBody>
          <a:bodyPr spcFirstLastPara="1" vert="horz" wrap="square" lIns="2072633" tIns="0" rIns="609600" bIns="0" rtlCol="0" anchor="ctr" anchorCtr="0">
            <a:noAutofit/>
          </a:bodyPr>
          <a:lstStyle/>
          <a:p>
            <a:pPr marL="0" indent="0">
              <a:spcAft>
                <a:spcPts val="2133"/>
              </a:spcAft>
            </a:pPr>
            <a:r>
              <a:rPr lang="en-US" sz="2000" dirty="0"/>
              <a:t>Connecting to various data source</a:t>
            </a:r>
          </a:p>
        </p:txBody>
      </p:sp>
      <p:sp>
        <p:nvSpPr>
          <p:cNvPr id="5945" name="Google Shape;5945;p388"/>
          <p:cNvSpPr txBox="1">
            <a:spLocks noGrp="1"/>
          </p:cNvSpPr>
          <p:nvPr>
            <p:ph type="subTitle" idx="5"/>
          </p:nvPr>
        </p:nvSpPr>
        <p:spPr>
          <a:xfrm>
            <a:off x="0" y="4266092"/>
            <a:ext cx="12224800" cy="809200"/>
          </a:xfrm>
          <a:prstGeom prst="rect">
            <a:avLst/>
          </a:prstGeom>
        </p:spPr>
        <p:txBody>
          <a:bodyPr spcFirstLastPara="1" vert="horz" wrap="square" lIns="2072633" tIns="0" rIns="609600" bIns="0" rtlCol="0" anchor="ctr" anchorCtr="0">
            <a:noAutofit/>
          </a:bodyPr>
          <a:lstStyle/>
          <a:p>
            <a:pPr marL="0" indent="0">
              <a:spcAft>
                <a:spcPts val="2133"/>
              </a:spcAft>
            </a:pPr>
            <a:r>
              <a:rPr lang="en-US" sz="1867" dirty="0"/>
              <a:t>Import and join data within </a:t>
            </a:r>
            <a:r>
              <a:rPr lang="en-US" sz="2000" dirty="0"/>
              <a:t>Tableau</a:t>
            </a:r>
            <a:endParaRPr lang="en-US" sz="1867" dirty="0"/>
          </a:p>
        </p:txBody>
      </p:sp>
      <p:sp>
        <p:nvSpPr>
          <p:cNvPr id="5946" name="Google Shape;5946;p388"/>
          <p:cNvSpPr txBox="1">
            <a:spLocks noGrp="1"/>
          </p:cNvSpPr>
          <p:nvPr>
            <p:ph type="subTitle" idx="6"/>
          </p:nvPr>
        </p:nvSpPr>
        <p:spPr>
          <a:xfrm>
            <a:off x="-16400" y="5400156"/>
            <a:ext cx="12224800" cy="809200"/>
          </a:xfrm>
          <a:prstGeom prst="rect">
            <a:avLst/>
          </a:prstGeom>
        </p:spPr>
        <p:txBody>
          <a:bodyPr spcFirstLastPara="1" vert="horz" wrap="square" lIns="2072633" tIns="0" rIns="609600" bIns="0" rtlCol="0" anchor="ctr" anchorCtr="0">
            <a:noAutofit/>
          </a:bodyPr>
          <a:lstStyle/>
          <a:p>
            <a:pPr marL="0" indent="0">
              <a:spcAft>
                <a:spcPts val="2133"/>
              </a:spcAft>
            </a:pPr>
            <a:r>
              <a:rPr lang="en-US" sz="1867" dirty="0"/>
              <a:t>Create and style worksheets and stories in </a:t>
            </a:r>
            <a:r>
              <a:rPr lang="en-US" sz="2000" dirty="0"/>
              <a:t>Power BI </a:t>
            </a:r>
            <a:endParaRPr lang="en-US" sz="186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56"/>
        <p:cNvGrpSpPr/>
        <p:nvPr/>
      </p:nvGrpSpPr>
      <p:grpSpPr>
        <a:xfrm>
          <a:off x="0" y="0"/>
          <a:ext cx="0" cy="0"/>
          <a:chOff x="0" y="0"/>
          <a:chExt cx="0" cy="0"/>
        </a:xfrm>
      </p:grpSpPr>
      <p:sp>
        <p:nvSpPr>
          <p:cNvPr id="5957" name="Google Shape;5957;p390"/>
          <p:cNvSpPr txBox="1">
            <a:spLocks noGrp="1"/>
          </p:cNvSpPr>
          <p:nvPr>
            <p:ph type="sldNum" idx="12"/>
          </p:nvPr>
        </p:nvSpPr>
        <p:spPr>
          <a:prstGeom prst="rect">
            <a:avLst/>
          </a:prstGeom>
        </p:spPr>
        <p:txBody>
          <a:bodyPr spcFirstLastPara="1" vert="horz" wrap="square" lIns="0" tIns="0" rIns="0" bIns="121900" rtlCol="0" anchor="t" anchorCtr="0">
            <a:noAutofit/>
          </a:bodyPr>
          <a:lstStyle/>
          <a:p>
            <a:fld id="{00000000-1234-1234-1234-123412341234}" type="slidenum">
              <a:rPr lang="en"/>
              <a:pPr/>
              <a:t>3</a:t>
            </a:fld>
            <a:endParaRPr/>
          </a:p>
        </p:txBody>
      </p:sp>
      <p:pic>
        <p:nvPicPr>
          <p:cNvPr id="5958" name="Google Shape;5958;p390"/>
          <p:cNvPicPr preferRelativeResize="0"/>
          <p:nvPr/>
        </p:nvPicPr>
        <p:blipFill>
          <a:blip r:embed="rId3">
            <a:alphaModFix/>
          </a:blip>
          <a:stretch>
            <a:fillRect/>
          </a:stretch>
        </p:blipFill>
        <p:spPr>
          <a:xfrm>
            <a:off x="0" y="1"/>
            <a:ext cx="12192000" cy="685799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77"/>
        <p:cNvGrpSpPr/>
        <p:nvPr/>
      </p:nvGrpSpPr>
      <p:grpSpPr>
        <a:xfrm>
          <a:off x="0" y="0"/>
          <a:ext cx="0" cy="0"/>
          <a:chOff x="0" y="0"/>
          <a:chExt cx="0" cy="0"/>
        </a:xfrm>
      </p:grpSpPr>
      <p:sp>
        <p:nvSpPr>
          <p:cNvPr id="5978" name="Google Shape;5978;p393"/>
          <p:cNvSpPr txBox="1">
            <a:spLocks noGrp="1"/>
          </p:cNvSpPr>
          <p:nvPr>
            <p:ph type="title"/>
          </p:nvPr>
        </p:nvSpPr>
        <p:spPr>
          <a:prstGeom prst="rect">
            <a:avLst/>
          </a:prstGeom>
        </p:spPr>
        <p:txBody>
          <a:bodyPr spcFirstLastPara="1" vert="horz" wrap="square" lIns="609600" tIns="12167" rIns="1341100" bIns="0" rtlCol="0" anchor="t" anchorCtr="0">
            <a:noAutofit/>
          </a:bodyPr>
          <a:lstStyle/>
          <a:p>
            <a:r>
              <a:rPr lang="en" dirty="0"/>
              <a:t>  10 Minutes</a:t>
            </a:r>
            <a:endParaRPr dirty="0"/>
          </a:p>
        </p:txBody>
      </p:sp>
      <p:sp>
        <p:nvSpPr>
          <p:cNvPr id="5979" name="Google Shape;5979;p393"/>
          <p:cNvSpPr txBox="1">
            <a:spLocks noGrp="1"/>
          </p:cNvSpPr>
          <p:nvPr>
            <p:ph type="sldNum" idx="12"/>
          </p:nvPr>
        </p:nvSpPr>
        <p:spPr>
          <a:prstGeom prst="rect">
            <a:avLst/>
          </a:prstGeom>
        </p:spPr>
        <p:txBody>
          <a:bodyPr spcFirstLastPara="1" vert="horz" wrap="square" lIns="0" tIns="0" rIns="0" bIns="121900" rtlCol="0" anchor="t" anchorCtr="0">
            <a:noAutofit/>
          </a:bodyPr>
          <a:lstStyle/>
          <a:p>
            <a:fld id="{00000000-1234-1234-1234-123412341234}" type="slidenum">
              <a:rPr lang="en"/>
              <a:pPr/>
              <a:t>4</a:t>
            </a:fld>
            <a:endParaRPr/>
          </a:p>
        </p:txBody>
      </p:sp>
      <p:sp>
        <p:nvSpPr>
          <p:cNvPr id="5981" name="Google Shape;5981;p393"/>
          <p:cNvSpPr txBox="1">
            <a:spLocks noGrp="1"/>
          </p:cNvSpPr>
          <p:nvPr>
            <p:ph type="title" idx="2"/>
          </p:nvPr>
        </p:nvSpPr>
        <p:spPr>
          <a:xfrm>
            <a:off x="1142999" y="1441021"/>
            <a:ext cx="11477715" cy="1465899"/>
          </a:xfrm>
          <a:prstGeom prst="rect">
            <a:avLst/>
          </a:prstGeom>
        </p:spPr>
        <p:txBody>
          <a:bodyPr spcFirstLastPara="1" vert="horz" wrap="square" lIns="3413733" tIns="0" rIns="609600" bIns="609600" rtlCol="0" anchor="t" anchorCtr="0">
            <a:noAutofit/>
          </a:bodyPr>
          <a:lstStyle/>
          <a:p>
            <a:pPr>
              <a:buClr>
                <a:schemeClr val="dk1"/>
              </a:buClr>
              <a:buSzPts val="1100"/>
            </a:pPr>
            <a:r>
              <a:rPr lang="en-US" sz="3067" b="1" dirty="0"/>
              <a:t>Instructor Demonstration</a:t>
            </a:r>
            <a:r>
              <a:rPr lang="en" sz="3067" b="1" dirty="0"/>
              <a:t>: </a:t>
            </a:r>
            <a:r>
              <a:rPr lang="en-US" sz="3067" b="1" dirty="0"/>
              <a:t>Tableau </a:t>
            </a:r>
            <a:r>
              <a:rPr lang="en" sz="3067" b="1" dirty="0"/>
              <a:t>Exploration </a:t>
            </a:r>
            <a:endParaRPr sz="3067" b="1" dirty="0"/>
          </a:p>
          <a:p>
            <a:pPr>
              <a:buClr>
                <a:schemeClr val="dk1"/>
              </a:buClr>
              <a:buSzPts val="1100"/>
            </a:pPr>
            <a:endParaRPr sz="3067" dirty="0">
              <a:latin typeface="Roboto Medium"/>
              <a:ea typeface="Roboto Medium"/>
              <a:cs typeface="Roboto Medium"/>
              <a:sym typeface="Roboto Medium"/>
            </a:endParaRPr>
          </a:p>
        </p:txBody>
      </p:sp>
      <p:sp>
        <p:nvSpPr>
          <p:cNvPr id="6" name="Rectangle 5">
            <a:extLst>
              <a:ext uri="{FF2B5EF4-FFF2-40B4-BE49-F238E27FC236}">
                <a16:creationId xmlns:a16="http://schemas.microsoft.com/office/drawing/2014/main" id="{7E26E8FB-5CDF-A9C2-62AB-B8EF12F5377E}"/>
              </a:ext>
            </a:extLst>
          </p:cNvPr>
          <p:cNvSpPr/>
          <p:nvPr/>
        </p:nvSpPr>
        <p:spPr>
          <a:xfrm>
            <a:off x="0" y="4684029"/>
            <a:ext cx="12192000" cy="1866837"/>
          </a:xfrm>
          <a:prstGeom prst="rect">
            <a:avLst/>
          </a:prstGeom>
          <a:solidFill>
            <a:srgbClr val="C09200">
              <a:alpha val="49804"/>
            </a:srgbClr>
          </a:solidFill>
          <a:ln>
            <a:solidFill>
              <a:srgbClr val="FFC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8" name="Picture 7" descr="A clock with a bell&#10;&#10;Description automatically generated">
            <a:extLst>
              <a:ext uri="{FF2B5EF4-FFF2-40B4-BE49-F238E27FC236}">
                <a16:creationId xmlns:a16="http://schemas.microsoft.com/office/drawing/2014/main" id="{88A25E8B-E337-29D4-2624-D9E613FFDA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6776" y="4730288"/>
            <a:ext cx="1474424" cy="1474424"/>
          </a:xfrm>
          <a:prstGeom prst="rect">
            <a:avLst/>
          </a:prstGeom>
        </p:spPr>
      </p:pic>
      <p:sp>
        <p:nvSpPr>
          <p:cNvPr id="9" name="TextBox 8">
            <a:extLst>
              <a:ext uri="{FF2B5EF4-FFF2-40B4-BE49-F238E27FC236}">
                <a16:creationId xmlns:a16="http://schemas.microsoft.com/office/drawing/2014/main" id="{78A1C98C-CBF1-4DF3-3F11-519189FD83DE}"/>
              </a:ext>
            </a:extLst>
          </p:cNvPr>
          <p:cNvSpPr txBox="1"/>
          <p:nvPr/>
        </p:nvSpPr>
        <p:spPr>
          <a:xfrm>
            <a:off x="7881257" y="5076100"/>
            <a:ext cx="2628119" cy="461665"/>
          </a:xfrm>
          <a:prstGeom prst="rect">
            <a:avLst/>
          </a:prstGeom>
          <a:noFill/>
        </p:spPr>
        <p:txBody>
          <a:bodyPr wrap="square" rtlCol="0">
            <a:spAutoFit/>
          </a:bodyPr>
          <a:lstStyle/>
          <a:p>
            <a:r>
              <a:rPr lang="en-US" sz="2400" b="1" dirty="0"/>
              <a:t>Suggested Time:</a:t>
            </a:r>
          </a:p>
        </p:txBody>
      </p:sp>
      <p:sp>
        <p:nvSpPr>
          <p:cNvPr id="10" name="TextBox 9">
            <a:extLst>
              <a:ext uri="{FF2B5EF4-FFF2-40B4-BE49-F238E27FC236}">
                <a16:creationId xmlns:a16="http://schemas.microsoft.com/office/drawing/2014/main" id="{AB896F87-EB2A-AA3D-0D4B-F4A66B100DCD}"/>
              </a:ext>
            </a:extLst>
          </p:cNvPr>
          <p:cNvSpPr txBox="1"/>
          <p:nvPr/>
        </p:nvSpPr>
        <p:spPr>
          <a:xfrm>
            <a:off x="8666492" y="5567098"/>
            <a:ext cx="2597547" cy="400110"/>
          </a:xfrm>
          <a:prstGeom prst="rect">
            <a:avLst/>
          </a:prstGeom>
          <a:noFill/>
        </p:spPr>
        <p:txBody>
          <a:bodyPr wrap="square" rtlCol="0">
            <a:spAutoFit/>
          </a:bodyPr>
          <a:lstStyle/>
          <a:p>
            <a:r>
              <a:rPr lang="en-US" sz="2000" dirty="0"/>
              <a:t>5 minutes </a:t>
            </a:r>
          </a:p>
        </p:txBody>
      </p:sp>
      <p:pic>
        <p:nvPicPr>
          <p:cNvPr id="12" name="Picture 11" descr="A person standing in front of a board&#10;&#10;Description automatically generated">
            <a:extLst>
              <a:ext uri="{FF2B5EF4-FFF2-40B4-BE49-F238E27FC236}">
                <a16:creationId xmlns:a16="http://schemas.microsoft.com/office/drawing/2014/main" id="{BDD304A6-4CD0-33A5-D245-AA55A57929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16991"/>
            <a:ext cx="3977456" cy="4067038"/>
          </a:xfrm>
          <a:prstGeom prst="rect">
            <a:avLst/>
          </a:prstGeom>
        </p:spPr>
      </p:pic>
    </p:spTree>
    <p:extLst>
      <p:ext uri="{BB962C8B-B14F-4D97-AF65-F5344CB8AC3E}">
        <p14:creationId xmlns:p14="http://schemas.microsoft.com/office/powerpoint/2010/main" val="2151646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3A33D-545B-E31A-E6C3-58A59F77B59B}"/>
              </a:ext>
            </a:extLst>
          </p:cNvPr>
          <p:cNvSpPr>
            <a:spLocks noGrp="1"/>
          </p:cNvSpPr>
          <p:nvPr>
            <p:ph type="title"/>
          </p:nvPr>
        </p:nvSpPr>
        <p:spPr/>
        <p:txBody>
          <a:bodyPr/>
          <a:lstStyle/>
          <a:p>
            <a:r>
              <a:rPr lang="en-US" dirty="0"/>
              <a:t>Tableau Features</a:t>
            </a:r>
          </a:p>
        </p:txBody>
      </p:sp>
      <p:sp>
        <p:nvSpPr>
          <p:cNvPr id="4" name="사다리꼴 1645">
            <a:extLst>
              <a:ext uri="{FF2B5EF4-FFF2-40B4-BE49-F238E27FC236}">
                <a16:creationId xmlns:a16="http://schemas.microsoft.com/office/drawing/2014/main" id="{646486A2-63B4-5033-F760-FB8CCF225C7B}"/>
              </a:ext>
            </a:extLst>
          </p:cNvPr>
          <p:cNvSpPr/>
          <p:nvPr/>
        </p:nvSpPr>
        <p:spPr>
          <a:xfrm rot="14400000">
            <a:off x="3469964" y="3881334"/>
            <a:ext cx="2102370" cy="585779"/>
          </a:xfrm>
          <a:prstGeom prst="trapezoid">
            <a:avLst>
              <a:gd name="adj" fmla="val 56421"/>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5" name="Group 13">
            <a:extLst>
              <a:ext uri="{FF2B5EF4-FFF2-40B4-BE49-F238E27FC236}">
                <a16:creationId xmlns:a16="http://schemas.microsoft.com/office/drawing/2014/main" id="{D7EEFB30-A845-5520-D26E-D13D0D5258C7}"/>
              </a:ext>
            </a:extLst>
          </p:cNvPr>
          <p:cNvGrpSpPr/>
          <p:nvPr/>
        </p:nvGrpSpPr>
        <p:grpSpPr>
          <a:xfrm>
            <a:off x="9182410" y="3539197"/>
            <a:ext cx="2780990" cy="893296"/>
            <a:chOff x="9023213" y="2973444"/>
            <a:chExt cx="2780990" cy="893296"/>
          </a:xfrm>
        </p:grpSpPr>
        <p:grpSp>
          <p:nvGrpSpPr>
            <p:cNvPr id="6" name="Group 66">
              <a:extLst>
                <a:ext uri="{FF2B5EF4-FFF2-40B4-BE49-F238E27FC236}">
                  <a16:creationId xmlns:a16="http://schemas.microsoft.com/office/drawing/2014/main" id="{568663FC-D5A5-A18E-CD16-058A79F1A1A9}"/>
                </a:ext>
              </a:extLst>
            </p:cNvPr>
            <p:cNvGrpSpPr/>
            <p:nvPr/>
          </p:nvGrpSpPr>
          <p:grpSpPr>
            <a:xfrm>
              <a:off x="9023213" y="2996321"/>
              <a:ext cx="276999" cy="276999"/>
              <a:chOff x="2411760" y="3606832"/>
              <a:chExt cx="206152" cy="206152"/>
            </a:xfrm>
          </p:grpSpPr>
          <p:sp>
            <p:nvSpPr>
              <p:cNvPr id="11" name="Oval 72">
                <a:extLst>
                  <a:ext uri="{FF2B5EF4-FFF2-40B4-BE49-F238E27FC236}">
                    <a16:creationId xmlns:a16="http://schemas.microsoft.com/office/drawing/2014/main" id="{D59A8A5C-6FDE-83D5-5F22-B2A8ED45DBFE}"/>
                  </a:ext>
                </a:extLst>
              </p:cNvPr>
              <p:cNvSpPr/>
              <p:nvPr/>
            </p:nvSpPr>
            <p:spPr>
              <a:xfrm>
                <a:off x="2411760" y="3606832"/>
                <a:ext cx="206152" cy="20615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lumMod val="75000"/>
                      <a:lumOff val="25000"/>
                    </a:schemeClr>
                  </a:solidFill>
                  <a:ea typeface="+mj-ea"/>
                </a:endParaRPr>
              </a:p>
            </p:txBody>
          </p:sp>
          <p:sp>
            <p:nvSpPr>
              <p:cNvPr id="12" name="Chevron 60">
                <a:extLst>
                  <a:ext uri="{FF2B5EF4-FFF2-40B4-BE49-F238E27FC236}">
                    <a16:creationId xmlns:a16="http://schemas.microsoft.com/office/drawing/2014/main" id="{DDE3C015-D02D-2861-E0B9-96A96633C0D6}"/>
                  </a:ext>
                </a:extLst>
              </p:cNvPr>
              <p:cNvSpPr/>
              <p:nvPr/>
            </p:nvSpPr>
            <p:spPr>
              <a:xfrm>
                <a:off x="2473351" y="3645566"/>
                <a:ext cx="106415" cy="128684"/>
              </a:xfrm>
              <a:prstGeom prst="chevron">
                <a:avLst>
                  <a:gd name="adj" fmla="val 5286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solidFill>
                    <a:schemeClr val="tx1">
                      <a:lumMod val="75000"/>
                      <a:lumOff val="25000"/>
                    </a:schemeClr>
                  </a:solidFill>
                  <a:ea typeface="+mj-ea"/>
                </a:endParaRPr>
              </a:p>
            </p:txBody>
          </p:sp>
        </p:grpSp>
        <p:grpSp>
          <p:nvGrpSpPr>
            <p:cNvPr id="7" name="Group 67">
              <a:extLst>
                <a:ext uri="{FF2B5EF4-FFF2-40B4-BE49-F238E27FC236}">
                  <a16:creationId xmlns:a16="http://schemas.microsoft.com/office/drawing/2014/main" id="{BD15B512-BCF1-0ADA-F6B8-7425C2786DC8}"/>
                </a:ext>
              </a:extLst>
            </p:cNvPr>
            <p:cNvGrpSpPr/>
            <p:nvPr/>
          </p:nvGrpSpPr>
          <p:grpSpPr>
            <a:xfrm>
              <a:off x="9300212" y="2973444"/>
              <a:ext cx="2503991" cy="893296"/>
              <a:chOff x="2140088" y="4456378"/>
              <a:chExt cx="2503991" cy="893296"/>
            </a:xfrm>
          </p:grpSpPr>
          <p:sp>
            <p:nvSpPr>
              <p:cNvPr id="8" name="TextBox 7">
                <a:extLst>
                  <a:ext uri="{FF2B5EF4-FFF2-40B4-BE49-F238E27FC236}">
                    <a16:creationId xmlns:a16="http://schemas.microsoft.com/office/drawing/2014/main" id="{D3852025-6070-CF59-CF1F-906D128E2242}"/>
                  </a:ext>
                </a:extLst>
              </p:cNvPr>
              <p:cNvSpPr txBox="1"/>
              <p:nvPr/>
            </p:nvSpPr>
            <p:spPr>
              <a:xfrm>
                <a:off x="2140088" y="4456378"/>
                <a:ext cx="1930354" cy="276999"/>
              </a:xfrm>
              <a:prstGeom prst="rect">
                <a:avLst/>
              </a:prstGeom>
              <a:noFill/>
            </p:spPr>
            <p:txBody>
              <a:bodyPr wrap="square" rtlCol="0" anchor="ctr">
                <a:spAutoFit/>
              </a:bodyPr>
              <a:lstStyle/>
              <a:p>
                <a:endParaRPr lang="en-US" altLang="ko-KR" sz="1200" dirty="0">
                  <a:solidFill>
                    <a:schemeClr val="tx1">
                      <a:lumMod val="75000"/>
                      <a:lumOff val="25000"/>
                    </a:schemeClr>
                  </a:solidFill>
                  <a:ea typeface="+mj-ea"/>
                </a:endParaRPr>
              </a:p>
            </p:txBody>
          </p:sp>
          <p:sp>
            <p:nvSpPr>
              <p:cNvPr id="9" name="TextBox 8">
                <a:extLst>
                  <a:ext uri="{FF2B5EF4-FFF2-40B4-BE49-F238E27FC236}">
                    <a16:creationId xmlns:a16="http://schemas.microsoft.com/office/drawing/2014/main" id="{CC6E6056-5D90-F66E-7643-F28CA7312DC2}"/>
                  </a:ext>
                </a:extLst>
              </p:cNvPr>
              <p:cNvSpPr txBox="1"/>
              <p:nvPr/>
            </p:nvSpPr>
            <p:spPr>
              <a:xfrm>
                <a:off x="2140088" y="4610267"/>
                <a:ext cx="2503991" cy="584775"/>
              </a:xfrm>
              <a:prstGeom prst="rect">
                <a:avLst/>
              </a:prstGeom>
              <a:noFill/>
            </p:spPr>
            <p:txBody>
              <a:bodyPr wrap="square" rtlCol="0" anchor="ctr">
                <a:spAutoFit/>
              </a:bodyPr>
              <a:lstStyle/>
              <a:p>
                <a:r>
                  <a:rPr lang="en-US" altLang="ko-KR" sz="1600" b="1" dirty="0">
                    <a:solidFill>
                      <a:schemeClr val="tx1">
                        <a:lumMod val="75000"/>
                        <a:lumOff val="25000"/>
                      </a:schemeClr>
                    </a:solidFill>
                    <a:cs typeface="Arial" pitchFamily="34" charset="0"/>
                  </a:rPr>
                  <a:t>Tableau does not need a complex software setup. </a:t>
                </a:r>
                <a:endParaRPr lang="en-US" altLang="ko-KR" sz="1200" dirty="0">
                  <a:solidFill>
                    <a:schemeClr val="tx1">
                      <a:lumMod val="75000"/>
                      <a:lumOff val="25000"/>
                    </a:schemeClr>
                  </a:solidFill>
                  <a:ea typeface="+mj-ea"/>
                </a:endParaRPr>
              </a:p>
            </p:txBody>
          </p:sp>
          <p:sp>
            <p:nvSpPr>
              <p:cNvPr id="10" name="TextBox 9">
                <a:extLst>
                  <a:ext uri="{FF2B5EF4-FFF2-40B4-BE49-F238E27FC236}">
                    <a16:creationId xmlns:a16="http://schemas.microsoft.com/office/drawing/2014/main" id="{F8E1F78A-C68E-2350-E671-E141D20A1CC5}"/>
                  </a:ext>
                </a:extLst>
              </p:cNvPr>
              <p:cNvSpPr txBox="1"/>
              <p:nvPr/>
            </p:nvSpPr>
            <p:spPr>
              <a:xfrm>
                <a:off x="2140088" y="5072675"/>
                <a:ext cx="1930355" cy="276999"/>
              </a:xfrm>
              <a:prstGeom prst="rect">
                <a:avLst/>
              </a:prstGeom>
              <a:noFill/>
            </p:spPr>
            <p:txBody>
              <a:bodyPr wrap="square" rtlCol="0" anchor="ctr">
                <a:spAutoFit/>
              </a:bodyPr>
              <a:lstStyle/>
              <a:p>
                <a:endParaRPr lang="en-US" altLang="ko-KR" sz="1200" dirty="0">
                  <a:solidFill>
                    <a:schemeClr val="tx1">
                      <a:lumMod val="75000"/>
                      <a:lumOff val="25000"/>
                    </a:schemeClr>
                  </a:solidFill>
                </a:endParaRPr>
              </a:p>
            </p:txBody>
          </p:sp>
        </p:grpSp>
      </p:grpSp>
      <p:grpSp>
        <p:nvGrpSpPr>
          <p:cNvPr id="13" name="Group 74">
            <a:extLst>
              <a:ext uri="{FF2B5EF4-FFF2-40B4-BE49-F238E27FC236}">
                <a16:creationId xmlns:a16="http://schemas.microsoft.com/office/drawing/2014/main" id="{7373AAF2-17B7-CE4C-34F2-81923D936FEF}"/>
              </a:ext>
            </a:extLst>
          </p:cNvPr>
          <p:cNvGrpSpPr/>
          <p:nvPr/>
        </p:nvGrpSpPr>
        <p:grpSpPr>
          <a:xfrm>
            <a:off x="8078734" y="1799855"/>
            <a:ext cx="3449237" cy="738664"/>
            <a:chOff x="9023213" y="2973444"/>
            <a:chExt cx="3449237" cy="738664"/>
          </a:xfrm>
        </p:grpSpPr>
        <p:grpSp>
          <p:nvGrpSpPr>
            <p:cNvPr id="14" name="Group 75">
              <a:extLst>
                <a:ext uri="{FF2B5EF4-FFF2-40B4-BE49-F238E27FC236}">
                  <a16:creationId xmlns:a16="http://schemas.microsoft.com/office/drawing/2014/main" id="{C304F0F6-2D6E-6956-C1B0-C27A90B33A8B}"/>
                </a:ext>
              </a:extLst>
            </p:cNvPr>
            <p:cNvGrpSpPr/>
            <p:nvPr/>
          </p:nvGrpSpPr>
          <p:grpSpPr>
            <a:xfrm>
              <a:off x="9023213" y="2996321"/>
              <a:ext cx="276999" cy="276999"/>
              <a:chOff x="2411760" y="3606832"/>
              <a:chExt cx="206152" cy="206152"/>
            </a:xfrm>
          </p:grpSpPr>
          <p:sp>
            <p:nvSpPr>
              <p:cNvPr id="19" name="Oval 80">
                <a:extLst>
                  <a:ext uri="{FF2B5EF4-FFF2-40B4-BE49-F238E27FC236}">
                    <a16:creationId xmlns:a16="http://schemas.microsoft.com/office/drawing/2014/main" id="{B6C4F49D-4956-91DC-2AAF-DA780E75EA2A}"/>
                  </a:ext>
                </a:extLst>
              </p:cNvPr>
              <p:cNvSpPr/>
              <p:nvPr/>
            </p:nvSpPr>
            <p:spPr>
              <a:xfrm>
                <a:off x="2411760" y="3606832"/>
                <a:ext cx="206152" cy="20615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lumMod val="75000"/>
                      <a:lumOff val="25000"/>
                    </a:schemeClr>
                  </a:solidFill>
                  <a:ea typeface="+mj-ea"/>
                </a:endParaRPr>
              </a:p>
            </p:txBody>
          </p:sp>
          <p:sp>
            <p:nvSpPr>
              <p:cNvPr id="20" name="Chevron 60">
                <a:extLst>
                  <a:ext uri="{FF2B5EF4-FFF2-40B4-BE49-F238E27FC236}">
                    <a16:creationId xmlns:a16="http://schemas.microsoft.com/office/drawing/2014/main" id="{34CE2926-DD47-1810-C5DD-5D5F7C5C3BE3}"/>
                  </a:ext>
                </a:extLst>
              </p:cNvPr>
              <p:cNvSpPr/>
              <p:nvPr/>
            </p:nvSpPr>
            <p:spPr>
              <a:xfrm>
                <a:off x="2473351" y="3645566"/>
                <a:ext cx="106415" cy="128684"/>
              </a:xfrm>
              <a:prstGeom prst="chevron">
                <a:avLst>
                  <a:gd name="adj" fmla="val 5286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solidFill>
                    <a:schemeClr val="tx1">
                      <a:lumMod val="75000"/>
                      <a:lumOff val="25000"/>
                    </a:schemeClr>
                  </a:solidFill>
                  <a:ea typeface="+mj-ea"/>
                </a:endParaRPr>
              </a:p>
            </p:txBody>
          </p:sp>
        </p:grpSp>
        <p:grpSp>
          <p:nvGrpSpPr>
            <p:cNvPr id="15" name="Group 76">
              <a:extLst>
                <a:ext uri="{FF2B5EF4-FFF2-40B4-BE49-F238E27FC236}">
                  <a16:creationId xmlns:a16="http://schemas.microsoft.com/office/drawing/2014/main" id="{4B876263-34A2-0753-17BE-B94EB73CC275}"/>
                </a:ext>
              </a:extLst>
            </p:cNvPr>
            <p:cNvGrpSpPr/>
            <p:nvPr/>
          </p:nvGrpSpPr>
          <p:grpSpPr>
            <a:xfrm>
              <a:off x="9300212" y="2973444"/>
              <a:ext cx="3172238" cy="738664"/>
              <a:chOff x="2140088" y="4456378"/>
              <a:chExt cx="3172238" cy="738664"/>
            </a:xfrm>
          </p:grpSpPr>
          <p:sp>
            <p:nvSpPr>
              <p:cNvPr id="16" name="TextBox 15">
                <a:extLst>
                  <a:ext uri="{FF2B5EF4-FFF2-40B4-BE49-F238E27FC236}">
                    <a16:creationId xmlns:a16="http://schemas.microsoft.com/office/drawing/2014/main" id="{D236AA72-432B-75D8-5D1B-E11A58435F54}"/>
                  </a:ext>
                </a:extLst>
              </p:cNvPr>
              <p:cNvSpPr txBox="1"/>
              <p:nvPr/>
            </p:nvSpPr>
            <p:spPr>
              <a:xfrm>
                <a:off x="2140088" y="4456378"/>
                <a:ext cx="1930354" cy="276999"/>
              </a:xfrm>
              <a:prstGeom prst="rect">
                <a:avLst/>
              </a:prstGeom>
              <a:noFill/>
            </p:spPr>
            <p:txBody>
              <a:bodyPr wrap="square" rtlCol="0" anchor="ctr">
                <a:spAutoFit/>
              </a:bodyPr>
              <a:lstStyle/>
              <a:p>
                <a:endParaRPr lang="en-US" altLang="ko-KR" sz="1200" dirty="0">
                  <a:solidFill>
                    <a:schemeClr val="tx1">
                      <a:lumMod val="75000"/>
                      <a:lumOff val="25000"/>
                    </a:schemeClr>
                  </a:solidFill>
                  <a:ea typeface="+mj-ea"/>
                </a:endParaRPr>
              </a:p>
            </p:txBody>
          </p:sp>
          <p:sp>
            <p:nvSpPr>
              <p:cNvPr id="17" name="TextBox 16">
                <a:extLst>
                  <a:ext uri="{FF2B5EF4-FFF2-40B4-BE49-F238E27FC236}">
                    <a16:creationId xmlns:a16="http://schemas.microsoft.com/office/drawing/2014/main" id="{EC7DCEDC-2488-D478-980B-873B113E5912}"/>
                  </a:ext>
                </a:extLst>
              </p:cNvPr>
              <p:cNvSpPr txBox="1"/>
              <p:nvPr/>
            </p:nvSpPr>
            <p:spPr>
              <a:xfrm>
                <a:off x="2140088" y="4610267"/>
                <a:ext cx="3172238" cy="584775"/>
              </a:xfrm>
              <a:prstGeom prst="rect">
                <a:avLst/>
              </a:prstGeom>
              <a:noFill/>
            </p:spPr>
            <p:txBody>
              <a:bodyPr wrap="square" rtlCol="0" anchor="ctr">
                <a:spAutoFit/>
              </a:bodyPr>
              <a:lstStyle/>
              <a:p>
                <a:r>
                  <a:rPr lang="en-US" altLang="ko-KR" sz="1600" b="1" dirty="0">
                    <a:solidFill>
                      <a:schemeClr val="tx1">
                        <a:lumMod val="75000"/>
                        <a:lumOff val="25000"/>
                      </a:schemeClr>
                    </a:solidFill>
                    <a:ea typeface="+mj-ea"/>
                  </a:rPr>
                  <a:t>As it does not require high level of programming expertise</a:t>
                </a:r>
              </a:p>
            </p:txBody>
          </p:sp>
        </p:grpSp>
      </p:grpSp>
      <p:grpSp>
        <p:nvGrpSpPr>
          <p:cNvPr id="21" name="Group 82">
            <a:extLst>
              <a:ext uri="{FF2B5EF4-FFF2-40B4-BE49-F238E27FC236}">
                <a16:creationId xmlns:a16="http://schemas.microsoft.com/office/drawing/2014/main" id="{8A881363-22AF-CD06-7190-648D189CA3DF}"/>
              </a:ext>
            </a:extLst>
          </p:cNvPr>
          <p:cNvGrpSpPr/>
          <p:nvPr/>
        </p:nvGrpSpPr>
        <p:grpSpPr>
          <a:xfrm>
            <a:off x="8078734" y="5278538"/>
            <a:ext cx="3884666" cy="893296"/>
            <a:chOff x="9023213" y="2973444"/>
            <a:chExt cx="3884666" cy="893296"/>
          </a:xfrm>
        </p:grpSpPr>
        <p:grpSp>
          <p:nvGrpSpPr>
            <p:cNvPr id="22" name="Group 83">
              <a:extLst>
                <a:ext uri="{FF2B5EF4-FFF2-40B4-BE49-F238E27FC236}">
                  <a16:creationId xmlns:a16="http://schemas.microsoft.com/office/drawing/2014/main" id="{FD57312C-E3D1-58F8-B84E-21C1CBD352A2}"/>
                </a:ext>
              </a:extLst>
            </p:cNvPr>
            <p:cNvGrpSpPr/>
            <p:nvPr/>
          </p:nvGrpSpPr>
          <p:grpSpPr>
            <a:xfrm>
              <a:off x="9023213" y="2996321"/>
              <a:ext cx="276999" cy="276999"/>
              <a:chOff x="2411760" y="3606832"/>
              <a:chExt cx="206152" cy="206152"/>
            </a:xfrm>
          </p:grpSpPr>
          <p:sp>
            <p:nvSpPr>
              <p:cNvPr id="27" name="Oval 88">
                <a:extLst>
                  <a:ext uri="{FF2B5EF4-FFF2-40B4-BE49-F238E27FC236}">
                    <a16:creationId xmlns:a16="http://schemas.microsoft.com/office/drawing/2014/main" id="{2E4FA89F-D64A-F49D-2DE7-E178BD6F2F37}"/>
                  </a:ext>
                </a:extLst>
              </p:cNvPr>
              <p:cNvSpPr/>
              <p:nvPr/>
            </p:nvSpPr>
            <p:spPr>
              <a:xfrm>
                <a:off x="2411760" y="3606832"/>
                <a:ext cx="206152" cy="20615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lumMod val="75000"/>
                      <a:lumOff val="25000"/>
                    </a:schemeClr>
                  </a:solidFill>
                  <a:ea typeface="+mj-ea"/>
                </a:endParaRPr>
              </a:p>
            </p:txBody>
          </p:sp>
          <p:sp>
            <p:nvSpPr>
              <p:cNvPr id="28" name="Chevron 60">
                <a:extLst>
                  <a:ext uri="{FF2B5EF4-FFF2-40B4-BE49-F238E27FC236}">
                    <a16:creationId xmlns:a16="http://schemas.microsoft.com/office/drawing/2014/main" id="{A5FD566D-244A-D017-9931-6D3E725EE2D2}"/>
                  </a:ext>
                </a:extLst>
              </p:cNvPr>
              <p:cNvSpPr/>
              <p:nvPr/>
            </p:nvSpPr>
            <p:spPr>
              <a:xfrm>
                <a:off x="2473351" y="3645566"/>
                <a:ext cx="106415" cy="128684"/>
              </a:xfrm>
              <a:prstGeom prst="chevron">
                <a:avLst>
                  <a:gd name="adj" fmla="val 5286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solidFill>
                    <a:schemeClr val="tx1">
                      <a:lumMod val="75000"/>
                      <a:lumOff val="25000"/>
                    </a:schemeClr>
                  </a:solidFill>
                  <a:ea typeface="+mj-ea"/>
                </a:endParaRPr>
              </a:p>
            </p:txBody>
          </p:sp>
        </p:grpSp>
        <p:grpSp>
          <p:nvGrpSpPr>
            <p:cNvPr id="23" name="Group 84">
              <a:extLst>
                <a:ext uri="{FF2B5EF4-FFF2-40B4-BE49-F238E27FC236}">
                  <a16:creationId xmlns:a16="http://schemas.microsoft.com/office/drawing/2014/main" id="{A72A2708-C333-5C98-BB40-471B85ADA69F}"/>
                </a:ext>
              </a:extLst>
            </p:cNvPr>
            <p:cNvGrpSpPr/>
            <p:nvPr/>
          </p:nvGrpSpPr>
          <p:grpSpPr>
            <a:xfrm>
              <a:off x="9300212" y="2973444"/>
              <a:ext cx="3607667" cy="893296"/>
              <a:chOff x="2140088" y="4456378"/>
              <a:chExt cx="3607667" cy="893296"/>
            </a:xfrm>
          </p:grpSpPr>
          <p:sp>
            <p:nvSpPr>
              <p:cNvPr id="24" name="TextBox 23">
                <a:extLst>
                  <a:ext uri="{FF2B5EF4-FFF2-40B4-BE49-F238E27FC236}">
                    <a16:creationId xmlns:a16="http://schemas.microsoft.com/office/drawing/2014/main" id="{2FC506C1-0D14-0D14-E0EF-4044F52DF948}"/>
                  </a:ext>
                </a:extLst>
              </p:cNvPr>
              <p:cNvSpPr txBox="1"/>
              <p:nvPr/>
            </p:nvSpPr>
            <p:spPr>
              <a:xfrm>
                <a:off x="2140088" y="4456378"/>
                <a:ext cx="1930354" cy="276999"/>
              </a:xfrm>
              <a:prstGeom prst="rect">
                <a:avLst/>
              </a:prstGeom>
              <a:noFill/>
            </p:spPr>
            <p:txBody>
              <a:bodyPr wrap="square" rtlCol="0" anchor="ctr">
                <a:spAutoFit/>
              </a:bodyPr>
              <a:lstStyle/>
              <a:p>
                <a:endParaRPr lang="en-US" altLang="ko-KR" sz="1200" dirty="0">
                  <a:solidFill>
                    <a:schemeClr val="tx1">
                      <a:lumMod val="75000"/>
                      <a:lumOff val="25000"/>
                    </a:schemeClr>
                  </a:solidFill>
                  <a:ea typeface="+mj-ea"/>
                </a:endParaRPr>
              </a:p>
            </p:txBody>
          </p:sp>
          <p:sp>
            <p:nvSpPr>
              <p:cNvPr id="25" name="TextBox 24">
                <a:extLst>
                  <a:ext uri="{FF2B5EF4-FFF2-40B4-BE49-F238E27FC236}">
                    <a16:creationId xmlns:a16="http://schemas.microsoft.com/office/drawing/2014/main" id="{9720652D-F722-DF49-2B61-D1047328DE34}"/>
                  </a:ext>
                </a:extLst>
              </p:cNvPr>
              <p:cNvSpPr txBox="1"/>
              <p:nvPr/>
            </p:nvSpPr>
            <p:spPr>
              <a:xfrm>
                <a:off x="2140088" y="4610267"/>
                <a:ext cx="3607667" cy="584775"/>
              </a:xfrm>
              <a:prstGeom prst="rect">
                <a:avLst/>
              </a:prstGeom>
              <a:noFill/>
            </p:spPr>
            <p:txBody>
              <a:bodyPr wrap="square" rtlCol="0" anchor="ctr">
                <a:spAutoFit/>
              </a:bodyPr>
              <a:lstStyle/>
              <a:p>
                <a:r>
                  <a:rPr lang="en-US" altLang="ko-KR" sz="1600" b="1" dirty="0">
                    <a:solidFill>
                      <a:schemeClr val="tx1">
                        <a:lumMod val="75000"/>
                        <a:lumOff val="25000"/>
                      </a:schemeClr>
                    </a:solidFill>
                    <a:cs typeface="Arial" pitchFamily="34" charset="0"/>
                  </a:rPr>
                  <a:t>The user explores and analyzes the data by using visual tools like colors</a:t>
                </a:r>
                <a:endParaRPr lang="en-US" altLang="ko-KR" sz="1600" b="1" dirty="0">
                  <a:solidFill>
                    <a:schemeClr val="tx1">
                      <a:lumMod val="75000"/>
                      <a:lumOff val="25000"/>
                    </a:schemeClr>
                  </a:solidFill>
                  <a:ea typeface="+mj-ea"/>
                </a:endParaRPr>
              </a:p>
            </p:txBody>
          </p:sp>
          <p:sp>
            <p:nvSpPr>
              <p:cNvPr id="26" name="TextBox 25">
                <a:extLst>
                  <a:ext uri="{FF2B5EF4-FFF2-40B4-BE49-F238E27FC236}">
                    <a16:creationId xmlns:a16="http://schemas.microsoft.com/office/drawing/2014/main" id="{8266DD0C-6426-9BC5-3D67-19EBBE97CF0C}"/>
                  </a:ext>
                </a:extLst>
              </p:cNvPr>
              <p:cNvSpPr txBox="1"/>
              <p:nvPr/>
            </p:nvSpPr>
            <p:spPr>
              <a:xfrm>
                <a:off x="2140088" y="5072675"/>
                <a:ext cx="1930355" cy="276999"/>
              </a:xfrm>
              <a:prstGeom prst="rect">
                <a:avLst/>
              </a:prstGeom>
              <a:noFill/>
            </p:spPr>
            <p:txBody>
              <a:bodyPr wrap="square" rtlCol="0" anchor="ctr">
                <a:spAutoFit/>
              </a:bodyPr>
              <a:lstStyle/>
              <a:p>
                <a:endParaRPr lang="en-US" altLang="ko-KR" sz="1200" dirty="0">
                  <a:solidFill>
                    <a:schemeClr val="tx1">
                      <a:lumMod val="75000"/>
                      <a:lumOff val="25000"/>
                    </a:schemeClr>
                  </a:solidFill>
                </a:endParaRPr>
              </a:p>
            </p:txBody>
          </p:sp>
        </p:grpSp>
      </p:grpSp>
      <p:grpSp>
        <p:nvGrpSpPr>
          <p:cNvPr id="29" name="Group 91">
            <a:extLst>
              <a:ext uri="{FF2B5EF4-FFF2-40B4-BE49-F238E27FC236}">
                <a16:creationId xmlns:a16="http://schemas.microsoft.com/office/drawing/2014/main" id="{25C8C77B-DC33-832D-9A0D-F4D050693CB2}"/>
              </a:ext>
            </a:extLst>
          </p:cNvPr>
          <p:cNvGrpSpPr/>
          <p:nvPr/>
        </p:nvGrpSpPr>
        <p:grpSpPr>
          <a:xfrm flipH="1">
            <a:off x="155358" y="3446865"/>
            <a:ext cx="2854232" cy="1077218"/>
            <a:chOff x="9023213" y="2881112"/>
            <a:chExt cx="2854232" cy="1077218"/>
          </a:xfrm>
        </p:grpSpPr>
        <p:grpSp>
          <p:nvGrpSpPr>
            <p:cNvPr id="30" name="Group 108">
              <a:extLst>
                <a:ext uri="{FF2B5EF4-FFF2-40B4-BE49-F238E27FC236}">
                  <a16:creationId xmlns:a16="http://schemas.microsoft.com/office/drawing/2014/main" id="{8640BB45-A1D6-6C5B-1E1A-06F77A2D25AB}"/>
                </a:ext>
              </a:extLst>
            </p:cNvPr>
            <p:cNvGrpSpPr/>
            <p:nvPr/>
          </p:nvGrpSpPr>
          <p:grpSpPr>
            <a:xfrm>
              <a:off x="9023213" y="2996321"/>
              <a:ext cx="276999" cy="276999"/>
              <a:chOff x="2411760" y="3606832"/>
              <a:chExt cx="206152" cy="206152"/>
            </a:xfrm>
          </p:grpSpPr>
          <p:sp>
            <p:nvSpPr>
              <p:cNvPr id="35" name="Oval 113">
                <a:extLst>
                  <a:ext uri="{FF2B5EF4-FFF2-40B4-BE49-F238E27FC236}">
                    <a16:creationId xmlns:a16="http://schemas.microsoft.com/office/drawing/2014/main" id="{825CEC76-2628-1BAF-C5CC-F48B5B8AB4B0}"/>
                  </a:ext>
                </a:extLst>
              </p:cNvPr>
              <p:cNvSpPr/>
              <p:nvPr/>
            </p:nvSpPr>
            <p:spPr>
              <a:xfrm>
                <a:off x="2411760" y="3606832"/>
                <a:ext cx="206152" cy="20615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lumMod val="75000"/>
                      <a:lumOff val="25000"/>
                    </a:schemeClr>
                  </a:solidFill>
                  <a:ea typeface="+mj-ea"/>
                </a:endParaRPr>
              </a:p>
            </p:txBody>
          </p:sp>
          <p:sp>
            <p:nvSpPr>
              <p:cNvPr id="36" name="Chevron 60">
                <a:extLst>
                  <a:ext uri="{FF2B5EF4-FFF2-40B4-BE49-F238E27FC236}">
                    <a16:creationId xmlns:a16="http://schemas.microsoft.com/office/drawing/2014/main" id="{BB113939-6895-877B-7F29-53FC8A25C2F0}"/>
                  </a:ext>
                </a:extLst>
              </p:cNvPr>
              <p:cNvSpPr/>
              <p:nvPr/>
            </p:nvSpPr>
            <p:spPr>
              <a:xfrm>
                <a:off x="2473351" y="3645566"/>
                <a:ext cx="106415" cy="128684"/>
              </a:xfrm>
              <a:prstGeom prst="chevron">
                <a:avLst>
                  <a:gd name="adj" fmla="val 5286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solidFill>
                    <a:schemeClr val="tx1">
                      <a:lumMod val="75000"/>
                      <a:lumOff val="25000"/>
                    </a:schemeClr>
                  </a:solidFill>
                  <a:ea typeface="+mj-ea"/>
                </a:endParaRPr>
              </a:p>
            </p:txBody>
          </p:sp>
        </p:grpSp>
        <p:grpSp>
          <p:nvGrpSpPr>
            <p:cNvPr id="31" name="Group 109">
              <a:extLst>
                <a:ext uri="{FF2B5EF4-FFF2-40B4-BE49-F238E27FC236}">
                  <a16:creationId xmlns:a16="http://schemas.microsoft.com/office/drawing/2014/main" id="{2F4B01F3-B758-F7CD-C0B1-426233BF7064}"/>
                </a:ext>
              </a:extLst>
            </p:cNvPr>
            <p:cNvGrpSpPr/>
            <p:nvPr/>
          </p:nvGrpSpPr>
          <p:grpSpPr>
            <a:xfrm>
              <a:off x="9300212" y="2881112"/>
              <a:ext cx="2577233" cy="1077218"/>
              <a:chOff x="2140088" y="4364046"/>
              <a:chExt cx="2577233" cy="1077218"/>
            </a:xfrm>
          </p:grpSpPr>
          <p:sp>
            <p:nvSpPr>
              <p:cNvPr id="32" name="TextBox 31">
                <a:extLst>
                  <a:ext uri="{FF2B5EF4-FFF2-40B4-BE49-F238E27FC236}">
                    <a16:creationId xmlns:a16="http://schemas.microsoft.com/office/drawing/2014/main" id="{D98CDA8B-DD39-17CA-A6CE-0243A9C60B20}"/>
                  </a:ext>
                </a:extLst>
              </p:cNvPr>
              <p:cNvSpPr txBox="1"/>
              <p:nvPr/>
            </p:nvSpPr>
            <p:spPr>
              <a:xfrm>
                <a:off x="2140088" y="4456378"/>
                <a:ext cx="1930354" cy="276999"/>
              </a:xfrm>
              <a:prstGeom prst="rect">
                <a:avLst/>
              </a:prstGeom>
              <a:noFill/>
            </p:spPr>
            <p:txBody>
              <a:bodyPr wrap="square" rtlCol="0" anchor="ctr">
                <a:spAutoFit/>
              </a:bodyPr>
              <a:lstStyle/>
              <a:p>
                <a:pPr algn="r"/>
                <a:endParaRPr lang="en-US" altLang="ko-KR" sz="1200" dirty="0">
                  <a:solidFill>
                    <a:schemeClr val="tx1">
                      <a:lumMod val="75000"/>
                      <a:lumOff val="25000"/>
                    </a:schemeClr>
                  </a:solidFill>
                  <a:ea typeface="+mj-ea"/>
                </a:endParaRPr>
              </a:p>
            </p:txBody>
          </p:sp>
          <p:sp>
            <p:nvSpPr>
              <p:cNvPr id="33" name="TextBox 32">
                <a:extLst>
                  <a:ext uri="{FF2B5EF4-FFF2-40B4-BE49-F238E27FC236}">
                    <a16:creationId xmlns:a16="http://schemas.microsoft.com/office/drawing/2014/main" id="{1051C9C6-F1AC-3E44-5FFB-482F3A418D99}"/>
                  </a:ext>
                </a:extLst>
              </p:cNvPr>
              <p:cNvSpPr txBox="1"/>
              <p:nvPr/>
            </p:nvSpPr>
            <p:spPr>
              <a:xfrm>
                <a:off x="2140088" y="4364046"/>
                <a:ext cx="2577233" cy="1077218"/>
              </a:xfrm>
              <a:prstGeom prst="rect">
                <a:avLst/>
              </a:prstGeom>
              <a:noFill/>
            </p:spPr>
            <p:txBody>
              <a:bodyPr wrap="square" rtlCol="0" anchor="ctr">
                <a:spAutoFit/>
              </a:bodyPr>
              <a:lstStyle/>
              <a:p>
                <a:pPr algn="r"/>
                <a:r>
                  <a:rPr lang="en-US" altLang="ko-KR" sz="1600" b="1" dirty="0">
                    <a:solidFill>
                      <a:schemeClr val="tx1">
                        <a:lumMod val="75000"/>
                        <a:lumOff val="25000"/>
                      </a:schemeClr>
                    </a:solidFill>
                    <a:cs typeface="Arial" pitchFamily="34" charset="0"/>
                  </a:rPr>
                  <a:t>Tableau can filter, sort, and discuss data on the fly and embed a live dashboard </a:t>
                </a:r>
                <a:endParaRPr lang="en-US" altLang="ko-KR" sz="1600" b="1" dirty="0">
                  <a:solidFill>
                    <a:schemeClr val="tx1">
                      <a:lumMod val="75000"/>
                      <a:lumOff val="25000"/>
                    </a:schemeClr>
                  </a:solidFill>
                  <a:ea typeface="+mj-ea"/>
                </a:endParaRPr>
              </a:p>
            </p:txBody>
          </p:sp>
          <p:sp>
            <p:nvSpPr>
              <p:cNvPr id="34" name="TextBox 33">
                <a:extLst>
                  <a:ext uri="{FF2B5EF4-FFF2-40B4-BE49-F238E27FC236}">
                    <a16:creationId xmlns:a16="http://schemas.microsoft.com/office/drawing/2014/main" id="{25534DB4-FA5D-C458-3B9E-69580902B357}"/>
                  </a:ext>
                </a:extLst>
              </p:cNvPr>
              <p:cNvSpPr txBox="1"/>
              <p:nvPr/>
            </p:nvSpPr>
            <p:spPr>
              <a:xfrm>
                <a:off x="2140088" y="5072675"/>
                <a:ext cx="1930355" cy="276999"/>
              </a:xfrm>
              <a:prstGeom prst="rect">
                <a:avLst/>
              </a:prstGeom>
              <a:noFill/>
            </p:spPr>
            <p:txBody>
              <a:bodyPr wrap="square" rtlCol="0" anchor="ctr">
                <a:spAutoFit/>
              </a:bodyPr>
              <a:lstStyle/>
              <a:p>
                <a:pPr algn="r"/>
                <a:endParaRPr lang="en-US" altLang="ko-KR" sz="1200" dirty="0">
                  <a:solidFill>
                    <a:schemeClr val="tx1">
                      <a:lumMod val="75000"/>
                      <a:lumOff val="25000"/>
                    </a:schemeClr>
                  </a:solidFill>
                </a:endParaRPr>
              </a:p>
            </p:txBody>
          </p:sp>
        </p:grpSp>
      </p:grpSp>
      <p:grpSp>
        <p:nvGrpSpPr>
          <p:cNvPr id="37" name="Group 92">
            <a:extLst>
              <a:ext uri="{FF2B5EF4-FFF2-40B4-BE49-F238E27FC236}">
                <a16:creationId xmlns:a16="http://schemas.microsoft.com/office/drawing/2014/main" id="{FAE1C8E4-3D03-0768-207D-5991F6C887F2}"/>
              </a:ext>
            </a:extLst>
          </p:cNvPr>
          <p:cNvGrpSpPr/>
          <p:nvPr/>
        </p:nvGrpSpPr>
        <p:grpSpPr>
          <a:xfrm flipH="1">
            <a:off x="155358" y="1799855"/>
            <a:ext cx="3957908" cy="893296"/>
            <a:chOff x="9023213" y="2973444"/>
            <a:chExt cx="3957908" cy="893296"/>
          </a:xfrm>
        </p:grpSpPr>
        <p:grpSp>
          <p:nvGrpSpPr>
            <p:cNvPr id="38" name="Group 101">
              <a:extLst>
                <a:ext uri="{FF2B5EF4-FFF2-40B4-BE49-F238E27FC236}">
                  <a16:creationId xmlns:a16="http://schemas.microsoft.com/office/drawing/2014/main" id="{5D920F17-A3E6-CA1F-2E22-AFF0E032FF8E}"/>
                </a:ext>
              </a:extLst>
            </p:cNvPr>
            <p:cNvGrpSpPr/>
            <p:nvPr/>
          </p:nvGrpSpPr>
          <p:grpSpPr>
            <a:xfrm>
              <a:off x="9023213" y="2996321"/>
              <a:ext cx="276999" cy="276999"/>
              <a:chOff x="2411760" y="3606832"/>
              <a:chExt cx="206152" cy="206152"/>
            </a:xfrm>
          </p:grpSpPr>
          <p:sp>
            <p:nvSpPr>
              <p:cNvPr id="43" name="Oval 106">
                <a:extLst>
                  <a:ext uri="{FF2B5EF4-FFF2-40B4-BE49-F238E27FC236}">
                    <a16:creationId xmlns:a16="http://schemas.microsoft.com/office/drawing/2014/main" id="{F33C8555-D17E-2019-7409-CBC1ED426304}"/>
                  </a:ext>
                </a:extLst>
              </p:cNvPr>
              <p:cNvSpPr/>
              <p:nvPr/>
            </p:nvSpPr>
            <p:spPr>
              <a:xfrm>
                <a:off x="2411760" y="3606832"/>
                <a:ext cx="206152" cy="206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lumMod val="75000"/>
                      <a:lumOff val="25000"/>
                    </a:schemeClr>
                  </a:solidFill>
                  <a:ea typeface="+mj-ea"/>
                </a:endParaRPr>
              </a:p>
            </p:txBody>
          </p:sp>
          <p:sp>
            <p:nvSpPr>
              <p:cNvPr id="44" name="Chevron 60">
                <a:extLst>
                  <a:ext uri="{FF2B5EF4-FFF2-40B4-BE49-F238E27FC236}">
                    <a16:creationId xmlns:a16="http://schemas.microsoft.com/office/drawing/2014/main" id="{048160BE-CEC6-3653-B330-CBD2DD2E0B97}"/>
                  </a:ext>
                </a:extLst>
              </p:cNvPr>
              <p:cNvSpPr/>
              <p:nvPr/>
            </p:nvSpPr>
            <p:spPr>
              <a:xfrm>
                <a:off x="2473351" y="3645566"/>
                <a:ext cx="106415" cy="128684"/>
              </a:xfrm>
              <a:prstGeom prst="chevron">
                <a:avLst>
                  <a:gd name="adj" fmla="val 5286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solidFill>
                    <a:schemeClr val="tx1">
                      <a:lumMod val="75000"/>
                      <a:lumOff val="25000"/>
                    </a:schemeClr>
                  </a:solidFill>
                  <a:ea typeface="+mj-ea"/>
                </a:endParaRPr>
              </a:p>
            </p:txBody>
          </p:sp>
        </p:grpSp>
        <p:grpSp>
          <p:nvGrpSpPr>
            <p:cNvPr id="39" name="Group 102">
              <a:extLst>
                <a:ext uri="{FF2B5EF4-FFF2-40B4-BE49-F238E27FC236}">
                  <a16:creationId xmlns:a16="http://schemas.microsoft.com/office/drawing/2014/main" id="{FB304A01-D14A-A187-0BF5-357C40DEB89E}"/>
                </a:ext>
              </a:extLst>
            </p:cNvPr>
            <p:cNvGrpSpPr/>
            <p:nvPr/>
          </p:nvGrpSpPr>
          <p:grpSpPr>
            <a:xfrm>
              <a:off x="9300212" y="2973444"/>
              <a:ext cx="3680909" cy="893296"/>
              <a:chOff x="2140088" y="4456378"/>
              <a:chExt cx="3680909" cy="893296"/>
            </a:xfrm>
          </p:grpSpPr>
          <p:sp>
            <p:nvSpPr>
              <p:cNvPr id="40" name="TextBox 39">
                <a:extLst>
                  <a:ext uri="{FF2B5EF4-FFF2-40B4-BE49-F238E27FC236}">
                    <a16:creationId xmlns:a16="http://schemas.microsoft.com/office/drawing/2014/main" id="{416D184F-0018-34B4-3CE6-50C6393E2BBA}"/>
                  </a:ext>
                </a:extLst>
              </p:cNvPr>
              <p:cNvSpPr txBox="1"/>
              <p:nvPr/>
            </p:nvSpPr>
            <p:spPr>
              <a:xfrm>
                <a:off x="2140088" y="4456378"/>
                <a:ext cx="1930354" cy="276999"/>
              </a:xfrm>
              <a:prstGeom prst="rect">
                <a:avLst/>
              </a:prstGeom>
              <a:noFill/>
            </p:spPr>
            <p:txBody>
              <a:bodyPr wrap="square" rtlCol="0" anchor="ctr">
                <a:spAutoFit/>
              </a:bodyPr>
              <a:lstStyle/>
              <a:p>
                <a:pPr algn="r"/>
                <a:endParaRPr lang="en-US" altLang="ko-KR" sz="1200" dirty="0">
                  <a:solidFill>
                    <a:schemeClr val="tx1">
                      <a:lumMod val="75000"/>
                      <a:lumOff val="25000"/>
                    </a:schemeClr>
                  </a:solidFill>
                  <a:ea typeface="+mj-ea"/>
                </a:endParaRPr>
              </a:p>
            </p:txBody>
          </p:sp>
          <p:sp>
            <p:nvSpPr>
              <p:cNvPr id="41" name="TextBox 40">
                <a:extLst>
                  <a:ext uri="{FF2B5EF4-FFF2-40B4-BE49-F238E27FC236}">
                    <a16:creationId xmlns:a16="http://schemas.microsoft.com/office/drawing/2014/main" id="{D3F5B7E5-74C5-2F99-A766-8E66CECCB5D9}"/>
                  </a:ext>
                </a:extLst>
              </p:cNvPr>
              <p:cNvSpPr txBox="1"/>
              <p:nvPr/>
            </p:nvSpPr>
            <p:spPr>
              <a:xfrm>
                <a:off x="2140088" y="4487156"/>
                <a:ext cx="3680909" cy="830997"/>
              </a:xfrm>
              <a:prstGeom prst="rect">
                <a:avLst/>
              </a:prstGeom>
              <a:noFill/>
            </p:spPr>
            <p:txBody>
              <a:bodyPr wrap="square" rtlCol="0" anchor="ctr">
                <a:spAutoFit/>
              </a:bodyPr>
              <a:lstStyle/>
              <a:p>
                <a:pPr algn="r"/>
                <a:r>
                  <a:rPr lang="en-US" altLang="ko-KR" sz="1600" b="1" dirty="0">
                    <a:solidFill>
                      <a:schemeClr val="tx1">
                        <a:lumMod val="75000"/>
                        <a:lumOff val="25000"/>
                      </a:schemeClr>
                    </a:solidFill>
                    <a:cs typeface="Arial" pitchFamily="34" charset="0"/>
                  </a:rPr>
                  <a:t>tableau server provides a centralized location to manage all of the organization’s published data sources. </a:t>
                </a:r>
                <a:endParaRPr lang="en-US" altLang="ko-KR" sz="1600" b="1" dirty="0">
                  <a:solidFill>
                    <a:schemeClr val="tx1">
                      <a:lumMod val="75000"/>
                      <a:lumOff val="25000"/>
                    </a:schemeClr>
                  </a:solidFill>
                  <a:ea typeface="+mj-ea"/>
                </a:endParaRPr>
              </a:p>
            </p:txBody>
          </p:sp>
          <p:sp>
            <p:nvSpPr>
              <p:cNvPr id="42" name="TextBox 41">
                <a:extLst>
                  <a:ext uri="{FF2B5EF4-FFF2-40B4-BE49-F238E27FC236}">
                    <a16:creationId xmlns:a16="http://schemas.microsoft.com/office/drawing/2014/main" id="{CCA8A766-892B-20BD-67C8-C62C0E3F15BF}"/>
                  </a:ext>
                </a:extLst>
              </p:cNvPr>
              <p:cNvSpPr txBox="1"/>
              <p:nvPr/>
            </p:nvSpPr>
            <p:spPr>
              <a:xfrm>
                <a:off x="2140088" y="5072675"/>
                <a:ext cx="1930355" cy="276999"/>
              </a:xfrm>
              <a:prstGeom prst="rect">
                <a:avLst/>
              </a:prstGeom>
              <a:noFill/>
            </p:spPr>
            <p:txBody>
              <a:bodyPr wrap="square" rtlCol="0" anchor="ctr">
                <a:spAutoFit/>
              </a:bodyPr>
              <a:lstStyle/>
              <a:p>
                <a:pPr algn="r"/>
                <a:endParaRPr lang="en-US" altLang="ko-KR" sz="1200" dirty="0">
                  <a:solidFill>
                    <a:schemeClr val="tx1">
                      <a:lumMod val="75000"/>
                      <a:lumOff val="25000"/>
                    </a:schemeClr>
                  </a:solidFill>
                </a:endParaRPr>
              </a:p>
            </p:txBody>
          </p:sp>
        </p:grpSp>
      </p:grpSp>
      <p:grpSp>
        <p:nvGrpSpPr>
          <p:cNvPr id="45" name="Group 93">
            <a:extLst>
              <a:ext uri="{FF2B5EF4-FFF2-40B4-BE49-F238E27FC236}">
                <a16:creationId xmlns:a16="http://schemas.microsoft.com/office/drawing/2014/main" id="{1F0C15B6-64C3-46DC-6285-861AF0C74E5B}"/>
              </a:ext>
            </a:extLst>
          </p:cNvPr>
          <p:cNvGrpSpPr/>
          <p:nvPr/>
        </p:nvGrpSpPr>
        <p:grpSpPr>
          <a:xfrm flipH="1">
            <a:off x="738200" y="5278538"/>
            <a:ext cx="3375066" cy="893296"/>
            <a:chOff x="9023213" y="2973444"/>
            <a:chExt cx="3375066" cy="893296"/>
          </a:xfrm>
        </p:grpSpPr>
        <p:grpSp>
          <p:nvGrpSpPr>
            <p:cNvPr id="46" name="Group 94">
              <a:extLst>
                <a:ext uri="{FF2B5EF4-FFF2-40B4-BE49-F238E27FC236}">
                  <a16:creationId xmlns:a16="http://schemas.microsoft.com/office/drawing/2014/main" id="{4250A277-BE51-C119-FB98-6D0138523F86}"/>
                </a:ext>
              </a:extLst>
            </p:cNvPr>
            <p:cNvGrpSpPr/>
            <p:nvPr/>
          </p:nvGrpSpPr>
          <p:grpSpPr>
            <a:xfrm>
              <a:off x="9023213" y="2996321"/>
              <a:ext cx="276999" cy="276999"/>
              <a:chOff x="2411760" y="3606832"/>
              <a:chExt cx="206152" cy="206152"/>
            </a:xfrm>
          </p:grpSpPr>
          <p:sp>
            <p:nvSpPr>
              <p:cNvPr id="51" name="Oval 99">
                <a:extLst>
                  <a:ext uri="{FF2B5EF4-FFF2-40B4-BE49-F238E27FC236}">
                    <a16:creationId xmlns:a16="http://schemas.microsoft.com/office/drawing/2014/main" id="{7FC14443-DF46-3098-D59B-16D836DB0834}"/>
                  </a:ext>
                </a:extLst>
              </p:cNvPr>
              <p:cNvSpPr/>
              <p:nvPr/>
            </p:nvSpPr>
            <p:spPr>
              <a:xfrm>
                <a:off x="2411760" y="3606832"/>
                <a:ext cx="206152" cy="2061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lumMod val="75000"/>
                      <a:lumOff val="25000"/>
                    </a:schemeClr>
                  </a:solidFill>
                  <a:ea typeface="+mj-ea"/>
                </a:endParaRPr>
              </a:p>
            </p:txBody>
          </p:sp>
          <p:sp>
            <p:nvSpPr>
              <p:cNvPr id="52" name="Chevron 60">
                <a:extLst>
                  <a:ext uri="{FF2B5EF4-FFF2-40B4-BE49-F238E27FC236}">
                    <a16:creationId xmlns:a16="http://schemas.microsoft.com/office/drawing/2014/main" id="{72D158A6-3915-A5FA-E6B1-8AC30654364B}"/>
                  </a:ext>
                </a:extLst>
              </p:cNvPr>
              <p:cNvSpPr/>
              <p:nvPr/>
            </p:nvSpPr>
            <p:spPr>
              <a:xfrm>
                <a:off x="2473351" y="3645566"/>
                <a:ext cx="106415" cy="128684"/>
              </a:xfrm>
              <a:prstGeom prst="chevron">
                <a:avLst>
                  <a:gd name="adj" fmla="val 5286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solidFill>
                    <a:schemeClr val="tx1">
                      <a:lumMod val="75000"/>
                      <a:lumOff val="25000"/>
                    </a:schemeClr>
                  </a:solidFill>
                  <a:ea typeface="+mj-ea"/>
                </a:endParaRPr>
              </a:p>
            </p:txBody>
          </p:sp>
        </p:grpSp>
        <p:grpSp>
          <p:nvGrpSpPr>
            <p:cNvPr id="47" name="Group 95">
              <a:extLst>
                <a:ext uri="{FF2B5EF4-FFF2-40B4-BE49-F238E27FC236}">
                  <a16:creationId xmlns:a16="http://schemas.microsoft.com/office/drawing/2014/main" id="{42A32BBF-4068-9DAC-0736-ECC1FB5B43FF}"/>
                </a:ext>
              </a:extLst>
            </p:cNvPr>
            <p:cNvGrpSpPr/>
            <p:nvPr/>
          </p:nvGrpSpPr>
          <p:grpSpPr>
            <a:xfrm>
              <a:off x="9300212" y="2973444"/>
              <a:ext cx="3098067" cy="893296"/>
              <a:chOff x="2140088" y="4456378"/>
              <a:chExt cx="3098067" cy="893296"/>
            </a:xfrm>
          </p:grpSpPr>
          <p:sp>
            <p:nvSpPr>
              <p:cNvPr id="48" name="TextBox 47">
                <a:extLst>
                  <a:ext uri="{FF2B5EF4-FFF2-40B4-BE49-F238E27FC236}">
                    <a16:creationId xmlns:a16="http://schemas.microsoft.com/office/drawing/2014/main" id="{99F0323E-1A9A-881D-1F43-0B22681BE5CE}"/>
                  </a:ext>
                </a:extLst>
              </p:cNvPr>
              <p:cNvSpPr txBox="1"/>
              <p:nvPr/>
            </p:nvSpPr>
            <p:spPr>
              <a:xfrm>
                <a:off x="2140088" y="4456378"/>
                <a:ext cx="1930354" cy="276999"/>
              </a:xfrm>
              <a:prstGeom prst="rect">
                <a:avLst/>
              </a:prstGeom>
              <a:noFill/>
            </p:spPr>
            <p:txBody>
              <a:bodyPr wrap="square" rtlCol="0" anchor="ctr">
                <a:spAutoFit/>
              </a:bodyPr>
              <a:lstStyle/>
              <a:p>
                <a:pPr algn="r"/>
                <a:endParaRPr lang="en-US" altLang="ko-KR" sz="1200" dirty="0">
                  <a:solidFill>
                    <a:schemeClr val="tx1">
                      <a:lumMod val="75000"/>
                      <a:lumOff val="25000"/>
                    </a:schemeClr>
                  </a:solidFill>
                  <a:ea typeface="+mj-ea"/>
                </a:endParaRPr>
              </a:p>
            </p:txBody>
          </p:sp>
          <p:sp>
            <p:nvSpPr>
              <p:cNvPr id="49" name="TextBox 48">
                <a:extLst>
                  <a:ext uri="{FF2B5EF4-FFF2-40B4-BE49-F238E27FC236}">
                    <a16:creationId xmlns:a16="http://schemas.microsoft.com/office/drawing/2014/main" id="{47477EC1-E0EA-3517-2763-4CF75FAF04E8}"/>
                  </a:ext>
                </a:extLst>
              </p:cNvPr>
              <p:cNvSpPr txBox="1"/>
              <p:nvPr/>
            </p:nvSpPr>
            <p:spPr>
              <a:xfrm>
                <a:off x="2140089" y="4610267"/>
                <a:ext cx="3098066" cy="584775"/>
              </a:xfrm>
              <a:prstGeom prst="rect">
                <a:avLst/>
              </a:prstGeom>
              <a:noFill/>
            </p:spPr>
            <p:txBody>
              <a:bodyPr wrap="square" rtlCol="0" anchor="ctr">
                <a:spAutoFit/>
              </a:bodyPr>
              <a:lstStyle/>
              <a:p>
                <a:r>
                  <a:rPr lang="en-US" altLang="ko-KR" sz="1600" b="1" dirty="0">
                    <a:solidFill>
                      <a:schemeClr val="tx1">
                        <a:lumMod val="75000"/>
                        <a:lumOff val="25000"/>
                      </a:schemeClr>
                    </a:solidFill>
                    <a:cs typeface="Arial" pitchFamily="34" charset="0"/>
                  </a:rPr>
                  <a:t>Tableau allows you to blend different</a:t>
                </a:r>
                <a:endParaRPr lang="en-US" altLang="ko-KR" sz="1600" b="1" dirty="0">
                  <a:solidFill>
                    <a:schemeClr val="tx1">
                      <a:lumMod val="75000"/>
                      <a:lumOff val="25000"/>
                    </a:schemeClr>
                  </a:solidFill>
                  <a:ea typeface="+mj-ea"/>
                </a:endParaRPr>
              </a:p>
            </p:txBody>
          </p:sp>
          <p:sp>
            <p:nvSpPr>
              <p:cNvPr id="50" name="TextBox 49">
                <a:extLst>
                  <a:ext uri="{FF2B5EF4-FFF2-40B4-BE49-F238E27FC236}">
                    <a16:creationId xmlns:a16="http://schemas.microsoft.com/office/drawing/2014/main" id="{D5A51B30-8C50-A1DF-8F01-D56C6EB3D169}"/>
                  </a:ext>
                </a:extLst>
              </p:cNvPr>
              <p:cNvSpPr txBox="1"/>
              <p:nvPr/>
            </p:nvSpPr>
            <p:spPr>
              <a:xfrm>
                <a:off x="2140088" y="5072675"/>
                <a:ext cx="1930355" cy="276999"/>
              </a:xfrm>
              <a:prstGeom prst="rect">
                <a:avLst/>
              </a:prstGeom>
              <a:noFill/>
            </p:spPr>
            <p:txBody>
              <a:bodyPr wrap="square" rtlCol="0" anchor="ctr">
                <a:spAutoFit/>
              </a:bodyPr>
              <a:lstStyle/>
              <a:p>
                <a:pPr algn="r"/>
                <a:endParaRPr lang="en-US" altLang="ko-KR" sz="1200" dirty="0">
                  <a:solidFill>
                    <a:schemeClr val="tx1">
                      <a:lumMod val="75000"/>
                      <a:lumOff val="25000"/>
                    </a:schemeClr>
                  </a:solidFill>
                </a:endParaRPr>
              </a:p>
            </p:txBody>
          </p:sp>
        </p:grpSp>
      </p:grpSp>
      <p:grpSp>
        <p:nvGrpSpPr>
          <p:cNvPr id="53" name="그룹 1694">
            <a:extLst>
              <a:ext uri="{FF2B5EF4-FFF2-40B4-BE49-F238E27FC236}">
                <a16:creationId xmlns:a16="http://schemas.microsoft.com/office/drawing/2014/main" id="{C4BC00EB-6097-31C0-0E03-CDDAD1DE89CA}"/>
              </a:ext>
            </a:extLst>
          </p:cNvPr>
          <p:cNvGrpSpPr/>
          <p:nvPr/>
        </p:nvGrpSpPr>
        <p:grpSpPr>
          <a:xfrm>
            <a:off x="4219853" y="1543388"/>
            <a:ext cx="4322706" cy="4469250"/>
            <a:chOff x="4201747" y="1434747"/>
            <a:chExt cx="4322706" cy="4469250"/>
          </a:xfrm>
        </p:grpSpPr>
        <p:sp>
          <p:nvSpPr>
            <p:cNvPr id="54" name="사다리꼴 1695">
              <a:extLst>
                <a:ext uri="{FF2B5EF4-FFF2-40B4-BE49-F238E27FC236}">
                  <a16:creationId xmlns:a16="http://schemas.microsoft.com/office/drawing/2014/main" id="{88413D78-1F62-F440-8986-37E84DED2E3F}"/>
                </a:ext>
              </a:extLst>
            </p:cNvPr>
            <p:cNvSpPr/>
            <p:nvPr/>
          </p:nvSpPr>
          <p:spPr>
            <a:xfrm>
              <a:off x="5490394" y="1735121"/>
              <a:ext cx="2562995" cy="641908"/>
            </a:xfrm>
            <a:prstGeom prst="trapezoid">
              <a:avLst>
                <a:gd name="adj" fmla="val 5642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사다리꼴 1696">
              <a:extLst>
                <a:ext uri="{FF2B5EF4-FFF2-40B4-BE49-F238E27FC236}">
                  <a16:creationId xmlns:a16="http://schemas.microsoft.com/office/drawing/2014/main" id="{16EA2A93-38C1-77EA-80FA-9460B05B44A1}"/>
                </a:ext>
              </a:extLst>
            </p:cNvPr>
            <p:cNvSpPr/>
            <p:nvPr/>
          </p:nvSpPr>
          <p:spPr>
            <a:xfrm rot="3600000">
              <a:off x="7132935" y="2944755"/>
              <a:ext cx="2189080" cy="593956"/>
            </a:xfrm>
            <a:prstGeom prst="trapezoid">
              <a:avLst>
                <a:gd name="adj" fmla="val 56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다리꼴 1697">
              <a:extLst>
                <a:ext uri="{FF2B5EF4-FFF2-40B4-BE49-F238E27FC236}">
                  <a16:creationId xmlns:a16="http://schemas.microsoft.com/office/drawing/2014/main" id="{EC007A33-B254-28DB-9013-BFBCD3186308}"/>
                </a:ext>
              </a:extLst>
            </p:cNvPr>
            <p:cNvSpPr/>
            <p:nvPr/>
          </p:nvSpPr>
          <p:spPr>
            <a:xfrm rot="7200000">
              <a:off x="6679827" y="4428343"/>
              <a:ext cx="2216132" cy="735176"/>
            </a:xfrm>
            <a:prstGeom prst="trapezoid">
              <a:avLst>
                <a:gd name="adj" fmla="val 56421"/>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사다리꼴 1698">
              <a:extLst>
                <a:ext uri="{FF2B5EF4-FFF2-40B4-BE49-F238E27FC236}">
                  <a16:creationId xmlns:a16="http://schemas.microsoft.com/office/drawing/2014/main" id="{76AD1AD1-23AF-1003-66DB-7284BE1E37FE}"/>
                </a:ext>
              </a:extLst>
            </p:cNvPr>
            <p:cNvSpPr/>
            <p:nvPr/>
          </p:nvSpPr>
          <p:spPr>
            <a:xfrm rot="10800000">
              <a:off x="4666450" y="4910954"/>
              <a:ext cx="2503465" cy="680003"/>
            </a:xfrm>
            <a:prstGeom prst="trapezoid">
              <a:avLst>
                <a:gd name="adj" fmla="val 5642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사다리꼴 1699">
              <a:extLst>
                <a:ext uri="{FF2B5EF4-FFF2-40B4-BE49-F238E27FC236}">
                  <a16:creationId xmlns:a16="http://schemas.microsoft.com/office/drawing/2014/main" id="{D56FBC10-3EB3-8E12-569A-37DDC739C7EA}"/>
                </a:ext>
              </a:extLst>
            </p:cNvPr>
            <p:cNvSpPr/>
            <p:nvPr/>
          </p:nvSpPr>
          <p:spPr>
            <a:xfrm rot="17979950">
              <a:off x="3857013" y="2165667"/>
              <a:ext cx="2104384" cy="642543"/>
            </a:xfrm>
            <a:prstGeom prst="trapezoid">
              <a:avLst>
                <a:gd name="adj" fmla="val 56421"/>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TextBox 58">
              <a:extLst>
                <a:ext uri="{FF2B5EF4-FFF2-40B4-BE49-F238E27FC236}">
                  <a16:creationId xmlns:a16="http://schemas.microsoft.com/office/drawing/2014/main" id="{46679CEE-9EBE-7CF5-3D8C-BA5B97727042}"/>
                </a:ext>
              </a:extLst>
            </p:cNvPr>
            <p:cNvSpPr txBox="1"/>
            <p:nvPr/>
          </p:nvSpPr>
          <p:spPr>
            <a:xfrm>
              <a:off x="5778516" y="1862919"/>
              <a:ext cx="1854998"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Speed of Analysis </a:t>
              </a:r>
              <a:endParaRPr lang="ko-KR" altLang="en-US" sz="1600" b="1" dirty="0">
                <a:solidFill>
                  <a:schemeClr val="bg1"/>
                </a:solidFill>
                <a:cs typeface="Arial" pitchFamily="34" charset="0"/>
              </a:endParaRPr>
            </a:p>
          </p:txBody>
        </p:sp>
        <p:sp>
          <p:nvSpPr>
            <p:cNvPr id="60" name="TextBox 59">
              <a:extLst>
                <a:ext uri="{FF2B5EF4-FFF2-40B4-BE49-F238E27FC236}">
                  <a16:creationId xmlns:a16="http://schemas.microsoft.com/office/drawing/2014/main" id="{C097E7B3-F2F5-3F73-78E8-B98376D2CF19}"/>
                </a:ext>
              </a:extLst>
            </p:cNvPr>
            <p:cNvSpPr txBox="1"/>
            <p:nvPr/>
          </p:nvSpPr>
          <p:spPr>
            <a:xfrm rot="3600000">
              <a:off x="7541735" y="2838254"/>
              <a:ext cx="1254640" cy="584775"/>
            </a:xfrm>
            <a:prstGeom prst="rect">
              <a:avLst/>
            </a:prstGeom>
            <a:noFill/>
          </p:spPr>
          <p:txBody>
            <a:bodyPr wrap="square" rtlCol="0">
              <a:spAutoFit/>
            </a:bodyPr>
            <a:lstStyle/>
            <a:p>
              <a:pPr algn="ctr"/>
              <a:r>
                <a:rPr lang="en-US" altLang="ko-KR" sz="1600" b="1" dirty="0">
                  <a:solidFill>
                    <a:schemeClr val="bg1"/>
                  </a:solidFill>
                  <a:cs typeface="Arial" pitchFamily="34" charset="0"/>
                </a:rPr>
                <a:t>Self-Reliant</a:t>
              </a:r>
              <a:endParaRPr lang="ko-KR" altLang="en-US" sz="1600" b="1" dirty="0">
                <a:solidFill>
                  <a:schemeClr val="bg1"/>
                </a:solidFill>
                <a:cs typeface="Arial" pitchFamily="34" charset="0"/>
              </a:endParaRPr>
            </a:p>
          </p:txBody>
        </p:sp>
        <p:sp>
          <p:nvSpPr>
            <p:cNvPr id="61" name="TextBox 60">
              <a:extLst>
                <a:ext uri="{FF2B5EF4-FFF2-40B4-BE49-F238E27FC236}">
                  <a16:creationId xmlns:a16="http://schemas.microsoft.com/office/drawing/2014/main" id="{B706E692-7A61-A8FC-27CA-969FFFC97AA7}"/>
                </a:ext>
              </a:extLst>
            </p:cNvPr>
            <p:cNvSpPr txBox="1"/>
            <p:nvPr/>
          </p:nvSpPr>
          <p:spPr>
            <a:xfrm rot="7200000">
              <a:off x="7130449" y="4538215"/>
              <a:ext cx="1254640" cy="584775"/>
            </a:xfrm>
            <a:prstGeom prst="rect">
              <a:avLst/>
            </a:prstGeom>
            <a:noFill/>
          </p:spPr>
          <p:txBody>
            <a:bodyPr wrap="square" rtlCol="0">
              <a:spAutoFit/>
            </a:bodyPr>
            <a:lstStyle/>
            <a:p>
              <a:pPr algn="ctr"/>
              <a:r>
                <a:rPr lang="en-US" altLang="ko-KR" sz="1600" b="1" dirty="0">
                  <a:solidFill>
                    <a:schemeClr val="bg1"/>
                  </a:solidFill>
                  <a:cs typeface="Arial" pitchFamily="34" charset="0"/>
                </a:rPr>
                <a:t>Visual Discovery </a:t>
              </a:r>
              <a:endParaRPr lang="ko-KR" altLang="en-US" sz="1600" b="1" dirty="0">
                <a:solidFill>
                  <a:schemeClr val="bg1"/>
                </a:solidFill>
                <a:cs typeface="Arial" pitchFamily="34" charset="0"/>
              </a:endParaRPr>
            </a:p>
          </p:txBody>
        </p:sp>
        <p:sp>
          <p:nvSpPr>
            <p:cNvPr id="62" name="TextBox 61">
              <a:extLst>
                <a:ext uri="{FF2B5EF4-FFF2-40B4-BE49-F238E27FC236}">
                  <a16:creationId xmlns:a16="http://schemas.microsoft.com/office/drawing/2014/main" id="{14A6E5A8-A2D8-6B5F-B6E1-D6A49598E575}"/>
                </a:ext>
              </a:extLst>
            </p:cNvPr>
            <p:cNvSpPr txBox="1"/>
            <p:nvPr/>
          </p:nvSpPr>
          <p:spPr>
            <a:xfrm>
              <a:off x="4985872" y="4976718"/>
              <a:ext cx="1556724" cy="584775"/>
            </a:xfrm>
            <a:prstGeom prst="rect">
              <a:avLst/>
            </a:prstGeom>
            <a:noFill/>
          </p:spPr>
          <p:txBody>
            <a:bodyPr wrap="square" rtlCol="0">
              <a:spAutoFit/>
            </a:bodyPr>
            <a:lstStyle/>
            <a:p>
              <a:pPr algn="ctr"/>
              <a:r>
                <a:rPr lang="en-US" altLang="ko-KR" sz="1600" b="1" dirty="0">
                  <a:solidFill>
                    <a:schemeClr val="bg1"/>
                  </a:solidFill>
                  <a:cs typeface="Arial" pitchFamily="34" charset="0"/>
                </a:rPr>
                <a:t>Blend Diverse Data Sets</a:t>
              </a:r>
              <a:endParaRPr lang="ko-KR" altLang="en-US" sz="1600" b="1" dirty="0">
                <a:solidFill>
                  <a:schemeClr val="bg1"/>
                </a:solidFill>
                <a:cs typeface="Arial" pitchFamily="34" charset="0"/>
              </a:endParaRPr>
            </a:p>
          </p:txBody>
        </p:sp>
        <p:sp>
          <p:nvSpPr>
            <p:cNvPr id="63" name="TextBox 62">
              <a:extLst>
                <a:ext uri="{FF2B5EF4-FFF2-40B4-BE49-F238E27FC236}">
                  <a16:creationId xmlns:a16="http://schemas.microsoft.com/office/drawing/2014/main" id="{5056A779-EA41-4CF8-82C9-5AB29F8EBE71}"/>
                </a:ext>
              </a:extLst>
            </p:cNvPr>
            <p:cNvSpPr txBox="1"/>
            <p:nvPr/>
          </p:nvSpPr>
          <p:spPr>
            <a:xfrm rot="3600000">
              <a:off x="3676338" y="3749195"/>
              <a:ext cx="1635594" cy="584775"/>
            </a:xfrm>
            <a:prstGeom prst="rect">
              <a:avLst/>
            </a:prstGeom>
            <a:noFill/>
          </p:spPr>
          <p:txBody>
            <a:bodyPr wrap="square" rtlCol="0">
              <a:spAutoFit/>
            </a:bodyPr>
            <a:lstStyle/>
            <a:p>
              <a:pPr algn="ctr"/>
              <a:r>
                <a:rPr lang="en-US" altLang="ko-KR" sz="1600" b="1" dirty="0">
                  <a:solidFill>
                    <a:schemeClr val="bg1"/>
                  </a:solidFill>
                  <a:cs typeface="Arial" pitchFamily="34" charset="0"/>
                </a:rPr>
                <a:t>Real-Time Collaboration </a:t>
              </a:r>
              <a:endParaRPr lang="ko-KR" altLang="en-US" sz="1600" b="1" dirty="0">
                <a:solidFill>
                  <a:schemeClr val="bg1"/>
                </a:solidFill>
                <a:cs typeface="Arial" pitchFamily="34" charset="0"/>
              </a:endParaRPr>
            </a:p>
          </p:txBody>
        </p:sp>
        <p:sp>
          <p:nvSpPr>
            <p:cNvPr id="64" name="TextBox 63">
              <a:extLst>
                <a:ext uri="{FF2B5EF4-FFF2-40B4-BE49-F238E27FC236}">
                  <a16:creationId xmlns:a16="http://schemas.microsoft.com/office/drawing/2014/main" id="{C759607E-92F7-69E0-CFE4-0316F8AED4B7}"/>
                </a:ext>
              </a:extLst>
            </p:cNvPr>
            <p:cNvSpPr txBox="1"/>
            <p:nvPr/>
          </p:nvSpPr>
          <p:spPr>
            <a:xfrm rot="18000000">
              <a:off x="4300082" y="2241720"/>
              <a:ext cx="1254640" cy="584775"/>
            </a:xfrm>
            <a:prstGeom prst="rect">
              <a:avLst/>
            </a:prstGeom>
            <a:noFill/>
          </p:spPr>
          <p:txBody>
            <a:bodyPr wrap="square" rtlCol="0">
              <a:spAutoFit/>
            </a:bodyPr>
            <a:lstStyle/>
            <a:p>
              <a:pPr algn="ctr"/>
              <a:r>
                <a:rPr lang="en-US" altLang="ko-KR" sz="1600" b="1" dirty="0">
                  <a:solidFill>
                    <a:schemeClr val="bg1"/>
                  </a:solidFill>
                  <a:cs typeface="Arial" pitchFamily="34" charset="0"/>
                </a:rPr>
                <a:t>Centralized Data </a:t>
              </a:r>
              <a:endParaRPr lang="ko-KR" altLang="en-US" sz="1600" b="1" dirty="0">
                <a:solidFill>
                  <a:schemeClr val="bg1"/>
                </a:solidFill>
                <a:cs typeface="Arial" pitchFamily="34" charset="0"/>
              </a:endParaRPr>
            </a:p>
          </p:txBody>
        </p:sp>
        <p:sp>
          <p:nvSpPr>
            <p:cNvPr id="65" name="육각형 1706">
              <a:extLst>
                <a:ext uri="{FF2B5EF4-FFF2-40B4-BE49-F238E27FC236}">
                  <a16:creationId xmlns:a16="http://schemas.microsoft.com/office/drawing/2014/main" id="{A3B55533-3F7C-E660-55EE-61F4A4093427}"/>
                </a:ext>
              </a:extLst>
            </p:cNvPr>
            <p:cNvSpPr/>
            <p:nvPr/>
          </p:nvSpPr>
          <p:spPr>
            <a:xfrm>
              <a:off x="5117052" y="2608713"/>
              <a:ext cx="2503466" cy="2121705"/>
            </a:xfrm>
            <a:prstGeom prst="hexagon">
              <a:avLst>
                <a:gd name="adj" fmla="val 29706"/>
                <a:gd name="vf" fmla="val 115470"/>
              </a:avLst>
            </a:prstGeom>
            <a:gradFill flip="none" rotWithShape="1">
              <a:gsLst>
                <a:gs pos="0">
                  <a:schemeClr val="bg1">
                    <a:lumMod val="87000"/>
                  </a:schemeClr>
                </a:gs>
                <a:gs pos="100000">
                  <a:schemeClr val="bg1"/>
                </a:gs>
              </a:gsLst>
              <a:lin ang="8100000" scaled="1"/>
              <a:tileRect/>
            </a:gradFill>
            <a:ln w="635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chemeClr val="tx1">
                    <a:lumMod val="65000"/>
                    <a:lumOff val="35000"/>
                  </a:schemeClr>
                </a:solidFill>
              </a:endParaRPr>
            </a:p>
          </p:txBody>
        </p:sp>
      </p:grpSp>
    </p:spTree>
    <p:extLst>
      <p:ext uri="{BB962C8B-B14F-4D97-AF65-F5344CB8AC3E}">
        <p14:creationId xmlns:p14="http://schemas.microsoft.com/office/powerpoint/2010/main" val="4278448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977"/>
        <p:cNvGrpSpPr/>
        <p:nvPr/>
      </p:nvGrpSpPr>
      <p:grpSpPr>
        <a:xfrm>
          <a:off x="0" y="0"/>
          <a:ext cx="0" cy="0"/>
          <a:chOff x="0" y="0"/>
          <a:chExt cx="0" cy="0"/>
        </a:xfrm>
      </p:grpSpPr>
      <p:sp>
        <p:nvSpPr>
          <p:cNvPr id="5978" name="Google Shape;5978;p393"/>
          <p:cNvSpPr txBox="1">
            <a:spLocks noGrp="1"/>
          </p:cNvSpPr>
          <p:nvPr>
            <p:ph type="title"/>
          </p:nvPr>
        </p:nvSpPr>
        <p:spPr>
          <a:prstGeom prst="rect">
            <a:avLst/>
          </a:prstGeom>
        </p:spPr>
        <p:txBody>
          <a:bodyPr spcFirstLastPara="1" vert="horz" wrap="square" lIns="609600" tIns="12167" rIns="1341100" bIns="0" rtlCol="0" anchor="t" anchorCtr="0">
            <a:noAutofit/>
          </a:bodyPr>
          <a:lstStyle/>
          <a:p>
            <a:r>
              <a:rPr lang="en" dirty="0"/>
              <a:t>  10 Minutes</a:t>
            </a:r>
            <a:endParaRPr dirty="0"/>
          </a:p>
        </p:txBody>
      </p:sp>
      <p:sp>
        <p:nvSpPr>
          <p:cNvPr id="5979" name="Google Shape;5979;p393"/>
          <p:cNvSpPr txBox="1">
            <a:spLocks noGrp="1"/>
          </p:cNvSpPr>
          <p:nvPr>
            <p:ph type="sldNum" idx="12"/>
          </p:nvPr>
        </p:nvSpPr>
        <p:spPr>
          <a:prstGeom prst="rect">
            <a:avLst/>
          </a:prstGeom>
        </p:spPr>
        <p:txBody>
          <a:bodyPr spcFirstLastPara="1" vert="horz" wrap="square" lIns="0" tIns="0" rIns="0" bIns="121900" rtlCol="0" anchor="t" anchorCtr="0">
            <a:noAutofit/>
          </a:bodyPr>
          <a:lstStyle/>
          <a:p>
            <a:fld id="{00000000-1234-1234-1234-123412341234}" type="slidenum">
              <a:rPr lang="en"/>
              <a:pPr/>
              <a:t>6</a:t>
            </a:fld>
            <a:endParaRPr/>
          </a:p>
        </p:txBody>
      </p:sp>
      <p:sp>
        <p:nvSpPr>
          <p:cNvPr id="5981" name="Google Shape;5981;p393"/>
          <p:cNvSpPr txBox="1">
            <a:spLocks noGrp="1"/>
          </p:cNvSpPr>
          <p:nvPr>
            <p:ph type="title" idx="2"/>
          </p:nvPr>
        </p:nvSpPr>
        <p:spPr>
          <a:xfrm>
            <a:off x="365200" y="1390500"/>
            <a:ext cx="11686000" cy="3685600"/>
          </a:xfrm>
          <a:prstGeom prst="rect">
            <a:avLst/>
          </a:prstGeom>
        </p:spPr>
        <p:txBody>
          <a:bodyPr spcFirstLastPara="1" vert="horz" wrap="square" lIns="3413733" tIns="0" rIns="609600" bIns="609600" rtlCol="0" anchor="t" anchorCtr="0">
            <a:noAutofit/>
          </a:bodyPr>
          <a:lstStyle/>
          <a:p>
            <a:pPr>
              <a:buClr>
                <a:schemeClr val="dk1"/>
              </a:buClr>
              <a:buSzPts val="1100"/>
            </a:pPr>
            <a:r>
              <a:rPr lang="en" sz="3067" b="1" dirty="0"/>
              <a:t>Everyone Do: </a:t>
            </a:r>
            <a:r>
              <a:rPr lang="en-US" sz="3067" b="1" dirty="0"/>
              <a:t>Tableau </a:t>
            </a:r>
            <a:r>
              <a:rPr lang="en" sz="3067" b="1" dirty="0"/>
              <a:t>Installation</a:t>
            </a:r>
            <a:endParaRPr sz="3067" b="1" dirty="0"/>
          </a:p>
          <a:p>
            <a:pPr>
              <a:buClr>
                <a:schemeClr val="dk1"/>
              </a:buClr>
              <a:buSzPts val="1100"/>
            </a:pPr>
            <a:endParaRPr sz="3067" dirty="0">
              <a:latin typeface="Roboto Medium"/>
              <a:ea typeface="Roboto Medium"/>
              <a:cs typeface="Roboto Medium"/>
              <a:sym typeface="Roboto Medium"/>
            </a:endParaRPr>
          </a:p>
          <a:p>
            <a:pPr>
              <a:buClr>
                <a:schemeClr val="dk1"/>
              </a:buClr>
              <a:buSzPts val="1100"/>
            </a:pPr>
            <a:r>
              <a:rPr lang="en" sz="2533" dirty="0">
                <a:latin typeface="Roboto Light"/>
                <a:ea typeface="Roboto Light"/>
                <a:cs typeface="Roboto Light"/>
                <a:sym typeface="Roboto Light"/>
              </a:rPr>
              <a:t>In this activity, everyone will install </a:t>
            </a:r>
            <a:r>
              <a:rPr lang="en-US" sz="2533" dirty="0">
                <a:latin typeface="Roboto Light"/>
                <a:ea typeface="Roboto Light"/>
                <a:cs typeface="Roboto Light"/>
                <a:sym typeface="Roboto Light"/>
              </a:rPr>
              <a:t>Tableau Desktop</a:t>
            </a:r>
            <a:r>
              <a:rPr lang="en" sz="2533" dirty="0">
                <a:latin typeface="Roboto Light"/>
                <a:ea typeface="Roboto Light"/>
                <a:cs typeface="Roboto Light"/>
                <a:sym typeface="Roboto Light"/>
              </a:rPr>
              <a:t>. </a:t>
            </a:r>
            <a:endParaRPr sz="2533" dirty="0">
              <a:latin typeface="Roboto Light"/>
              <a:ea typeface="Roboto Light"/>
              <a:cs typeface="Roboto Light"/>
              <a:sym typeface="Roboto Light"/>
            </a:endParaRPr>
          </a:p>
          <a:p>
            <a:pPr>
              <a:buClr>
                <a:schemeClr val="dk1"/>
              </a:buClr>
              <a:buSzPts val="1100"/>
            </a:pPr>
            <a:endParaRPr sz="2533" dirty="0">
              <a:latin typeface="Roboto Light"/>
              <a:ea typeface="Roboto Light"/>
              <a:cs typeface="Roboto Light"/>
              <a:sym typeface="Roboto Light"/>
            </a:endParaRPr>
          </a:p>
        </p:txBody>
      </p:sp>
      <p:pic>
        <p:nvPicPr>
          <p:cNvPr id="5" name="Picture 4" descr="A pen and pencil with a black background&#10;&#10;Description automatically generated">
            <a:extLst>
              <a:ext uri="{FF2B5EF4-FFF2-40B4-BE49-F238E27FC236}">
                <a16:creationId xmlns:a16="http://schemas.microsoft.com/office/drawing/2014/main" id="{3D4352F9-81A4-3797-0CFF-9F8D6E7473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800" y="428610"/>
            <a:ext cx="4133943" cy="4133943"/>
          </a:xfrm>
          <a:prstGeom prst="rect">
            <a:avLst/>
          </a:prstGeom>
        </p:spPr>
      </p:pic>
      <p:sp>
        <p:nvSpPr>
          <p:cNvPr id="6" name="Rectangle 5">
            <a:extLst>
              <a:ext uri="{FF2B5EF4-FFF2-40B4-BE49-F238E27FC236}">
                <a16:creationId xmlns:a16="http://schemas.microsoft.com/office/drawing/2014/main" id="{7E26E8FB-5CDF-A9C2-62AB-B8EF12F5377E}"/>
              </a:ext>
            </a:extLst>
          </p:cNvPr>
          <p:cNvSpPr/>
          <p:nvPr/>
        </p:nvSpPr>
        <p:spPr>
          <a:xfrm>
            <a:off x="0" y="4684029"/>
            <a:ext cx="12192000" cy="1866837"/>
          </a:xfrm>
          <a:prstGeom prst="rect">
            <a:avLst/>
          </a:prstGeom>
          <a:solidFill>
            <a:srgbClr val="FFC000">
              <a:alpha val="50000"/>
            </a:srgbClr>
          </a:solidFill>
          <a:ln>
            <a:solidFill>
              <a:srgbClr val="FFC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8" name="Picture 7" descr="A clock with a bell&#10;&#10;Description automatically generated">
            <a:extLst>
              <a:ext uri="{FF2B5EF4-FFF2-40B4-BE49-F238E27FC236}">
                <a16:creationId xmlns:a16="http://schemas.microsoft.com/office/drawing/2014/main" id="{88A25E8B-E337-29D4-2624-D9E613FFDA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76776" y="4730288"/>
            <a:ext cx="1474424" cy="1474424"/>
          </a:xfrm>
          <a:prstGeom prst="rect">
            <a:avLst/>
          </a:prstGeom>
        </p:spPr>
      </p:pic>
      <p:sp>
        <p:nvSpPr>
          <p:cNvPr id="9" name="TextBox 8">
            <a:extLst>
              <a:ext uri="{FF2B5EF4-FFF2-40B4-BE49-F238E27FC236}">
                <a16:creationId xmlns:a16="http://schemas.microsoft.com/office/drawing/2014/main" id="{78A1C98C-CBF1-4DF3-3F11-519189FD83DE}"/>
              </a:ext>
            </a:extLst>
          </p:cNvPr>
          <p:cNvSpPr txBox="1"/>
          <p:nvPr/>
        </p:nvSpPr>
        <p:spPr>
          <a:xfrm>
            <a:off x="7881257" y="5076100"/>
            <a:ext cx="2628119" cy="461665"/>
          </a:xfrm>
          <a:prstGeom prst="rect">
            <a:avLst/>
          </a:prstGeom>
          <a:noFill/>
        </p:spPr>
        <p:txBody>
          <a:bodyPr wrap="square" rtlCol="0">
            <a:spAutoFit/>
          </a:bodyPr>
          <a:lstStyle/>
          <a:p>
            <a:r>
              <a:rPr lang="en-US" sz="2400" b="1" dirty="0"/>
              <a:t>Suggested Time:</a:t>
            </a:r>
          </a:p>
        </p:txBody>
      </p:sp>
      <p:sp>
        <p:nvSpPr>
          <p:cNvPr id="10" name="TextBox 9">
            <a:extLst>
              <a:ext uri="{FF2B5EF4-FFF2-40B4-BE49-F238E27FC236}">
                <a16:creationId xmlns:a16="http://schemas.microsoft.com/office/drawing/2014/main" id="{AB896F87-EB2A-AA3D-0D4B-F4A66B100DCD}"/>
              </a:ext>
            </a:extLst>
          </p:cNvPr>
          <p:cNvSpPr txBox="1"/>
          <p:nvPr/>
        </p:nvSpPr>
        <p:spPr>
          <a:xfrm>
            <a:off x="8666492" y="5567098"/>
            <a:ext cx="2597547" cy="400110"/>
          </a:xfrm>
          <a:prstGeom prst="rect">
            <a:avLst/>
          </a:prstGeom>
          <a:noFill/>
        </p:spPr>
        <p:txBody>
          <a:bodyPr wrap="square" rtlCol="0">
            <a:spAutoFit/>
          </a:bodyPr>
          <a:lstStyle/>
          <a:p>
            <a:r>
              <a:rPr lang="en-US" sz="2000" dirty="0"/>
              <a:t>10 minutes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991"/>
        <p:cNvGrpSpPr/>
        <p:nvPr/>
      </p:nvGrpSpPr>
      <p:grpSpPr>
        <a:xfrm>
          <a:off x="0" y="0"/>
          <a:ext cx="0" cy="0"/>
          <a:chOff x="0" y="0"/>
          <a:chExt cx="0" cy="0"/>
        </a:xfrm>
      </p:grpSpPr>
      <p:sp>
        <p:nvSpPr>
          <p:cNvPr id="5993" name="Google Shape;5993;p395"/>
          <p:cNvSpPr/>
          <p:nvPr/>
        </p:nvSpPr>
        <p:spPr>
          <a:xfrm>
            <a:off x="4668181" y="422753"/>
            <a:ext cx="6537200" cy="4902300"/>
          </a:xfrm>
          <a:prstGeom prst="rect">
            <a:avLst/>
          </a:prstGeom>
          <a:noFill/>
          <a:ln w="2857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609585" indent="-423323">
              <a:buSzPts val="1400"/>
              <a:buChar char="●"/>
            </a:pPr>
            <a:r>
              <a:rPr lang="en" sz="2400"/>
              <a:t>Not only can Tableau connect to many types of data files, like </a:t>
            </a:r>
            <a:r>
              <a:rPr lang="en" sz="2400" b="1"/>
              <a:t>CSV, XLS, and JSON</a:t>
            </a:r>
            <a:r>
              <a:rPr lang="en" sz="2400"/>
              <a:t>, it can also connect to a multitude of servers, such as </a:t>
            </a:r>
            <a:r>
              <a:rPr lang="en" sz="2400" b="1"/>
              <a:t>MySQL, MongoDB, and Google Cloud</a:t>
            </a:r>
            <a:r>
              <a:rPr lang="en" sz="2400"/>
              <a:t>.</a:t>
            </a:r>
            <a:endParaRPr sz="2400"/>
          </a:p>
          <a:p>
            <a:pPr marL="609585"/>
            <a:endParaRPr sz="2400"/>
          </a:p>
          <a:p>
            <a:pPr marL="609585"/>
            <a:endParaRPr sz="2400"/>
          </a:p>
          <a:p>
            <a:pPr marL="609585" indent="-423323">
              <a:buSzPts val="1400"/>
              <a:buChar char="●"/>
            </a:pPr>
            <a:r>
              <a:rPr lang="en" sz="2400"/>
              <a:t>Tableau allows users to mix and match data from vastly different sources </a:t>
            </a:r>
            <a:r>
              <a:rPr lang="en" sz="2400" b="1"/>
              <a:t>without the need to translate the data</a:t>
            </a:r>
            <a:r>
              <a:rPr lang="en" sz="2400"/>
              <a:t> into something like a Pandas DataFrame. The loading, exploration, and manipulation of data are all </a:t>
            </a:r>
            <a:r>
              <a:rPr lang="en" sz="2400" i="1"/>
              <a:t>built-in</a:t>
            </a:r>
            <a:r>
              <a:rPr lang="en" sz="2400"/>
              <a:t>.</a:t>
            </a:r>
            <a:endParaRPr sz="2400"/>
          </a:p>
        </p:txBody>
      </p:sp>
      <p:pic>
        <p:nvPicPr>
          <p:cNvPr id="5994" name="Google Shape;5994;p395"/>
          <p:cNvPicPr preferRelativeResize="0"/>
          <p:nvPr/>
        </p:nvPicPr>
        <p:blipFill>
          <a:blip r:embed="rId3">
            <a:alphaModFix/>
          </a:blip>
          <a:stretch>
            <a:fillRect/>
          </a:stretch>
        </p:blipFill>
        <p:spPr>
          <a:xfrm>
            <a:off x="755681" y="422753"/>
            <a:ext cx="3116800" cy="5357399"/>
          </a:xfrm>
          <a:prstGeom prst="rect">
            <a:avLst/>
          </a:prstGeom>
          <a:noFill/>
          <a:ln w="28575" cap="flat" cmpd="sng">
            <a:solidFill>
              <a:srgbClr val="000000"/>
            </a:solidFill>
            <a:prstDash val="solid"/>
            <a:round/>
            <a:headEnd type="none" w="sm" len="sm"/>
            <a:tailEnd type="none" w="sm" len="sm"/>
          </a:ln>
        </p:spPr>
      </p:pic>
      <p:sp>
        <p:nvSpPr>
          <p:cNvPr id="2" name="TextBox 1">
            <a:extLst>
              <a:ext uri="{FF2B5EF4-FFF2-40B4-BE49-F238E27FC236}">
                <a16:creationId xmlns:a16="http://schemas.microsoft.com/office/drawing/2014/main" id="{2E7D3761-2196-7000-3017-9FED203C6879}"/>
              </a:ext>
            </a:extLst>
          </p:cNvPr>
          <p:cNvSpPr txBox="1"/>
          <p:nvPr/>
        </p:nvSpPr>
        <p:spPr>
          <a:xfrm>
            <a:off x="7445829" y="5612148"/>
            <a:ext cx="4746170" cy="684675"/>
          </a:xfrm>
          <a:prstGeom prst="rect">
            <a:avLst/>
          </a:prstGeom>
          <a:noFill/>
        </p:spPr>
        <p:txBody>
          <a:bodyPr wrap="square">
            <a:spAutoFit/>
          </a:bodyPr>
          <a:lstStyle/>
          <a:p>
            <a:pPr marL="342900" indent="-342900">
              <a:lnSpc>
                <a:spcPts val="2400"/>
              </a:lnSpc>
              <a:tabLst>
                <a:tab pos="457200" algn="l"/>
              </a:tabLst>
            </a:pPr>
            <a:r>
              <a:rPr lang="en-CA" sz="14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Note: </a:t>
            </a:r>
            <a:r>
              <a:rPr lang="en-CA" sz="1800" dirty="0">
                <a:solidFill>
                  <a:srgbClr val="FF0000"/>
                </a:solidFill>
                <a:effectLst/>
                <a:latin typeface="Segoe UI" panose="020B0502040204020203" pitchFamily="34" charset="0"/>
                <a:ea typeface="Times New Roman" panose="02020603050405020304" pitchFamily="18" charset="0"/>
              </a:rPr>
              <a:t>Hadoop can only be connected in Tableau Desktop, not Public</a:t>
            </a:r>
            <a:endParaRPr lang="en-US" sz="18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977"/>
        <p:cNvGrpSpPr/>
        <p:nvPr/>
      </p:nvGrpSpPr>
      <p:grpSpPr>
        <a:xfrm>
          <a:off x="0" y="0"/>
          <a:ext cx="0" cy="0"/>
          <a:chOff x="0" y="0"/>
          <a:chExt cx="0" cy="0"/>
        </a:xfrm>
      </p:grpSpPr>
      <p:sp>
        <p:nvSpPr>
          <p:cNvPr id="5978" name="Google Shape;5978;p393"/>
          <p:cNvSpPr txBox="1">
            <a:spLocks noGrp="1"/>
          </p:cNvSpPr>
          <p:nvPr>
            <p:ph type="title"/>
          </p:nvPr>
        </p:nvSpPr>
        <p:spPr>
          <a:prstGeom prst="rect">
            <a:avLst/>
          </a:prstGeom>
        </p:spPr>
        <p:txBody>
          <a:bodyPr spcFirstLastPara="1" vert="horz" wrap="square" lIns="609600" tIns="12167" rIns="1341100" bIns="0" rtlCol="0" anchor="t" anchorCtr="0">
            <a:noAutofit/>
          </a:bodyPr>
          <a:lstStyle/>
          <a:p>
            <a:r>
              <a:rPr lang="en" dirty="0"/>
              <a:t>  10 Minutes</a:t>
            </a:r>
            <a:endParaRPr dirty="0"/>
          </a:p>
        </p:txBody>
      </p:sp>
      <p:sp>
        <p:nvSpPr>
          <p:cNvPr id="5979" name="Google Shape;5979;p393"/>
          <p:cNvSpPr txBox="1">
            <a:spLocks noGrp="1"/>
          </p:cNvSpPr>
          <p:nvPr>
            <p:ph type="sldNum" idx="12"/>
          </p:nvPr>
        </p:nvSpPr>
        <p:spPr>
          <a:prstGeom prst="rect">
            <a:avLst/>
          </a:prstGeom>
        </p:spPr>
        <p:txBody>
          <a:bodyPr spcFirstLastPara="1" vert="horz" wrap="square" lIns="0" tIns="0" rIns="0" bIns="121900" rtlCol="0" anchor="t" anchorCtr="0">
            <a:noAutofit/>
          </a:bodyPr>
          <a:lstStyle/>
          <a:p>
            <a:fld id="{00000000-1234-1234-1234-123412341234}" type="slidenum">
              <a:rPr lang="en"/>
              <a:pPr/>
              <a:t>8</a:t>
            </a:fld>
            <a:endParaRPr/>
          </a:p>
        </p:txBody>
      </p:sp>
      <p:sp>
        <p:nvSpPr>
          <p:cNvPr id="5981" name="Google Shape;5981;p393"/>
          <p:cNvSpPr txBox="1">
            <a:spLocks noGrp="1"/>
          </p:cNvSpPr>
          <p:nvPr>
            <p:ph type="title" idx="2"/>
          </p:nvPr>
        </p:nvSpPr>
        <p:spPr>
          <a:xfrm>
            <a:off x="849087" y="1441021"/>
            <a:ext cx="11202114" cy="1465899"/>
          </a:xfrm>
          <a:prstGeom prst="rect">
            <a:avLst/>
          </a:prstGeom>
        </p:spPr>
        <p:txBody>
          <a:bodyPr spcFirstLastPara="1" vert="horz" wrap="square" lIns="3413733" tIns="0" rIns="609600" bIns="609600" rtlCol="0" anchor="t" anchorCtr="0">
            <a:noAutofit/>
          </a:bodyPr>
          <a:lstStyle/>
          <a:p>
            <a:pPr>
              <a:buClr>
                <a:schemeClr val="dk1"/>
              </a:buClr>
              <a:buSzPts val="1100"/>
            </a:pPr>
            <a:r>
              <a:rPr lang="en-US" sz="3067" b="1" dirty="0"/>
              <a:t>Instructor Demonstration</a:t>
            </a:r>
            <a:r>
              <a:rPr lang="en" sz="3067" b="1" dirty="0"/>
              <a:t>: </a:t>
            </a:r>
            <a:r>
              <a:rPr lang="en-US" sz="3067" b="1" dirty="0"/>
              <a:t>Loading Data</a:t>
            </a:r>
            <a:endParaRPr sz="3067" b="1" dirty="0"/>
          </a:p>
          <a:p>
            <a:pPr>
              <a:buClr>
                <a:schemeClr val="dk1"/>
              </a:buClr>
              <a:buSzPts val="1100"/>
            </a:pPr>
            <a:endParaRPr sz="3067" dirty="0">
              <a:latin typeface="Roboto Medium"/>
              <a:ea typeface="Roboto Medium"/>
              <a:cs typeface="Roboto Medium"/>
              <a:sym typeface="Roboto Medium"/>
            </a:endParaRPr>
          </a:p>
        </p:txBody>
      </p:sp>
      <p:sp>
        <p:nvSpPr>
          <p:cNvPr id="6" name="Rectangle 5">
            <a:extLst>
              <a:ext uri="{FF2B5EF4-FFF2-40B4-BE49-F238E27FC236}">
                <a16:creationId xmlns:a16="http://schemas.microsoft.com/office/drawing/2014/main" id="{7E26E8FB-5CDF-A9C2-62AB-B8EF12F5377E}"/>
              </a:ext>
            </a:extLst>
          </p:cNvPr>
          <p:cNvSpPr/>
          <p:nvPr/>
        </p:nvSpPr>
        <p:spPr>
          <a:xfrm>
            <a:off x="0" y="4684029"/>
            <a:ext cx="12192000" cy="1866837"/>
          </a:xfrm>
          <a:prstGeom prst="rect">
            <a:avLst/>
          </a:prstGeom>
          <a:solidFill>
            <a:srgbClr val="C09200">
              <a:alpha val="49804"/>
            </a:srgbClr>
          </a:solidFill>
          <a:ln>
            <a:solidFill>
              <a:srgbClr val="FFC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8" name="Picture 7" descr="A clock with a bell&#10;&#10;Description automatically generated">
            <a:extLst>
              <a:ext uri="{FF2B5EF4-FFF2-40B4-BE49-F238E27FC236}">
                <a16:creationId xmlns:a16="http://schemas.microsoft.com/office/drawing/2014/main" id="{88A25E8B-E337-29D4-2624-D9E613FFDA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6776" y="4730288"/>
            <a:ext cx="1474424" cy="1474424"/>
          </a:xfrm>
          <a:prstGeom prst="rect">
            <a:avLst/>
          </a:prstGeom>
        </p:spPr>
      </p:pic>
      <p:sp>
        <p:nvSpPr>
          <p:cNvPr id="9" name="TextBox 8">
            <a:extLst>
              <a:ext uri="{FF2B5EF4-FFF2-40B4-BE49-F238E27FC236}">
                <a16:creationId xmlns:a16="http://schemas.microsoft.com/office/drawing/2014/main" id="{78A1C98C-CBF1-4DF3-3F11-519189FD83DE}"/>
              </a:ext>
            </a:extLst>
          </p:cNvPr>
          <p:cNvSpPr txBox="1"/>
          <p:nvPr/>
        </p:nvSpPr>
        <p:spPr>
          <a:xfrm>
            <a:off x="7881257" y="5076100"/>
            <a:ext cx="2628119" cy="461665"/>
          </a:xfrm>
          <a:prstGeom prst="rect">
            <a:avLst/>
          </a:prstGeom>
          <a:noFill/>
        </p:spPr>
        <p:txBody>
          <a:bodyPr wrap="square" rtlCol="0">
            <a:spAutoFit/>
          </a:bodyPr>
          <a:lstStyle/>
          <a:p>
            <a:r>
              <a:rPr lang="en-US" sz="2400" b="1" dirty="0"/>
              <a:t>Suggested Time:</a:t>
            </a:r>
          </a:p>
        </p:txBody>
      </p:sp>
      <p:sp>
        <p:nvSpPr>
          <p:cNvPr id="10" name="TextBox 9">
            <a:extLst>
              <a:ext uri="{FF2B5EF4-FFF2-40B4-BE49-F238E27FC236}">
                <a16:creationId xmlns:a16="http://schemas.microsoft.com/office/drawing/2014/main" id="{AB896F87-EB2A-AA3D-0D4B-F4A66B100DCD}"/>
              </a:ext>
            </a:extLst>
          </p:cNvPr>
          <p:cNvSpPr txBox="1"/>
          <p:nvPr/>
        </p:nvSpPr>
        <p:spPr>
          <a:xfrm>
            <a:off x="8666492" y="5567098"/>
            <a:ext cx="2597547" cy="400110"/>
          </a:xfrm>
          <a:prstGeom prst="rect">
            <a:avLst/>
          </a:prstGeom>
          <a:noFill/>
        </p:spPr>
        <p:txBody>
          <a:bodyPr wrap="square" rtlCol="0">
            <a:spAutoFit/>
          </a:bodyPr>
          <a:lstStyle/>
          <a:p>
            <a:r>
              <a:rPr lang="en-US" sz="2000" dirty="0"/>
              <a:t>5 minutes </a:t>
            </a:r>
          </a:p>
        </p:txBody>
      </p:sp>
      <p:pic>
        <p:nvPicPr>
          <p:cNvPr id="12" name="Picture 11" descr="A person standing in front of a board&#10;&#10;Description automatically generated">
            <a:extLst>
              <a:ext uri="{FF2B5EF4-FFF2-40B4-BE49-F238E27FC236}">
                <a16:creationId xmlns:a16="http://schemas.microsoft.com/office/drawing/2014/main" id="{BDD304A6-4CD0-33A5-D245-AA55A57929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16991"/>
            <a:ext cx="3977456" cy="4067038"/>
          </a:xfrm>
          <a:prstGeom prst="rect">
            <a:avLst/>
          </a:prstGeom>
        </p:spPr>
      </p:pic>
    </p:spTree>
    <p:extLst>
      <p:ext uri="{BB962C8B-B14F-4D97-AF65-F5344CB8AC3E}">
        <p14:creationId xmlns:p14="http://schemas.microsoft.com/office/powerpoint/2010/main" val="817869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288C9CEB-61D7-7E5E-93FE-F36F690AB7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3604" y="643466"/>
            <a:ext cx="8704791" cy="5571067"/>
          </a:xfrm>
          <a:prstGeom prst="rect">
            <a:avLst/>
          </a:prstGeom>
        </p:spPr>
      </p:pic>
    </p:spTree>
    <p:extLst>
      <p:ext uri="{BB962C8B-B14F-4D97-AF65-F5344CB8AC3E}">
        <p14:creationId xmlns:p14="http://schemas.microsoft.com/office/powerpoint/2010/main" val="2525951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03C22E5D-14FA-E915-14B4-D8D7428406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8994" y="643466"/>
            <a:ext cx="8074011" cy="5571067"/>
          </a:xfrm>
          <a:prstGeom prst="rect">
            <a:avLst/>
          </a:prstGeom>
        </p:spPr>
      </p:pic>
    </p:spTree>
    <p:extLst>
      <p:ext uri="{BB962C8B-B14F-4D97-AF65-F5344CB8AC3E}">
        <p14:creationId xmlns:p14="http://schemas.microsoft.com/office/powerpoint/2010/main" val="293686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DA5BACD0-684B-2358-302F-137E7B3A4B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7028" y="643466"/>
            <a:ext cx="7477944" cy="5571067"/>
          </a:xfrm>
          <a:prstGeom prst="rect">
            <a:avLst/>
          </a:prstGeom>
        </p:spPr>
      </p:pic>
    </p:spTree>
    <p:extLst>
      <p:ext uri="{BB962C8B-B14F-4D97-AF65-F5344CB8AC3E}">
        <p14:creationId xmlns:p14="http://schemas.microsoft.com/office/powerpoint/2010/main" val="3717207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6A47CF22-DB95-E809-ACB4-AD3BEA4DC5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195" y="643466"/>
            <a:ext cx="10817609" cy="5571067"/>
          </a:xfrm>
          <a:prstGeom prst="rect">
            <a:avLst/>
          </a:prstGeom>
        </p:spPr>
      </p:pic>
    </p:spTree>
    <p:extLst>
      <p:ext uri="{BB962C8B-B14F-4D97-AF65-F5344CB8AC3E}">
        <p14:creationId xmlns:p14="http://schemas.microsoft.com/office/powerpoint/2010/main" val="2963838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12"/>
        <p:cNvGrpSpPr/>
        <p:nvPr/>
      </p:nvGrpSpPr>
      <p:grpSpPr>
        <a:xfrm>
          <a:off x="0" y="0"/>
          <a:ext cx="0" cy="0"/>
          <a:chOff x="0" y="0"/>
          <a:chExt cx="0" cy="0"/>
        </a:xfrm>
      </p:grpSpPr>
      <p:sp>
        <p:nvSpPr>
          <p:cNvPr id="6014" name="Google Shape;6014;p398"/>
          <p:cNvSpPr/>
          <p:nvPr/>
        </p:nvSpPr>
        <p:spPr>
          <a:xfrm>
            <a:off x="5751233" y="500743"/>
            <a:ext cx="6024000" cy="5321424"/>
          </a:xfrm>
          <a:prstGeom prst="rect">
            <a:avLst/>
          </a:prstGeom>
          <a:noFill/>
          <a:ln w="2857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609585" indent="-423323">
              <a:buSzPts val="1400"/>
              <a:buChar char="●"/>
            </a:pPr>
            <a:r>
              <a:rPr lang="en" sz="2400" dirty="0"/>
              <a:t>Creating visualizations in Tableau is nearly identical to creating pivot tables in Excel. Users </a:t>
            </a:r>
            <a:r>
              <a:rPr lang="en" sz="2400" b="1" dirty="0"/>
              <a:t>click and drag</a:t>
            </a:r>
            <a:r>
              <a:rPr lang="en" sz="2400" dirty="0"/>
              <a:t> the headers of their original dataset into specific fields—Columns, Rows, Filters, etc.—to create a chart</a:t>
            </a:r>
            <a:endParaRPr sz="2400" dirty="0"/>
          </a:p>
          <a:p>
            <a:pPr marL="609585"/>
            <a:endParaRPr sz="2400" dirty="0"/>
          </a:p>
          <a:p>
            <a:pPr marL="609585"/>
            <a:endParaRPr sz="2400" dirty="0"/>
          </a:p>
          <a:p>
            <a:pPr marL="609585" indent="-423323">
              <a:buSzPts val="1400"/>
              <a:buChar char="●"/>
            </a:pPr>
            <a:r>
              <a:rPr lang="en" sz="2400" b="1" dirty="0"/>
              <a:t>Vocabulary: </a:t>
            </a:r>
            <a:r>
              <a:rPr lang="en" sz="2400" i="1" dirty="0"/>
              <a:t>Dimensions </a:t>
            </a:r>
            <a:r>
              <a:rPr lang="en" sz="2400" dirty="0"/>
              <a:t>are categorical fields that can be used to split up data. </a:t>
            </a:r>
            <a:r>
              <a:rPr lang="en" sz="2400" i="1" dirty="0"/>
              <a:t>Measures </a:t>
            </a:r>
            <a:r>
              <a:rPr lang="en" sz="2400" dirty="0"/>
              <a:t>are the metrics or numbers that users would like to analyze.</a:t>
            </a:r>
            <a:endParaRPr sz="2400" dirty="0"/>
          </a:p>
        </p:txBody>
      </p:sp>
      <p:pic>
        <p:nvPicPr>
          <p:cNvPr id="6015" name="Google Shape;6015;p398"/>
          <p:cNvPicPr preferRelativeResize="0"/>
          <p:nvPr/>
        </p:nvPicPr>
        <p:blipFill>
          <a:blip r:embed="rId3">
            <a:alphaModFix/>
          </a:blip>
          <a:stretch>
            <a:fillRect/>
          </a:stretch>
        </p:blipFill>
        <p:spPr>
          <a:xfrm>
            <a:off x="483534" y="1343133"/>
            <a:ext cx="5023367" cy="470766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19"/>
        <p:cNvGrpSpPr/>
        <p:nvPr/>
      </p:nvGrpSpPr>
      <p:grpSpPr>
        <a:xfrm>
          <a:off x="0" y="0"/>
          <a:ext cx="0" cy="0"/>
          <a:chOff x="0" y="0"/>
          <a:chExt cx="0" cy="0"/>
        </a:xfrm>
      </p:grpSpPr>
      <p:sp>
        <p:nvSpPr>
          <p:cNvPr id="6020" name="Google Shape;6020;p399"/>
          <p:cNvSpPr txBox="1">
            <a:spLocks noGrp="1"/>
          </p:cNvSpPr>
          <p:nvPr>
            <p:ph type="title"/>
          </p:nvPr>
        </p:nvSpPr>
        <p:spPr>
          <a:xfrm>
            <a:off x="-16400" y="0"/>
            <a:ext cx="12224800" cy="711600"/>
          </a:xfrm>
          <a:prstGeom prst="rect">
            <a:avLst/>
          </a:prstGeom>
        </p:spPr>
        <p:txBody>
          <a:bodyPr spcFirstLastPara="1" vert="horz" wrap="square" lIns="609600" tIns="243833" rIns="365733" bIns="121900" rtlCol="0" anchor="t" anchorCtr="0">
            <a:noAutofit/>
          </a:bodyPr>
          <a:lstStyle/>
          <a:p>
            <a:pPr>
              <a:buSzPts val="990"/>
            </a:pPr>
            <a:r>
              <a:rPr lang="en" sz="3253"/>
              <a:t>Instructor Do: Building Basic Visuals</a:t>
            </a:r>
            <a:endParaRPr sz="3253" b="1">
              <a:latin typeface="Roboto"/>
              <a:ea typeface="Roboto"/>
              <a:cs typeface="Roboto"/>
              <a:sym typeface="Roboto"/>
            </a:endParaRPr>
          </a:p>
        </p:txBody>
      </p:sp>
      <p:sp>
        <p:nvSpPr>
          <p:cNvPr id="6021" name="Google Shape;6021;p399"/>
          <p:cNvSpPr/>
          <p:nvPr/>
        </p:nvSpPr>
        <p:spPr>
          <a:xfrm>
            <a:off x="5751233" y="1077686"/>
            <a:ext cx="6024000" cy="4551014"/>
          </a:xfrm>
          <a:prstGeom prst="rect">
            <a:avLst/>
          </a:prstGeom>
          <a:noFill/>
          <a:ln w="2857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609585" indent="-423323">
              <a:buSzPts val="1400"/>
              <a:buChar char="●"/>
            </a:pPr>
            <a:r>
              <a:rPr lang="en" sz="2400" dirty="0"/>
              <a:t>Drag the Store Id pill from the Dimensions panel into Rows. This creates a small table with the two store ids from the dataset.</a:t>
            </a:r>
            <a:endParaRPr sz="2400" dirty="0"/>
          </a:p>
          <a:p>
            <a:pPr marL="609585"/>
            <a:endParaRPr sz="2400" dirty="0"/>
          </a:p>
          <a:p>
            <a:pPr marL="609585"/>
            <a:endParaRPr sz="2400" dirty="0"/>
          </a:p>
          <a:p>
            <a:pPr marL="609585" indent="-423323">
              <a:buSzPts val="1400"/>
              <a:buChar char="●"/>
            </a:pPr>
            <a:r>
              <a:rPr lang="en" sz="2400" dirty="0"/>
              <a:t>By dragging Rating into Rows and placing it after the Store Id pill, the table is made slightly more complex. Now, each store id within the visualization has been split into five distinct parts</a:t>
            </a:r>
            <a:endParaRPr sz="2400" dirty="0"/>
          </a:p>
        </p:txBody>
      </p:sp>
      <p:pic>
        <p:nvPicPr>
          <p:cNvPr id="6022" name="Google Shape;6022;p399"/>
          <p:cNvPicPr preferRelativeResize="0"/>
          <p:nvPr/>
        </p:nvPicPr>
        <p:blipFill>
          <a:blip r:embed="rId3">
            <a:alphaModFix/>
          </a:blip>
          <a:stretch>
            <a:fillRect/>
          </a:stretch>
        </p:blipFill>
        <p:spPr>
          <a:xfrm>
            <a:off x="410101" y="1625501"/>
            <a:ext cx="5130500" cy="409656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94BF6D8-BAB7-4EB4-9B19-BB8B2F0F70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B233FAAD-5E0A-4FBB-9800-1DAEE5039A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2074490"/>
            <a:ext cx="12192000" cy="4783510"/>
          </a:xfrm>
          <a:custGeom>
            <a:avLst/>
            <a:gdLst>
              <a:gd name="connsiteX0" fmla="*/ 54039 w 12192000"/>
              <a:gd name="connsiteY0" fmla="*/ 133 h 4783510"/>
              <a:gd name="connsiteX1" fmla="*/ 83989 w 12192000"/>
              <a:gd name="connsiteY1" fmla="*/ 21326 h 4783510"/>
              <a:gd name="connsiteX2" fmla="*/ 127696 w 12192000"/>
              <a:gd name="connsiteY2" fmla="*/ 48217 h 4783510"/>
              <a:gd name="connsiteX3" fmla="*/ 195328 w 12192000"/>
              <a:gd name="connsiteY3" fmla="*/ 60745 h 4783510"/>
              <a:gd name="connsiteX4" fmla="*/ 217130 w 12192000"/>
              <a:gd name="connsiteY4" fmla="*/ 52754 h 4783510"/>
              <a:gd name="connsiteX5" fmla="*/ 232932 w 12192000"/>
              <a:gd name="connsiteY5" fmla="*/ 50560 h 4783510"/>
              <a:gd name="connsiteX6" fmla="*/ 296960 w 12192000"/>
              <a:gd name="connsiteY6" fmla="*/ 85674 h 4783510"/>
              <a:gd name="connsiteX7" fmla="*/ 329442 w 12192000"/>
              <a:gd name="connsiteY7" fmla="*/ 61820 h 4783510"/>
              <a:gd name="connsiteX8" fmla="*/ 386012 w 12192000"/>
              <a:gd name="connsiteY8" fmla="*/ 80741 h 4783510"/>
              <a:gd name="connsiteX9" fmla="*/ 425496 w 12192000"/>
              <a:gd name="connsiteY9" fmla="*/ 47729 h 4783510"/>
              <a:gd name="connsiteX10" fmla="*/ 459561 w 12192000"/>
              <a:gd name="connsiteY10" fmla="*/ 55824 h 4783510"/>
              <a:gd name="connsiteX11" fmla="*/ 559233 w 12192000"/>
              <a:gd name="connsiteY11" fmla="*/ 72799 h 4783510"/>
              <a:gd name="connsiteX12" fmla="*/ 661345 w 12192000"/>
              <a:gd name="connsiteY12" fmla="*/ 147481 h 4783510"/>
              <a:gd name="connsiteX13" fmla="*/ 725095 w 12192000"/>
              <a:gd name="connsiteY13" fmla="*/ 161274 h 4783510"/>
              <a:gd name="connsiteX14" fmla="*/ 755536 w 12192000"/>
              <a:gd name="connsiteY14" fmla="*/ 180724 h 4783510"/>
              <a:gd name="connsiteX15" fmla="*/ 776480 w 12192000"/>
              <a:gd name="connsiteY15" fmla="*/ 182273 h 4783510"/>
              <a:gd name="connsiteX16" fmla="*/ 789058 w 12192000"/>
              <a:gd name="connsiteY16" fmla="*/ 184824 h 4783510"/>
              <a:gd name="connsiteX17" fmla="*/ 811171 w 12192000"/>
              <a:gd name="connsiteY17" fmla="*/ 216295 h 4783510"/>
              <a:gd name="connsiteX18" fmla="*/ 878029 w 12192000"/>
              <a:gd name="connsiteY18" fmla="*/ 215023 h 4783510"/>
              <a:gd name="connsiteX19" fmla="*/ 884769 w 12192000"/>
              <a:gd name="connsiteY19" fmla="*/ 220986 h 4783510"/>
              <a:gd name="connsiteX20" fmla="*/ 884769 w 12192000"/>
              <a:gd name="connsiteY20" fmla="*/ 115817 h 4783510"/>
              <a:gd name="connsiteX21" fmla="*/ 11269135 w 12192000"/>
              <a:gd name="connsiteY21" fmla="*/ 115817 h 4783510"/>
              <a:gd name="connsiteX22" fmla="*/ 11269135 w 12192000"/>
              <a:gd name="connsiteY22" fmla="*/ 1154978 h 4783510"/>
              <a:gd name="connsiteX23" fmla="*/ 11276593 w 12192000"/>
              <a:gd name="connsiteY23" fmla="*/ 1158504 h 4783510"/>
              <a:gd name="connsiteX24" fmla="*/ 11298713 w 12192000"/>
              <a:gd name="connsiteY24" fmla="*/ 1157049 h 4783510"/>
              <a:gd name="connsiteX25" fmla="*/ 11380829 w 12192000"/>
              <a:gd name="connsiteY25" fmla="*/ 1144822 h 4783510"/>
              <a:gd name="connsiteX26" fmla="*/ 11402942 w 12192000"/>
              <a:gd name="connsiteY26" fmla="*/ 1113350 h 4783510"/>
              <a:gd name="connsiteX27" fmla="*/ 11415520 w 12192000"/>
              <a:gd name="connsiteY27" fmla="*/ 1110800 h 4783510"/>
              <a:gd name="connsiteX28" fmla="*/ 11436464 w 12192000"/>
              <a:gd name="connsiteY28" fmla="*/ 1109251 h 4783510"/>
              <a:gd name="connsiteX29" fmla="*/ 11466905 w 12192000"/>
              <a:gd name="connsiteY29" fmla="*/ 1089800 h 4783510"/>
              <a:gd name="connsiteX30" fmla="*/ 11530655 w 12192000"/>
              <a:gd name="connsiteY30" fmla="*/ 1076007 h 4783510"/>
              <a:gd name="connsiteX31" fmla="*/ 11632767 w 12192000"/>
              <a:gd name="connsiteY31" fmla="*/ 1001326 h 4783510"/>
              <a:gd name="connsiteX32" fmla="*/ 11732439 w 12192000"/>
              <a:gd name="connsiteY32" fmla="*/ 984350 h 4783510"/>
              <a:gd name="connsiteX33" fmla="*/ 11766504 w 12192000"/>
              <a:gd name="connsiteY33" fmla="*/ 976255 h 4783510"/>
              <a:gd name="connsiteX34" fmla="*/ 11805989 w 12192000"/>
              <a:gd name="connsiteY34" fmla="*/ 1009267 h 4783510"/>
              <a:gd name="connsiteX35" fmla="*/ 11862559 w 12192000"/>
              <a:gd name="connsiteY35" fmla="*/ 990346 h 4783510"/>
              <a:gd name="connsiteX36" fmla="*/ 11895040 w 12192000"/>
              <a:gd name="connsiteY36" fmla="*/ 1014200 h 4783510"/>
              <a:gd name="connsiteX37" fmla="*/ 11959068 w 12192000"/>
              <a:gd name="connsiteY37" fmla="*/ 979087 h 4783510"/>
              <a:gd name="connsiteX38" fmla="*/ 11974871 w 12192000"/>
              <a:gd name="connsiteY38" fmla="*/ 981280 h 4783510"/>
              <a:gd name="connsiteX39" fmla="*/ 11996673 w 12192000"/>
              <a:gd name="connsiteY39" fmla="*/ 989271 h 4783510"/>
              <a:gd name="connsiteX40" fmla="*/ 12064304 w 12192000"/>
              <a:gd name="connsiteY40" fmla="*/ 976743 h 4783510"/>
              <a:gd name="connsiteX41" fmla="*/ 12108011 w 12192000"/>
              <a:gd name="connsiteY41" fmla="*/ 949852 h 4783510"/>
              <a:gd name="connsiteX42" fmla="*/ 12137961 w 12192000"/>
              <a:gd name="connsiteY42" fmla="*/ 928659 h 4783510"/>
              <a:gd name="connsiteX43" fmla="*/ 12152392 w 12192000"/>
              <a:gd name="connsiteY43" fmla="*/ 940852 h 4783510"/>
              <a:gd name="connsiteX44" fmla="*/ 12187275 w 12192000"/>
              <a:gd name="connsiteY44" fmla="*/ 939175 h 4783510"/>
              <a:gd name="connsiteX45" fmla="*/ 12192000 w 12192000"/>
              <a:gd name="connsiteY45" fmla="*/ 932202 h 4783510"/>
              <a:gd name="connsiteX46" fmla="*/ 12192000 w 12192000"/>
              <a:gd name="connsiteY46" fmla="*/ 1423622 h 4783510"/>
              <a:gd name="connsiteX47" fmla="*/ 12192000 w 12192000"/>
              <a:gd name="connsiteY47" fmla="*/ 2783600 h 4783510"/>
              <a:gd name="connsiteX48" fmla="*/ 12192000 w 12192000"/>
              <a:gd name="connsiteY48" fmla="*/ 4783510 h 4783510"/>
              <a:gd name="connsiteX49" fmla="*/ 2 w 12192000"/>
              <a:gd name="connsiteY49" fmla="*/ 4783510 h 4783510"/>
              <a:gd name="connsiteX50" fmla="*/ 2 w 12192000"/>
              <a:gd name="connsiteY50" fmla="*/ 1855074 h 4783510"/>
              <a:gd name="connsiteX51" fmla="*/ 0 w 12192000"/>
              <a:gd name="connsiteY51" fmla="*/ 1855074 h 4783510"/>
              <a:gd name="connsiteX52" fmla="*/ 0 w 12192000"/>
              <a:gd name="connsiteY52" fmla="*/ 3676 h 4783510"/>
              <a:gd name="connsiteX53" fmla="*/ 4725 w 12192000"/>
              <a:gd name="connsiteY53" fmla="*/ 10649 h 4783510"/>
              <a:gd name="connsiteX54" fmla="*/ 39608 w 12192000"/>
              <a:gd name="connsiteY54" fmla="*/ 12325 h 4783510"/>
              <a:gd name="connsiteX55" fmla="*/ 54039 w 12192000"/>
              <a:gd name="connsiteY55" fmla="*/ 133 h 4783510"/>
              <a:gd name="connsiteX0" fmla="*/ 54039 w 12192000"/>
              <a:gd name="connsiteY0" fmla="*/ 133 h 4783510"/>
              <a:gd name="connsiteX1" fmla="*/ 83989 w 12192000"/>
              <a:gd name="connsiteY1" fmla="*/ 21326 h 4783510"/>
              <a:gd name="connsiteX2" fmla="*/ 127696 w 12192000"/>
              <a:gd name="connsiteY2" fmla="*/ 48217 h 4783510"/>
              <a:gd name="connsiteX3" fmla="*/ 195328 w 12192000"/>
              <a:gd name="connsiteY3" fmla="*/ 60745 h 4783510"/>
              <a:gd name="connsiteX4" fmla="*/ 217130 w 12192000"/>
              <a:gd name="connsiteY4" fmla="*/ 52754 h 4783510"/>
              <a:gd name="connsiteX5" fmla="*/ 232932 w 12192000"/>
              <a:gd name="connsiteY5" fmla="*/ 50560 h 4783510"/>
              <a:gd name="connsiteX6" fmla="*/ 296960 w 12192000"/>
              <a:gd name="connsiteY6" fmla="*/ 85674 h 4783510"/>
              <a:gd name="connsiteX7" fmla="*/ 329442 w 12192000"/>
              <a:gd name="connsiteY7" fmla="*/ 61820 h 4783510"/>
              <a:gd name="connsiteX8" fmla="*/ 386012 w 12192000"/>
              <a:gd name="connsiteY8" fmla="*/ 80741 h 4783510"/>
              <a:gd name="connsiteX9" fmla="*/ 425496 w 12192000"/>
              <a:gd name="connsiteY9" fmla="*/ 47729 h 4783510"/>
              <a:gd name="connsiteX10" fmla="*/ 459561 w 12192000"/>
              <a:gd name="connsiteY10" fmla="*/ 55824 h 4783510"/>
              <a:gd name="connsiteX11" fmla="*/ 559233 w 12192000"/>
              <a:gd name="connsiteY11" fmla="*/ 72799 h 4783510"/>
              <a:gd name="connsiteX12" fmla="*/ 661345 w 12192000"/>
              <a:gd name="connsiteY12" fmla="*/ 147481 h 4783510"/>
              <a:gd name="connsiteX13" fmla="*/ 725095 w 12192000"/>
              <a:gd name="connsiteY13" fmla="*/ 161274 h 4783510"/>
              <a:gd name="connsiteX14" fmla="*/ 755536 w 12192000"/>
              <a:gd name="connsiteY14" fmla="*/ 180724 h 4783510"/>
              <a:gd name="connsiteX15" fmla="*/ 776480 w 12192000"/>
              <a:gd name="connsiteY15" fmla="*/ 182273 h 4783510"/>
              <a:gd name="connsiteX16" fmla="*/ 789058 w 12192000"/>
              <a:gd name="connsiteY16" fmla="*/ 184824 h 4783510"/>
              <a:gd name="connsiteX17" fmla="*/ 811171 w 12192000"/>
              <a:gd name="connsiteY17" fmla="*/ 216295 h 4783510"/>
              <a:gd name="connsiteX18" fmla="*/ 878029 w 12192000"/>
              <a:gd name="connsiteY18" fmla="*/ 215023 h 4783510"/>
              <a:gd name="connsiteX19" fmla="*/ 884769 w 12192000"/>
              <a:gd name="connsiteY19" fmla="*/ 220986 h 4783510"/>
              <a:gd name="connsiteX20" fmla="*/ 884769 w 12192000"/>
              <a:gd name="connsiteY20" fmla="*/ 115817 h 4783510"/>
              <a:gd name="connsiteX21" fmla="*/ 9012952 w 12192000"/>
              <a:gd name="connsiteY21" fmla="*/ 1139547 h 4783510"/>
              <a:gd name="connsiteX22" fmla="*/ 11269135 w 12192000"/>
              <a:gd name="connsiteY22" fmla="*/ 1154978 h 4783510"/>
              <a:gd name="connsiteX23" fmla="*/ 11276593 w 12192000"/>
              <a:gd name="connsiteY23" fmla="*/ 1158504 h 4783510"/>
              <a:gd name="connsiteX24" fmla="*/ 11298713 w 12192000"/>
              <a:gd name="connsiteY24" fmla="*/ 1157049 h 4783510"/>
              <a:gd name="connsiteX25" fmla="*/ 11380829 w 12192000"/>
              <a:gd name="connsiteY25" fmla="*/ 1144822 h 4783510"/>
              <a:gd name="connsiteX26" fmla="*/ 11402942 w 12192000"/>
              <a:gd name="connsiteY26" fmla="*/ 1113350 h 4783510"/>
              <a:gd name="connsiteX27" fmla="*/ 11415520 w 12192000"/>
              <a:gd name="connsiteY27" fmla="*/ 1110800 h 4783510"/>
              <a:gd name="connsiteX28" fmla="*/ 11436464 w 12192000"/>
              <a:gd name="connsiteY28" fmla="*/ 1109251 h 4783510"/>
              <a:gd name="connsiteX29" fmla="*/ 11466905 w 12192000"/>
              <a:gd name="connsiteY29" fmla="*/ 1089800 h 4783510"/>
              <a:gd name="connsiteX30" fmla="*/ 11530655 w 12192000"/>
              <a:gd name="connsiteY30" fmla="*/ 1076007 h 4783510"/>
              <a:gd name="connsiteX31" fmla="*/ 11632767 w 12192000"/>
              <a:gd name="connsiteY31" fmla="*/ 1001326 h 4783510"/>
              <a:gd name="connsiteX32" fmla="*/ 11732439 w 12192000"/>
              <a:gd name="connsiteY32" fmla="*/ 984350 h 4783510"/>
              <a:gd name="connsiteX33" fmla="*/ 11766504 w 12192000"/>
              <a:gd name="connsiteY33" fmla="*/ 976255 h 4783510"/>
              <a:gd name="connsiteX34" fmla="*/ 11805989 w 12192000"/>
              <a:gd name="connsiteY34" fmla="*/ 1009267 h 4783510"/>
              <a:gd name="connsiteX35" fmla="*/ 11862559 w 12192000"/>
              <a:gd name="connsiteY35" fmla="*/ 990346 h 4783510"/>
              <a:gd name="connsiteX36" fmla="*/ 11895040 w 12192000"/>
              <a:gd name="connsiteY36" fmla="*/ 1014200 h 4783510"/>
              <a:gd name="connsiteX37" fmla="*/ 11959068 w 12192000"/>
              <a:gd name="connsiteY37" fmla="*/ 979087 h 4783510"/>
              <a:gd name="connsiteX38" fmla="*/ 11974871 w 12192000"/>
              <a:gd name="connsiteY38" fmla="*/ 981280 h 4783510"/>
              <a:gd name="connsiteX39" fmla="*/ 11996673 w 12192000"/>
              <a:gd name="connsiteY39" fmla="*/ 989271 h 4783510"/>
              <a:gd name="connsiteX40" fmla="*/ 12064304 w 12192000"/>
              <a:gd name="connsiteY40" fmla="*/ 976743 h 4783510"/>
              <a:gd name="connsiteX41" fmla="*/ 12108011 w 12192000"/>
              <a:gd name="connsiteY41" fmla="*/ 949852 h 4783510"/>
              <a:gd name="connsiteX42" fmla="*/ 12137961 w 12192000"/>
              <a:gd name="connsiteY42" fmla="*/ 928659 h 4783510"/>
              <a:gd name="connsiteX43" fmla="*/ 12152392 w 12192000"/>
              <a:gd name="connsiteY43" fmla="*/ 940852 h 4783510"/>
              <a:gd name="connsiteX44" fmla="*/ 12187275 w 12192000"/>
              <a:gd name="connsiteY44" fmla="*/ 939175 h 4783510"/>
              <a:gd name="connsiteX45" fmla="*/ 12192000 w 12192000"/>
              <a:gd name="connsiteY45" fmla="*/ 932202 h 4783510"/>
              <a:gd name="connsiteX46" fmla="*/ 12192000 w 12192000"/>
              <a:gd name="connsiteY46" fmla="*/ 1423622 h 4783510"/>
              <a:gd name="connsiteX47" fmla="*/ 12192000 w 12192000"/>
              <a:gd name="connsiteY47" fmla="*/ 2783600 h 4783510"/>
              <a:gd name="connsiteX48" fmla="*/ 12192000 w 12192000"/>
              <a:gd name="connsiteY48" fmla="*/ 4783510 h 4783510"/>
              <a:gd name="connsiteX49" fmla="*/ 2 w 12192000"/>
              <a:gd name="connsiteY49" fmla="*/ 4783510 h 4783510"/>
              <a:gd name="connsiteX50" fmla="*/ 2 w 12192000"/>
              <a:gd name="connsiteY50" fmla="*/ 1855074 h 4783510"/>
              <a:gd name="connsiteX51" fmla="*/ 0 w 12192000"/>
              <a:gd name="connsiteY51" fmla="*/ 1855074 h 4783510"/>
              <a:gd name="connsiteX52" fmla="*/ 0 w 12192000"/>
              <a:gd name="connsiteY52" fmla="*/ 3676 h 4783510"/>
              <a:gd name="connsiteX53" fmla="*/ 4725 w 12192000"/>
              <a:gd name="connsiteY53" fmla="*/ 10649 h 4783510"/>
              <a:gd name="connsiteX54" fmla="*/ 39608 w 12192000"/>
              <a:gd name="connsiteY54" fmla="*/ 12325 h 4783510"/>
              <a:gd name="connsiteX55" fmla="*/ 54039 w 12192000"/>
              <a:gd name="connsiteY55" fmla="*/ 133 h 4783510"/>
              <a:gd name="connsiteX0" fmla="*/ 54039 w 12192000"/>
              <a:gd name="connsiteY0" fmla="*/ 133 h 4783510"/>
              <a:gd name="connsiteX1" fmla="*/ 83989 w 12192000"/>
              <a:gd name="connsiteY1" fmla="*/ 21326 h 4783510"/>
              <a:gd name="connsiteX2" fmla="*/ 127696 w 12192000"/>
              <a:gd name="connsiteY2" fmla="*/ 48217 h 4783510"/>
              <a:gd name="connsiteX3" fmla="*/ 195328 w 12192000"/>
              <a:gd name="connsiteY3" fmla="*/ 60745 h 4783510"/>
              <a:gd name="connsiteX4" fmla="*/ 217130 w 12192000"/>
              <a:gd name="connsiteY4" fmla="*/ 52754 h 4783510"/>
              <a:gd name="connsiteX5" fmla="*/ 232932 w 12192000"/>
              <a:gd name="connsiteY5" fmla="*/ 50560 h 4783510"/>
              <a:gd name="connsiteX6" fmla="*/ 296960 w 12192000"/>
              <a:gd name="connsiteY6" fmla="*/ 85674 h 4783510"/>
              <a:gd name="connsiteX7" fmla="*/ 329442 w 12192000"/>
              <a:gd name="connsiteY7" fmla="*/ 61820 h 4783510"/>
              <a:gd name="connsiteX8" fmla="*/ 386012 w 12192000"/>
              <a:gd name="connsiteY8" fmla="*/ 80741 h 4783510"/>
              <a:gd name="connsiteX9" fmla="*/ 425496 w 12192000"/>
              <a:gd name="connsiteY9" fmla="*/ 47729 h 4783510"/>
              <a:gd name="connsiteX10" fmla="*/ 459561 w 12192000"/>
              <a:gd name="connsiteY10" fmla="*/ 55824 h 4783510"/>
              <a:gd name="connsiteX11" fmla="*/ 559233 w 12192000"/>
              <a:gd name="connsiteY11" fmla="*/ 72799 h 4783510"/>
              <a:gd name="connsiteX12" fmla="*/ 661345 w 12192000"/>
              <a:gd name="connsiteY12" fmla="*/ 147481 h 4783510"/>
              <a:gd name="connsiteX13" fmla="*/ 725095 w 12192000"/>
              <a:gd name="connsiteY13" fmla="*/ 161274 h 4783510"/>
              <a:gd name="connsiteX14" fmla="*/ 755536 w 12192000"/>
              <a:gd name="connsiteY14" fmla="*/ 180724 h 4783510"/>
              <a:gd name="connsiteX15" fmla="*/ 776480 w 12192000"/>
              <a:gd name="connsiteY15" fmla="*/ 182273 h 4783510"/>
              <a:gd name="connsiteX16" fmla="*/ 789058 w 12192000"/>
              <a:gd name="connsiteY16" fmla="*/ 184824 h 4783510"/>
              <a:gd name="connsiteX17" fmla="*/ 811171 w 12192000"/>
              <a:gd name="connsiteY17" fmla="*/ 216295 h 4783510"/>
              <a:gd name="connsiteX18" fmla="*/ 878029 w 12192000"/>
              <a:gd name="connsiteY18" fmla="*/ 215023 h 4783510"/>
              <a:gd name="connsiteX19" fmla="*/ 884769 w 12192000"/>
              <a:gd name="connsiteY19" fmla="*/ 220986 h 4783510"/>
              <a:gd name="connsiteX20" fmla="*/ 1600387 w 12192000"/>
              <a:gd name="connsiteY20" fmla="*/ 354356 h 4783510"/>
              <a:gd name="connsiteX21" fmla="*/ 9012952 w 12192000"/>
              <a:gd name="connsiteY21" fmla="*/ 1139547 h 4783510"/>
              <a:gd name="connsiteX22" fmla="*/ 11269135 w 12192000"/>
              <a:gd name="connsiteY22" fmla="*/ 1154978 h 4783510"/>
              <a:gd name="connsiteX23" fmla="*/ 11276593 w 12192000"/>
              <a:gd name="connsiteY23" fmla="*/ 1158504 h 4783510"/>
              <a:gd name="connsiteX24" fmla="*/ 11298713 w 12192000"/>
              <a:gd name="connsiteY24" fmla="*/ 1157049 h 4783510"/>
              <a:gd name="connsiteX25" fmla="*/ 11380829 w 12192000"/>
              <a:gd name="connsiteY25" fmla="*/ 1144822 h 4783510"/>
              <a:gd name="connsiteX26" fmla="*/ 11402942 w 12192000"/>
              <a:gd name="connsiteY26" fmla="*/ 1113350 h 4783510"/>
              <a:gd name="connsiteX27" fmla="*/ 11415520 w 12192000"/>
              <a:gd name="connsiteY27" fmla="*/ 1110800 h 4783510"/>
              <a:gd name="connsiteX28" fmla="*/ 11436464 w 12192000"/>
              <a:gd name="connsiteY28" fmla="*/ 1109251 h 4783510"/>
              <a:gd name="connsiteX29" fmla="*/ 11466905 w 12192000"/>
              <a:gd name="connsiteY29" fmla="*/ 1089800 h 4783510"/>
              <a:gd name="connsiteX30" fmla="*/ 11530655 w 12192000"/>
              <a:gd name="connsiteY30" fmla="*/ 1076007 h 4783510"/>
              <a:gd name="connsiteX31" fmla="*/ 11632767 w 12192000"/>
              <a:gd name="connsiteY31" fmla="*/ 1001326 h 4783510"/>
              <a:gd name="connsiteX32" fmla="*/ 11732439 w 12192000"/>
              <a:gd name="connsiteY32" fmla="*/ 984350 h 4783510"/>
              <a:gd name="connsiteX33" fmla="*/ 11766504 w 12192000"/>
              <a:gd name="connsiteY33" fmla="*/ 976255 h 4783510"/>
              <a:gd name="connsiteX34" fmla="*/ 11805989 w 12192000"/>
              <a:gd name="connsiteY34" fmla="*/ 1009267 h 4783510"/>
              <a:gd name="connsiteX35" fmla="*/ 11862559 w 12192000"/>
              <a:gd name="connsiteY35" fmla="*/ 990346 h 4783510"/>
              <a:gd name="connsiteX36" fmla="*/ 11895040 w 12192000"/>
              <a:gd name="connsiteY36" fmla="*/ 1014200 h 4783510"/>
              <a:gd name="connsiteX37" fmla="*/ 11959068 w 12192000"/>
              <a:gd name="connsiteY37" fmla="*/ 979087 h 4783510"/>
              <a:gd name="connsiteX38" fmla="*/ 11974871 w 12192000"/>
              <a:gd name="connsiteY38" fmla="*/ 981280 h 4783510"/>
              <a:gd name="connsiteX39" fmla="*/ 11996673 w 12192000"/>
              <a:gd name="connsiteY39" fmla="*/ 989271 h 4783510"/>
              <a:gd name="connsiteX40" fmla="*/ 12064304 w 12192000"/>
              <a:gd name="connsiteY40" fmla="*/ 976743 h 4783510"/>
              <a:gd name="connsiteX41" fmla="*/ 12108011 w 12192000"/>
              <a:gd name="connsiteY41" fmla="*/ 949852 h 4783510"/>
              <a:gd name="connsiteX42" fmla="*/ 12137961 w 12192000"/>
              <a:gd name="connsiteY42" fmla="*/ 928659 h 4783510"/>
              <a:gd name="connsiteX43" fmla="*/ 12152392 w 12192000"/>
              <a:gd name="connsiteY43" fmla="*/ 940852 h 4783510"/>
              <a:gd name="connsiteX44" fmla="*/ 12187275 w 12192000"/>
              <a:gd name="connsiteY44" fmla="*/ 939175 h 4783510"/>
              <a:gd name="connsiteX45" fmla="*/ 12192000 w 12192000"/>
              <a:gd name="connsiteY45" fmla="*/ 932202 h 4783510"/>
              <a:gd name="connsiteX46" fmla="*/ 12192000 w 12192000"/>
              <a:gd name="connsiteY46" fmla="*/ 1423622 h 4783510"/>
              <a:gd name="connsiteX47" fmla="*/ 12192000 w 12192000"/>
              <a:gd name="connsiteY47" fmla="*/ 2783600 h 4783510"/>
              <a:gd name="connsiteX48" fmla="*/ 12192000 w 12192000"/>
              <a:gd name="connsiteY48" fmla="*/ 4783510 h 4783510"/>
              <a:gd name="connsiteX49" fmla="*/ 2 w 12192000"/>
              <a:gd name="connsiteY49" fmla="*/ 4783510 h 4783510"/>
              <a:gd name="connsiteX50" fmla="*/ 2 w 12192000"/>
              <a:gd name="connsiteY50" fmla="*/ 1855074 h 4783510"/>
              <a:gd name="connsiteX51" fmla="*/ 0 w 12192000"/>
              <a:gd name="connsiteY51" fmla="*/ 1855074 h 4783510"/>
              <a:gd name="connsiteX52" fmla="*/ 0 w 12192000"/>
              <a:gd name="connsiteY52" fmla="*/ 3676 h 4783510"/>
              <a:gd name="connsiteX53" fmla="*/ 4725 w 12192000"/>
              <a:gd name="connsiteY53" fmla="*/ 10649 h 4783510"/>
              <a:gd name="connsiteX54" fmla="*/ 39608 w 12192000"/>
              <a:gd name="connsiteY54" fmla="*/ 12325 h 4783510"/>
              <a:gd name="connsiteX55" fmla="*/ 54039 w 12192000"/>
              <a:gd name="connsiteY55" fmla="*/ 133 h 4783510"/>
              <a:gd name="connsiteX0" fmla="*/ 54039 w 12192000"/>
              <a:gd name="connsiteY0" fmla="*/ 133 h 4783510"/>
              <a:gd name="connsiteX1" fmla="*/ 83989 w 12192000"/>
              <a:gd name="connsiteY1" fmla="*/ 21326 h 4783510"/>
              <a:gd name="connsiteX2" fmla="*/ 127696 w 12192000"/>
              <a:gd name="connsiteY2" fmla="*/ 48217 h 4783510"/>
              <a:gd name="connsiteX3" fmla="*/ 195328 w 12192000"/>
              <a:gd name="connsiteY3" fmla="*/ 60745 h 4783510"/>
              <a:gd name="connsiteX4" fmla="*/ 217130 w 12192000"/>
              <a:gd name="connsiteY4" fmla="*/ 52754 h 4783510"/>
              <a:gd name="connsiteX5" fmla="*/ 232932 w 12192000"/>
              <a:gd name="connsiteY5" fmla="*/ 50560 h 4783510"/>
              <a:gd name="connsiteX6" fmla="*/ 296960 w 12192000"/>
              <a:gd name="connsiteY6" fmla="*/ 85674 h 4783510"/>
              <a:gd name="connsiteX7" fmla="*/ 329442 w 12192000"/>
              <a:gd name="connsiteY7" fmla="*/ 61820 h 4783510"/>
              <a:gd name="connsiteX8" fmla="*/ 386012 w 12192000"/>
              <a:gd name="connsiteY8" fmla="*/ 80741 h 4783510"/>
              <a:gd name="connsiteX9" fmla="*/ 425496 w 12192000"/>
              <a:gd name="connsiteY9" fmla="*/ 47729 h 4783510"/>
              <a:gd name="connsiteX10" fmla="*/ 459561 w 12192000"/>
              <a:gd name="connsiteY10" fmla="*/ 55824 h 4783510"/>
              <a:gd name="connsiteX11" fmla="*/ 559233 w 12192000"/>
              <a:gd name="connsiteY11" fmla="*/ 72799 h 4783510"/>
              <a:gd name="connsiteX12" fmla="*/ 661345 w 12192000"/>
              <a:gd name="connsiteY12" fmla="*/ 147481 h 4783510"/>
              <a:gd name="connsiteX13" fmla="*/ 725095 w 12192000"/>
              <a:gd name="connsiteY13" fmla="*/ 161274 h 4783510"/>
              <a:gd name="connsiteX14" fmla="*/ 755536 w 12192000"/>
              <a:gd name="connsiteY14" fmla="*/ 180724 h 4783510"/>
              <a:gd name="connsiteX15" fmla="*/ 776480 w 12192000"/>
              <a:gd name="connsiteY15" fmla="*/ 182273 h 4783510"/>
              <a:gd name="connsiteX16" fmla="*/ 789058 w 12192000"/>
              <a:gd name="connsiteY16" fmla="*/ 184824 h 4783510"/>
              <a:gd name="connsiteX17" fmla="*/ 811171 w 12192000"/>
              <a:gd name="connsiteY17" fmla="*/ 216295 h 4783510"/>
              <a:gd name="connsiteX18" fmla="*/ 878029 w 12192000"/>
              <a:gd name="connsiteY18" fmla="*/ 215023 h 4783510"/>
              <a:gd name="connsiteX19" fmla="*/ 884769 w 12192000"/>
              <a:gd name="connsiteY19" fmla="*/ 220986 h 4783510"/>
              <a:gd name="connsiteX20" fmla="*/ 1600387 w 12192000"/>
              <a:gd name="connsiteY20" fmla="*/ 354356 h 4783510"/>
              <a:gd name="connsiteX21" fmla="*/ 9012952 w 12192000"/>
              <a:gd name="connsiteY21" fmla="*/ 1139547 h 4783510"/>
              <a:gd name="connsiteX22" fmla="*/ 11269135 w 12192000"/>
              <a:gd name="connsiteY22" fmla="*/ 1154978 h 4783510"/>
              <a:gd name="connsiteX23" fmla="*/ 11276593 w 12192000"/>
              <a:gd name="connsiteY23" fmla="*/ 1158504 h 4783510"/>
              <a:gd name="connsiteX24" fmla="*/ 11298713 w 12192000"/>
              <a:gd name="connsiteY24" fmla="*/ 1157049 h 4783510"/>
              <a:gd name="connsiteX25" fmla="*/ 11380829 w 12192000"/>
              <a:gd name="connsiteY25" fmla="*/ 1144822 h 4783510"/>
              <a:gd name="connsiteX26" fmla="*/ 11402942 w 12192000"/>
              <a:gd name="connsiteY26" fmla="*/ 1113350 h 4783510"/>
              <a:gd name="connsiteX27" fmla="*/ 11415520 w 12192000"/>
              <a:gd name="connsiteY27" fmla="*/ 1110800 h 4783510"/>
              <a:gd name="connsiteX28" fmla="*/ 11436464 w 12192000"/>
              <a:gd name="connsiteY28" fmla="*/ 1109251 h 4783510"/>
              <a:gd name="connsiteX29" fmla="*/ 11466905 w 12192000"/>
              <a:gd name="connsiteY29" fmla="*/ 1089800 h 4783510"/>
              <a:gd name="connsiteX30" fmla="*/ 11530655 w 12192000"/>
              <a:gd name="connsiteY30" fmla="*/ 1076007 h 4783510"/>
              <a:gd name="connsiteX31" fmla="*/ 11632767 w 12192000"/>
              <a:gd name="connsiteY31" fmla="*/ 1001326 h 4783510"/>
              <a:gd name="connsiteX32" fmla="*/ 11732439 w 12192000"/>
              <a:gd name="connsiteY32" fmla="*/ 984350 h 4783510"/>
              <a:gd name="connsiteX33" fmla="*/ 11766504 w 12192000"/>
              <a:gd name="connsiteY33" fmla="*/ 976255 h 4783510"/>
              <a:gd name="connsiteX34" fmla="*/ 11805989 w 12192000"/>
              <a:gd name="connsiteY34" fmla="*/ 1009267 h 4783510"/>
              <a:gd name="connsiteX35" fmla="*/ 11895040 w 12192000"/>
              <a:gd name="connsiteY35" fmla="*/ 1014200 h 4783510"/>
              <a:gd name="connsiteX36" fmla="*/ 11959068 w 12192000"/>
              <a:gd name="connsiteY36" fmla="*/ 979087 h 4783510"/>
              <a:gd name="connsiteX37" fmla="*/ 11974871 w 12192000"/>
              <a:gd name="connsiteY37" fmla="*/ 981280 h 4783510"/>
              <a:gd name="connsiteX38" fmla="*/ 11996673 w 12192000"/>
              <a:gd name="connsiteY38" fmla="*/ 989271 h 4783510"/>
              <a:gd name="connsiteX39" fmla="*/ 12064304 w 12192000"/>
              <a:gd name="connsiteY39" fmla="*/ 976743 h 4783510"/>
              <a:gd name="connsiteX40" fmla="*/ 12108011 w 12192000"/>
              <a:gd name="connsiteY40" fmla="*/ 949852 h 4783510"/>
              <a:gd name="connsiteX41" fmla="*/ 12137961 w 12192000"/>
              <a:gd name="connsiteY41" fmla="*/ 928659 h 4783510"/>
              <a:gd name="connsiteX42" fmla="*/ 12152392 w 12192000"/>
              <a:gd name="connsiteY42" fmla="*/ 940852 h 4783510"/>
              <a:gd name="connsiteX43" fmla="*/ 12187275 w 12192000"/>
              <a:gd name="connsiteY43" fmla="*/ 939175 h 4783510"/>
              <a:gd name="connsiteX44" fmla="*/ 12192000 w 12192000"/>
              <a:gd name="connsiteY44" fmla="*/ 932202 h 4783510"/>
              <a:gd name="connsiteX45" fmla="*/ 12192000 w 12192000"/>
              <a:gd name="connsiteY45" fmla="*/ 1423622 h 4783510"/>
              <a:gd name="connsiteX46" fmla="*/ 12192000 w 12192000"/>
              <a:gd name="connsiteY46" fmla="*/ 2783600 h 4783510"/>
              <a:gd name="connsiteX47" fmla="*/ 12192000 w 12192000"/>
              <a:gd name="connsiteY47" fmla="*/ 4783510 h 4783510"/>
              <a:gd name="connsiteX48" fmla="*/ 2 w 12192000"/>
              <a:gd name="connsiteY48" fmla="*/ 4783510 h 4783510"/>
              <a:gd name="connsiteX49" fmla="*/ 2 w 12192000"/>
              <a:gd name="connsiteY49" fmla="*/ 1855074 h 4783510"/>
              <a:gd name="connsiteX50" fmla="*/ 0 w 12192000"/>
              <a:gd name="connsiteY50" fmla="*/ 1855074 h 4783510"/>
              <a:gd name="connsiteX51" fmla="*/ 0 w 12192000"/>
              <a:gd name="connsiteY51" fmla="*/ 3676 h 4783510"/>
              <a:gd name="connsiteX52" fmla="*/ 4725 w 12192000"/>
              <a:gd name="connsiteY52" fmla="*/ 10649 h 4783510"/>
              <a:gd name="connsiteX53" fmla="*/ 39608 w 12192000"/>
              <a:gd name="connsiteY53" fmla="*/ 12325 h 4783510"/>
              <a:gd name="connsiteX54" fmla="*/ 54039 w 12192000"/>
              <a:gd name="connsiteY54" fmla="*/ 133 h 4783510"/>
              <a:gd name="connsiteX0" fmla="*/ 54039 w 12192000"/>
              <a:gd name="connsiteY0" fmla="*/ 133 h 4783510"/>
              <a:gd name="connsiteX1" fmla="*/ 83989 w 12192000"/>
              <a:gd name="connsiteY1" fmla="*/ 21326 h 4783510"/>
              <a:gd name="connsiteX2" fmla="*/ 127696 w 12192000"/>
              <a:gd name="connsiteY2" fmla="*/ 48217 h 4783510"/>
              <a:gd name="connsiteX3" fmla="*/ 195328 w 12192000"/>
              <a:gd name="connsiteY3" fmla="*/ 60745 h 4783510"/>
              <a:gd name="connsiteX4" fmla="*/ 217130 w 12192000"/>
              <a:gd name="connsiteY4" fmla="*/ 52754 h 4783510"/>
              <a:gd name="connsiteX5" fmla="*/ 232932 w 12192000"/>
              <a:gd name="connsiteY5" fmla="*/ 50560 h 4783510"/>
              <a:gd name="connsiteX6" fmla="*/ 296960 w 12192000"/>
              <a:gd name="connsiteY6" fmla="*/ 85674 h 4783510"/>
              <a:gd name="connsiteX7" fmla="*/ 329442 w 12192000"/>
              <a:gd name="connsiteY7" fmla="*/ 61820 h 4783510"/>
              <a:gd name="connsiteX8" fmla="*/ 386012 w 12192000"/>
              <a:gd name="connsiteY8" fmla="*/ 80741 h 4783510"/>
              <a:gd name="connsiteX9" fmla="*/ 425496 w 12192000"/>
              <a:gd name="connsiteY9" fmla="*/ 47729 h 4783510"/>
              <a:gd name="connsiteX10" fmla="*/ 459561 w 12192000"/>
              <a:gd name="connsiteY10" fmla="*/ 55824 h 4783510"/>
              <a:gd name="connsiteX11" fmla="*/ 559233 w 12192000"/>
              <a:gd name="connsiteY11" fmla="*/ 72799 h 4783510"/>
              <a:gd name="connsiteX12" fmla="*/ 661345 w 12192000"/>
              <a:gd name="connsiteY12" fmla="*/ 147481 h 4783510"/>
              <a:gd name="connsiteX13" fmla="*/ 725095 w 12192000"/>
              <a:gd name="connsiteY13" fmla="*/ 161274 h 4783510"/>
              <a:gd name="connsiteX14" fmla="*/ 755536 w 12192000"/>
              <a:gd name="connsiteY14" fmla="*/ 180724 h 4783510"/>
              <a:gd name="connsiteX15" fmla="*/ 776480 w 12192000"/>
              <a:gd name="connsiteY15" fmla="*/ 182273 h 4783510"/>
              <a:gd name="connsiteX16" fmla="*/ 789058 w 12192000"/>
              <a:gd name="connsiteY16" fmla="*/ 184824 h 4783510"/>
              <a:gd name="connsiteX17" fmla="*/ 811171 w 12192000"/>
              <a:gd name="connsiteY17" fmla="*/ 216295 h 4783510"/>
              <a:gd name="connsiteX18" fmla="*/ 878029 w 12192000"/>
              <a:gd name="connsiteY18" fmla="*/ 215023 h 4783510"/>
              <a:gd name="connsiteX19" fmla="*/ 884769 w 12192000"/>
              <a:gd name="connsiteY19" fmla="*/ 220986 h 4783510"/>
              <a:gd name="connsiteX20" fmla="*/ 1600387 w 12192000"/>
              <a:gd name="connsiteY20" fmla="*/ 354356 h 4783510"/>
              <a:gd name="connsiteX21" fmla="*/ 9012952 w 12192000"/>
              <a:gd name="connsiteY21" fmla="*/ 1139547 h 4783510"/>
              <a:gd name="connsiteX22" fmla="*/ 11269135 w 12192000"/>
              <a:gd name="connsiteY22" fmla="*/ 1154978 h 4783510"/>
              <a:gd name="connsiteX23" fmla="*/ 11276593 w 12192000"/>
              <a:gd name="connsiteY23" fmla="*/ 1158504 h 4783510"/>
              <a:gd name="connsiteX24" fmla="*/ 11298713 w 12192000"/>
              <a:gd name="connsiteY24" fmla="*/ 1157049 h 4783510"/>
              <a:gd name="connsiteX25" fmla="*/ 11380829 w 12192000"/>
              <a:gd name="connsiteY25" fmla="*/ 1144822 h 4783510"/>
              <a:gd name="connsiteX26" fmla="*/ 11402942 w 12192000"/>
              <a:gd name="connsiteY26" fmla="*/ 1113350 h 4783510"/>
              <a:gd name="connsiteX27" fmla="*/ 11415520 w 12192000"/>
              <a:gd name="connsiteY27" fmla="*/ 1110800 h 4783510"/>
              <a:gd name="connsiteX28" fmla="*/ 11436464 w 12192000"/>
              <a:gd name="connsiteY28" fmla="*/ 1109251 h 4783510"/>
              <a:gd name="connsiteX29" fmla="*/ 11466905 w 12192000"/>
              <a:gd name="connsiteY29" fmla="*/ 1089800 h 4783510"/>
              <a:gd name="connsiteX30" fmla="*/ 11530655 w 12192000"/>
              <a:gd name="connsiteY30" fmla="*/ 1076007 h 4783510"/>
              <a:gd name="connsiteX31" fmla="*/ 11632767 w 12192000"/>
              <a:gd name="connsiteY31" fmla="*/ 1001326 h 4783510"/>
              <a:gd name="connsiteX32" fmla="*/ 11732439 w 12192000"/>
              <a:gd name="connsiteY32" fmla="*/ 984350 h 4783510"/>
              <a:gd name="connsiteX33" fmla="*/ 11766504 w 12192000"/>
              <a:gd name="connsiteY33" fmla="*/ 976255 h 4783510"/>
              <a:gd name="connsiteX34" fmla="*/ 11805989 w 12192000"/>
              <a:gd name="connsiteY34" fmla="*/ 1009267 h 4783510"/>
              <a:gd name="connsiteX35" fmla="*/ 11891635 w 12192000"/>
              <a:gd name="connsiteY35" fmla="*/ 997172 h 4783510"/>
              <a:gd name="connsiteX36" fmla="*/ 11959068 w 12192000"/>
              <a:gd name="connsiteY36" fmla="*/ 979087 h 4783510"/>
              <a:gd name="connsiteX37" fmla="*/ 11974871 w 12192000"/>
              <a:gd name="connsiteY37" fmla="*/ 981280 h 4783510"/>
              <a:gd name="connsiteX38" fmla="*/ 11996673 w 12192000"/>
              <a:gd name="connsiteY38" fmla="*/ 989271 h 4783510"/>
              <a:gd name="connsiteX39" fmla="*/ 12064304 w 12192000"/>
              <a:gd name="connsiteY39" fmla="*/ 976743 h 4783510"/>
              <a:gd name="connsiteX40" fmla="*/ 12108011 w 12192000"/>
              <a:gd name="connsiteY40" fmla="*/ 949852 h 4783510"/>
              <a:gd name="connsiteX41" fmla="*/ 12137961 w 12192000"/>
              <a:gd name="connsiteY41" fmla="*/ 928659 h 4783510"/>
              <a:gd name="connsiteX42" fmla="*/ 12152392 w 12192000"/>
              <a:gd name="connsiteY42" fmla="*/ 940852 h 4783510"/>
              <a:gd name="connsiteX43" fmla="*/ 12187275 w 12192000"/>
              <a:gd name="connsiteY43" fmla="*/ 939175 h 4783510"/>
              <a:gd name="connsiteX44" fmla="*/ 12192000 w 12192000"/>
              <a:gd name="connsiteY44" fmla="*/ 932202 h 4783510"/>
              <a:gd name="connsiteX45" fmla="*/ 12192000 w 12192000"/>
              <a:gd name="connsiteY45" fmla="*/ 1423622 h 4783510"/>
              <a:gd name="connsiteX46" fmla="*/ 12192000 w 12192000"/>
              <a:gd name="connsiteY46" fmla="*/ 2783600 h 4783510"/>
              <a:gd name="connsiteX47" fmla="*/ 12192000 w 12192000"/>
              <a:gd name="connsiteY47" fmla="*/ 4783510 h 4783510"/>
              <a:gd name="connsiteX48" fmla="*/ 2 w 12192000"/>
              <a:gd name="connsiteY48" fmla="*/ 4783510 h 4783510"/>
              <a:gd name="connsiteX49" fmla="*/ 2 w 12192000"/>
              <a:gd name="connsiteY49" fmla="*/ 1855074 h 4783510"/>
              <a:gd name="connsiteX50" fmla="*/ 0 w 12192000"/>
              <a:gd name="connsiteY50" fmla="*/ 1855074 h 4783510"/>
              <a:gd name="connsiteX51" fmla="*/ 0 w 12192000"/>
              <a:gd name="connsiteY51" fmla="*/ 3676 h 4783510"/>
              <a:gd name="connsiteX52" fmla="*/ 4725 w 12192000"/>
              <a:gd name="connsiteY52" fmla="*/ 10649 h 4783510"/>
              <a:gd name="connsiteX53" fmla="*/ 39608 w 12192000"/>
              <a:gd name="connsiteY53" fmla="*/ 12325 h 4783510"/>
              <a:gd name="connsiteX54" fmla="*/ 54039 w 12192000"/>
              <a:gd name="connsiteY54" fmla="*/ 133 h 4783510"/>
              <a:gd name="connsiteX0" fmla="*/ 54039 w 12192000"/>
              <a:gd name="connsiteY0" fmla="*/ 133 h 4783510"/>
              <a:gd name="connsiteX1" fmla="*/ 83989 w 12192000"/>
              <a:gd name="connsiteY1" fmla="*/ 21326 h 4783510"/>
              <a:gd name="connsiteX2" fmla="*/ 127696 w 12192000"/>
              <a:gd name="connsiteY2" fmla="*/ 48217 h 4783510"/>
              <a:gd name="connsiteX3" fmla="*/ 195328 w 12192000"/>
              <a:gd name="connsiteY3" fmla="*/ 60745 h 4783510"/>
              <a:gd name="connsiteX4" fmla="*/ 217130 w 12192000"/>
              <a:gd name="connsiteY4" fmla="*/ 52754 h 4783510"/>
              <a:gd name="connsiteX5" fmla="*/ 232932 w 12192000"/>
              <a:gd name="connsiteY5" fmla="*/ 50560 h 4783510"/>
              <a:gd name="connsiteX6" fmla="*/ 296960 w 12192000"/>
              <a:gd name="connsiteY6" fmla="*/ 85674 h 4783510"/>
              <a:gd name="connsiteX7" fmla="*/ 329442 w 12192000"/>
              <a:gd name="connsiteY7" fmla="*/ 61820 h 4783510"/>
              <a:gd name="connsiteX8" fmla="*/ 386012 w 12192000"/>
              <a:gd name="connsiteY8" fmla="*/ 80741 h 4783510"/>
              <a:gd name="connsiteX9" fmla="*/ 425496 w 12192000"/>
              <a:gd name="connsiteY9" fmla="*/ 47729 h 4783510"/>
              <a:gd name="connsiteX10" fmla="*/ 459561 w 12192000"/>
              <a:gd name="connsiteY10" fmla="*/ 55824 h 4783510"/>
              <a:gd name="connsiteX11" fmla="*/ 559233 w 12192000"/>
              <a:gd name="connsiteY11" fmla="*/ 72799 h 4783510"/>
              <a:gd name="connsiteX12" fmla="*/ 661345 w 12192000"/>
              <a:gd name="connsiteY12" fmla="*/ 147481 h 4783510"/>
              <a:gd name="connsiteX13" fmla="*/ 725095 w 12192000"/>
              <a:gd name="connsiteY13" fmla="*/ 161274 h 4783510"/>
              <a:gd name="connsiteX14" fmla="*/ 755536 w 12192000"/>
              <a:gd name="connsiteY14" fmla="*/ 180724 h 4783510"/>
              <a:gd name="connsiteX15" fmla="*/ 776480 w 12192000"/>
              <a:gd name="connsiteY15" fmla="*/ 182273 h 4783510"/>
              <a:gd name="connsiteX16" fmla="*/ 789058 w 12192000"/>
              <a:gd name="connsiteY16" fmla="*/ 184824 h 4783510"/>
              <a:gd name="connsiteX17" fmla="*/ 811171 w 12192000"/>
              <a:gd name="connsiteY17" fmla="*/ 216295 h 4783510"/>
              <a:gd name="connsiteX18" fmla="*/ 878029 w 12192000"/>
              <a:gd name="connsiteY18" fmla="*/ 215023 h 4783510"/>
              <a:gd name="connsiteX19" fmla="*/ 884769 w 12192000"/>
              <a:gd name="connsiteY19" fmla="*/ 220986 h 4783510"/>
              <a:gd name="connsiteX20" fmla="*/ 1600387 w 12192000"/>
              <a:gd name="connsiteY20" fmla="*/ 354356 h 4783510"/>
              <a:gd name="connsiteX21" fmla="*/ 9012952 w 12192000"/>
              <a:gd name="connsiteY21" fmla="*/ 1139547 h 4783510"/>
              <a:gd name="connsiteX22" fmla="*/ 11269135 w 12192000"/>
              <a:gd name="connsiteY22" fmla="*/ 1154978 h 4783510"/>
              <a:gd name="connsiteX23" fmla="*/ 11276593 w 12192000"/>
              <a:gd name="connsiteY23" fmla="*/ 1158504 h 4783510"/>
              <a:gd name="connsiteX24" fmla="*/ 11298713 w 12192000"/>
              <a:gd name="connsiteY24" fmla="*/ 1157049 h 4783510"/>
              <a:gd name="connsiteX25" fmla="*/ 11380829 w 12192000"/>
              <a:gd name="connsiteY25" fmla="*/ 1144822 h 4783510"/>
              <a:gd name="connsiteX26" fmla="*/ 11402942 w 12192000"/>
              <a:gd name="connsiteY26" fmla="*/ 1113350 h 4783510"/>
              <a:gd name="connsiteX27" fmla="*/ 11415520 w 12192000"/>
              <a:gd name="connsiteY27" fmla="*/ 1110800 h 4783510"/>
              <a:gd name="connsiteX28" fmla="*/ 11436464 w 12192000"/>
              <a:gd name="connsiteY28" fmla="*/ 1109251 h 4783510"/>
              <a:gd name="connsiteX29" fmla="*/ 11466905 w 12192000"/>
              <a:gd name="connsiteY29" fmla="*/ 1089800 h 4783510"/>
              <a:gd name="connsiteX30" fmla="*/ 11530655 w 12192000"/>
              <a:gd name="connsiteY30" fmla="*/ 1076007 h 4783510"/>
              <a:gd name="connsiteX31" fmla="*/ 11632767 w 12192000"/>
              <a:gd name="connsiteY31" fmla="*/ 1001326 h 4783510"/>
              <a:gd name="connsiteX32" fmla="*/ 11732439 w 12192000"/>
              <a:gd name="connsiteY32" fmla="*/ 984350 h 4783510"/>
              <a:gd name="connsiteX33" fmla="*/ 11766504 w 12192000"/>
              <a:gd name="connsiteY33" fmla="*/ 976255 h 4783510"/>
              <a:gd name="connsiteX34" fmla="*/ 11826422 w 12192000"/>
              <a:gd name="connsiteY34" fmla="*/ 995644 h 4783510"/>
              <a:gd name="connsiteX35" fmla="*/ 11891635 w 12192000"/>
              <a:gd name="connsiteY35" fmla="*/ 997172 h 4783510"/>
              <a:gd name="connsiteX36" fmla="*/ 11959068 w 12192000"/>
              <a:gd name="connsiteY36" fmla="*/ 979087 h 4783510"/>
              <a:gd name="connsiteX37" fmla="*/ 11974871 w 12192000"/>
              <a:gd name="connsiteY37" fmla="*/ 981280 h 4783510"/>
              <a:gd name="connsiteX38" fmla="*/ 11996673 w 12192000"/>
              <a:gd name="connsiteY38" fmla="*/ 989271 h 4783510"/>
              <a:gd name="connsiteX39" fmla="*/ 12064304 w 12192000"/>
              <a:gd name="connsiteY39" fmla="*/ 976743 h 4783510"/>
              <a:gd name="connsiteX40" fmla="*/ 12108011 w 12192000"/>
              <a:gd name="connsiteY40" fmla="*/ 949852 h 4783510"/>
              <a:gd name="connsiteX41" fmla="*/ 12137961 w 12192000"/>
              <a:gd name="connsiteY41" fmla="*/ 928659 h 4783510"/>
              <a:gd name="connsiteX42" fmla="*/ 12152392 w 12192000"/>
              <a:gd name="connsiteY42" fmla="*/ 940852 h 4783510"/>
              <a:gd name="connsiteX43" fmla="*/ 12187275 w 12192000"/>
              <a:gd name="connsiteY43" fmla="*/ 939175 h 4783510"/>
              <a:gd name="connsiteX44" fmla="*/ 12192000 w 12192000"/>
              <a:gd name="connsiteY44" fmla="*/ 932202 h 4783510"/>
              <a:gd name="connsiteX45" fmla="*/ 12192000 w 12192000"/>
              <a:gd name="connsiteY45" fmla="*/ 1423622 h 4783510"/>
              <a:gd name="connsiteX46" fmla="*/ 12192000 w 12192000"/>
              <a:gd name="connsiteY46" fmla="*/ 2783600 h 4783510"/>
              <a:gd name="connsiteX47" fmla="*/ 12192000 w 12192000"/>
              <a:gd name="connsiteY47" fmla="*/ 4783510 h 4783510"/>
              <a:gd name="connsiteX48" fmla="*/ 2 w 12192000"/>
              <a:gd name="connsiteY48" fmla="*/ 4783510 h 4783510"/>
              <a:gd name="connsiteX49" fmla="*/ 2 w 12192000"/>
              <a:gd name="connsiteY49" fmla="*/ 1855074 h 4783510"/>
              <a:gd name="connsiteX50" fmla="*/ 0 w 12192000"/>
              <a:gd name="connsiteY50" fmla="*/ 1855074 h 4783510"/>
              <a:gd name="connsiteX51" fmla="*/ 0 w 12192000"/>
              <a:gd name="connsiteY51" fmla="*/ 3676 h 4783510"/>
              <a:gd name="connsiteX52" fmla="*/ 4725 w 12192000"/>
              <a:gd name="connsiteY52" fmla="*/ 10649 h 4783510"/>
              <a:gd name="connsiteX53" fmla="*/ 39608 w 12192000"/>
              <a:gd name="connsiteY53" fmla="*/ 12325 h 4783510"/>
              <a:gd name="connsiteX54" fmla="*/ 54039 w 12192000"/>
              <a:gd name="connsiteY54" fmla="*/ 133 h 4783510"/>
              <a:gd name="connsiteX0" fmla="*/ 54039 w 12192000"/>
              <a:gd name="connsiteY0" fmla="*/ 133 h 4783510"/>
              <a:gd name="connsiteX1" fmla="*/ 83989 w 12192000"/>
              <a:gd name="connsiteY1" fmla="*/ 21326 h 4783510"/>
              <a:gd name="connsiteX2" fmla="*/ 127696 w 12192000"/>
              <a:gd name="connsiteY2" fmla="*/ 48217 h 4783510"/>
              <a:gd name="connsiteX3" fmla="*/ 195328 w 12192000"/>
              <a:gd name="connsiteY3" fmla="*/ 60745 h 4783510"/>
              <a:gd name="connsiteX4" fmla="*/ 217130 w 12192000"/>
              <a:gd name="connsiteY4" fmla="*/ 52754 h 4783510"/>
              <a:gd name="connsiteX5" fmla="*/ 232932 w 12192000"/>
              <a:gd name="connsiteY5" fmla="*/ 50560 h 4783510"/>
              <a:gd name="connsiteX6" fmla="*/ 296960 w 12192000"/>
              <a:gd name="connsiteY6" fmla="*/ 85674 h 4783510"/>
              <a:gd name="connsiteX7" fmla="*/ 329442 w 12192000"/>
              <a:gd name="connsiteY7" fmla="*/ 61820 h 4783510"/>
              <a:gd name="connsiteX8" fmla="*/ 386012 w 12192000"/>
              <a:gd name="connsiteY8" fmla="*/ 80741 h 4783510"/>
              <a:gd name="connsiteX9" fmla="*/ 425496 w 12192000"/>
              <a:gd name="connsiteY9" fmla="*/ 47729 h 4783510"/>
              <a:gd name="connsiteX10" fmla="*/ 459561 w 12192000"/>
              <a:gd name="connsiteY10" fmla="*/ 55824 h 4783510"/>
              <a:gd name="connsiteX11" fmla="*/ 559233 w 12192000"/>
              <a:gd name="connsiteY11" fmla="*/ 72799 h 4783510"/>
              <a:gd name="connsiteX12" fmla="*/ 661345 w 12192000"/>
              <a:gd name="connsiteY12" fmla="*/ 147481 h 4783510"/>
              <a:gd name="connsiteX13" fmla="*/ 725095 w 12192000"/>
              <a:gd name="connsiteY13" fmla="*/ 161274 h 4783510"/>
              <a:gd name="connsiteX14" fmla="*/ 755536 w 12192000"/>
              <a:gd name="connsiteY14" fmla="*/ 180724 h 4783510"/>
              <a:gd name="connsiteX15" fmla="*/ 776480 w 12192000"/>
              <a:gd name="connsiteY15" fmla="*/ 182273 h 4783510"/>
              <a:gd name="connsiteX16" fmla="*/ 789058 w 12192000"/>
              <a:gd name="connsiteY16" fmla="*/ 184824 h 4783510"/>
              <a:gd name="connsiteX17" fmla="*/ 811171 w 12192000"/>
              <a:gd name="connsiteY17" fmla="*/ 216295 h 4783510"/>
              <a:gd name="connsiteX18" fmla="*/ 878029 w 12192000"/>
              <a:gd name="connsiteY18" fmla="*/ 215023 h 4783510"/>
              <a:gd name="connsiteX19" fmla="*/ 884769 w 12192000"/>
              <a:gd name="connsiteY19" fmla="*/ 220986 h 4783510"/>
              <a:gd name="connsiteX20" fmla="*/ 1600387 w 12192000"/>
              <a:gd name="connsiteY20" fmla="*/ 354356 h 4783510"/>
              <a:gd name="connsiteX21" fmla="*/ 9012952 w 12192000"/>
              <a:gd name="connsiteY21" fmla="*/ 1139547 h 4783510"/>
              <a:gd name="connsiteX22" fmla="*/ 11269135 w 12192000"/>
              <a:gd name="connsiteY22" fmla="*/ 1154978 h 4783510"/>
              <a:gd name="connsiteX23" fmla="*/ 11276593 w 12192000"/>
              <a:gd name="connsiteY23" fmla="*/ 1158504 h 4783510"/>
              <a:gd name="connsiteX24" fmla="*/ 11298713 w 12192000"/>
              <a:gd name="connsiteY24" fmla="*/ 1157049 h 4783510"/>
              <a:gd name="connsiteX25" fmla="*/ 11380829 w 12192000"/>
              <a:gd name="connsiteY25" fmla="*/ 1144822 h 4783510"/>
              <a:gd name="connsiteX26" fmla="*/ 11402942 w 12192000"/>
              <a:gd name="connsiteY26" fmla="*/ 1113350 h 4783510"/>
              <a:gd name="connsiteX27" fmla="*/ 11415520 w 12192000"/>
              <a:gd name="connsiteY27" fmla="*/ 1110800 h 4783510"/>
              <a:gd name="connsiteX28" fmla="*/ 11436464 w 12192000"/>
              <a:gd name="connsiteY28" fmla="*/ 1109251 h 4783510"/>
              <a:gd name="connsiteX29" fmla="*/ 11466905 w 12192000"/>
              <a:gd name="connsiteY29" fmla="*/ 1089800 h 4783510"/>
              <a:gd name="connsiteX30" fmla="*/ 11530655 w 12192000"/>
              <a:gd name="connsiteY30" fmla="*/ 1076007 h 4783510"/>
              <a:gd name="connsiteX31" fmla="*/ 11632767 w 12192000"/>
              <a:gd name="connsiteY31" fmla="*/ 1001326 h 4783510"/>
              <a:gd name="connsiteX32" fmla="*/ 11732439 w 12192000"/>
              <a:gd name="connsiteY32" fmla="*/ 984350 h 4783510"/>
              <a:gd name="connsiteX33" fmla="*/ 11766504 w 12192000"/>
              <a:gd name="connsiteY33" fmla="*/ 976255 h 4783510"/>
              <a:gd name="connsiteX34" fmla="*/ 11788440 w 12192000"/>
              <a:gd name="connsiteY34" fmla="*/ 995646 h 4783510"/>
              <a:gd name="connsiteX35" fmla="*/ 11826422 w 12192000"/>
              <a:gd name="connsiteY35" fmla="*/ 995644 h 4783510"/>
              <a:gd name="connsiteX36" fmla="*/ 11891635 w 12192000"/>
              <a:gd name="connsiteY36" fmla="*/ 997172 h 4783510"/>
              <a:gd name="connsiteX37" fmla="*/ 11959068 w 12192000"/>
              <a:gd name="connsiteY37" fmla="*/ 979087 h 4783510"/>
              <a:gd name="connsiteX38" fmla="*/ 11974871 w 12192000"/>
              <a:gd name="connsiteY38" fmla="*/ 981280 h 4783510"/>
              <a:gd name="connsiteX39" fmla="*/ 11996673 w 12192000"/>
              <a:gd name="connsiteY39" fmla="*/ 989271 h 4783510"/>
              <a:gd name="connsiteX40" fmla="*/ 12064304 w 12192000"/>
              <a:gd name="connsiteY40" fmla="*/ 976743 h 4783510"/>
              <a:gd name="connsiteX41" fmla="*/ 12108011 w 12192000"/>
              <a:gd name="connsiteY41" fmla="*/ 949852 h 4783510"/>
              <a:gd name="connsiteX42" fmla="*/ 12137961 w 12192000"/>
              <a:gd name="connsiteY42" fmla="*/ 928659 h 4783510"/>
              <a:gd name="connsiteX43" fmla="*/ 12152392 w 12192000"/>
              <a:gd name="connsiteY43" fmla="*/ 940852 h 4783510"/>
              <a:gd name="connsiteX44" fmla="*/ 12187275 w 12192000"/>
              <a:gd name="connsiteY44" fmla="*/ 939175 h 4783510"/>
              <a:gd name="connsiteX45" fmla="*/ 12192000 w 12192000"/>
              <a:gd name="connsiteY45" fmla="*/ 932202 h 4783510"/>
              <a:gd name="connsiteX46" fmla="*/ 12192000 w 12192000"/>
              <a:gd name="connsiteY46" fmla="*/ 1423622 h 4783510"/>
              <a:gd name="connsiteX47" fmla="*/ 12192000 w 12192000"/>
              <a:gd name="connsiteY47" fmla="*/ 2783600 h 4783510"/>
              <a:gd name="connsiteX48" fmla="*/ 12192000 w 12192000"/>
              <a:gd name="connsiteY48" fmla="*/ 4783510 h 4783510"/>
              <a:gd name="connsiteX49" fmla="*/ 2 w 12192000"/>
              <a:gd name="connsiteY49" fmla="*/ 4783510 h 4783510"/>
              <a:gd name="connsiteX50" fmla="*/ 2 w 12192000"/>
              <a:gd name="connsiteY50" fmla="*/ 1855074 h 4783510"/>
              <a:gd name="connsiteX51" fmla="*/ 0 w 12192000"/>
              <a:gd name="connsiteY51" fmla="*/ 1855074 h 4783510"/>
              <a:gd name="connsiteX52" fmla="*/ 0 w 12192000"/>
              <a:gd name="connsiteY52" fmla="*/ 3676 h 4783510"/>
              <a:gd name="connsiteX53" fmla="*/ 4725 w 12192000"/>
              <a:gd name="connsiteY53" fmla="*/ 10649 h 4783510"/>
              <a:gd name="connsiteX54" fmla="*/ 39608 w 12192000"/>
              <a:gd name="connsiteY54" fmla="*/ 12325 h 4783510"/>
              <a:gd name="connsiteX55" fmla="*/ 54039 w 12192000"/>
              <a:gd name="connsiteY55" fmla="*/ 133 h 4783510"/>
              <a:gd name="connsiteX0" fmla="*/ 54039 w 12192000"/>
              <a:gd name="connsiteY0" fmla="*/ 133 h 4783510"/>
              <a:gd name="connsiteX1" fmla="*/ 83989 w 12192000"/>
              <a:gd name="connsiteY1" fmla="*/ 21326 h 4783510"/>
              <a:gd name="connsiteX2" fmla="*/ 127696 w 12192000"/>
              <a:gd name="connsiteY2" fmla="*/ 48217 h 4783510"/>
              <a:gd name="connsiteX3" fmla="*/ 195328 w 12192000"/>
              <a:gd name="connsiteY3" fmla="*/ 60745 h 4783510"/>
              <a:gd name="connsiteX4" fmla="*/ 217130 w 12192000"/>
              <a:gd name="connsiteY4" fmla="*/ 52754 h 4783510"/>
              <a:gd name="connsiteX5" fmla="*/ 232932 w 12192000"/>
              <a:gd name="connsiteY5" fmla="*/ 50560 h 4783510"/>
              <a:gd name="connsiteX6" fmla="*/ 296960 w 12192000"/>
              <a:gd name="connsiteY6" fmla="*/ 85674 h 4783510"/>
              <a:gd name="connsiteX7" fmla="*/ 329442 w 12192000"/>
              <a:gd name="connsiteY7" fmla="*/ 61820 h 4783510"/>
              <a:gd name="connsiteX8" fmla="*/ 386012 w 12192000"/>
              <a:gd name="connsiteY8" fmla="*/ 80741 h 4783510"/>
              <a:gd name="connsiteX9" fmla="*/ 425496 w 12192000"/>
              <a:gd name="connsiteY9" fmla="*/ 47729 h 4783510"/>
              <a:gd name="connsiteX10" fmla="*/ 459561 w 12192000"/>
              <a:gd name="connsiteY10" fmla="*/ 55824 h 4783510"/>
              <a:gd name="connsiteX11" fmla="*/ 559233 w 12192000"/>
              <a:gd name="connsiteY11" fmla="*/ 72799 h 4783510"/>
              <a:gd name="connsiteX12" fmla="*/ 661345 w 12192000"/>
              <a:gd name="connsiteY12" fmla="*/ 147481 h 4783510"/>
              <a:gd name="connsiteX13" fmla="*/ 725095 w 12192000"/>
              <a:gd name="connsiteY13" fmla="*/ 161274 h 4783510"/>
              <a:gd name="connsiteX14" fmla="*/ 755536 w 12192000"/>
              <a:gd name="connsiteY14" fmla="*/ 180724 h 4783510"/>
              <a:gd name="connsiteX15" fmla="*/ 776480 w 12192000"/>
              <a:gd name="connsiteY15" fmla="*/ 182273 h 4783510"/>
              <a:gd name="connsiteX16" fmla="*/ 789058 w 12192000"/>
              <a:gd name="connsiteY16" fmla="*/ 184824 h 4783510"/>
              <a:gd name="connsiteX17" fmla="*/ 811171 w 12192000"/>
              <a:gd name="connsiteY17" fmla="*/ 216295 h 4783510"/>
              <a:gd name="connsiteX18" fmla="*/ 878029 w 12192000"/>
              <a:gd name="connsiteY18" fmla="*/ 215023 h 4783510"/>
              <a:gd name="connsiteX19" fmla="*/ 884769 w 12192000"/>
              <a:gd name="connsiteY19" fmla="*/ 220986 h 4783510"/>
              <a:gd name="connsiteX20" fmla="*/ 1600387 w 12192000"/>
              <a:gd name="connsiteY20" fmla="*/ 354356 h 4783510"/>
              <a:gd name="connsiteX21" fmla="*/ 9012952 w 12192000"/>
              <a:gd name="connsiteY21" fmla="*/ 1139547 h 4783510"/>
              <a:gd name="connsiteX22" fmla="*/ 11269135 w 12192000"/>
              <a:gd name="connsiteY22" fmla="*/ 1154978 h 4783510"/>
              <a:gd name="connsiteX23" fmla="*/ 11276593 w 12192000"/>
              <a:gd name="connsiteY23" fmla="*/ 1158504 h 4783510"/>
              <a:gd name="connsiteX24" fmla="*/ 11298713 w 12192000"/>
              <a:gd name="connsiteY24" fmla="*/ 1157049 h 4783510"/>
              <a:gd name="connsiteX25" fmla="*/ 11380829 w 12192000"/>
              <a:gd name="connsiteY25" fmla="*/ 1144822 h 4783510"/>
              <a:gd name="connsiteX26" fmla="*/ 11402942 w 12192000"/>
              <a:gd name="connsiteY26" fmla="*/ 1113350 h 4783510"/>
              <a:gd name="connsiteX27" fmla="*/ 11415520 w 12192000"/>
              <a:gd name="connsiteY27" fmla="*/ 1110800 h 4783510"/>
              <a:gd name="connsiteX28" fmla="*/ 11436464 w 12192000"/>
              <a:gd name="connsiteY28" fmla="*/ 1109251 h 4783510"/>
              <a:gd name="connsiteX29" fmla="*/ 11466905 w 12192000"/>
              <a:gd name="connsiteY29" fmla="*/ 1089800 h 4783510"/>
              <a:gd name="connsiteX30" fmla="*/ 11530655 w 12192000"/>
              <a:gd name="connsiteY30" fmla="*/ 1076007 h 4783510"/>
              <a:gd name="connsiteX31" fmla="*/ 11632767 w 12192000"/>
              <a:gd name="connsiteY31" fmla="*/ 1001326 h 4783510"/>
              <a:gd name="connsiteX32" fmla="*/ 11735844 w 12192000"/>
              <a:gd name="connsiteY32" fmla="*/ 1008189 h 4783510"/>
              <a:gd name="connsiteX33" fmla="*/ 11766504 w 12192000"/>
              <a:gd name="connsiteY33" fmla="*/ 976255 h 4783510"/>
              <a:gd name="connsiteX34" fmla="*/ 11788440 w 12192000"/>
              <a:gd name="connsiteY34" fmla="*/ 995646 h 4783510"/>
              <a:gd name="connsiteX35" fmla="*/ 11826422 w 12192000"/>
              <a:gd name="connsiteY35" fmla="*/ 995644 h 4783510"/>
              <a:gd name="connsiteX36" fmla="*/ 11891635 w 12192000"/>
              <a:gd name="connsiteY36" fmla="*/ 997172 h 4783510"/>
              <a:gd name="connsiteX37" fmla="*/ 11959068 w 12192000"/>
              <a:gd name="connsiteY37" fmla="*/ 979087 h 4783510"/>
              <a:gd name="connsiteX38" fmla="*/ 11974871 w 12192000"/>
              <a:gd name="connsiteY38" fmla="*/ 981280 h 4783510"/>
              <a:gd name="connsiteX39" fmla="*/ 11996673 w 12192000"/>
              <a:gd name="connsiteY39" fmla="*/ 989271 h 4783510"/>
              <a:gd name="connsiteX40" fmla="*/ 12064304 w 12192000"/>
              <a:gd name="connsiteY40" fmla="*/ 976743 h 4783510"/>
              <a:gd name="connsiteX41" fmla="*/ 12108011 w 12192000"/>
              <a:gd name="connsiteY41" fmla="*/ 949852 h 4783510"/>
              <a:gd name="connsiteX42" fmla="*/ 12137961 w 12192000"/>
              <a:gd name="connsiteY42" fmla="*/ 928659 h 4783510"/>
              <a:gd name="connsiteX43" fmla="*/ 12152392 w 12192000"/>
              <a:gd name="connsiteY43" fmla="*/ 940852 h 4783510"/>
              <a:gd name="connsiteX44" fmla="*/ 12187275 w 12192000"/>
              <a:gd name="connsiteY44" fmla="*/ 939175 h 4783510"/>
              <a:gd name="connsiteX45" fmla="*/ 12192000 w 12192000"/>
              <a:gd name="connsiteY45" fmla="*/ 932202 h 4783510"/>
              <a:gd name="connsiteX46" fmla="*/ 12192000 w 12192000"/>
              <a:gd name="connsiteY46" fmla="*/ 1423622 h 4783510"/>
              <a:gd name="connsiteX47" fmla="*/ 12192000 w 12192000"/>
              <a:gd name="connsiteY47" fmla="*/ 2783600 h 4783510"/>
              <a:gd name="connsiteX48" fmla="*/ 12192000 w 12192000"/>
              <a:gd name="connsiteY48" fmla="*/ 4783510 h 4783510"/>
              <a:gd name="connsiteX49" fmla="*/ 2 w 12192000"/>
              <a:gd name="connsiteY49" fmla="*/ 4783510 h 4783510"/>
              <a:gd name="connsiteX50" fmla="*/ 2 w 12192000"/>
              <a:gd name="connsiteY50" fmla="*/ 1855074 h 4783510"/>
              <a:gd name="connsiteX51" fmla="*/ 0 w 12192000"/>
              <a:gd name="connsiteY51" fmla="*/ 1855074 h 4783510"/>
              <a:gd name="connsiteX52" fmla="*/ 0 w 12192000"/>
              <a:gd name="connsiteY52" fmla="*/ 3676 h 4783510"/>
              <a:gd name="connsiteX53" fmla="*/ 4725 w 12192000"/>
              <a:gd name="connsiteY53" fmla="*/ 10649 h 4783510"/>
              <a:gd name="connsiteX54" fmla="*/ 39608 w 12192000"/>
              <a:gd name="connsiteY54" fmla="*/ 12325 h 4783510"/>
              <a:gd name="connsiteX55" fmla="*/ 54039 w 12192000"/>
              <a:gd name="connsiteY55" fmla="*/ 133 h 4783510"/>
              <a:gd name="connsiteX0" fmla="*/ 54039 w 12192000"/>
              <a:gd name="connsiteY0" fmla="*/ 133 h 4783510"/>
              <a:gd name="connsiteX1" fmla="*/ 83989 w 12192000"/>
              <a:gd name="connsiteY1" fmla="*/ 21326 h 4783510"/>
              <a:gd name="connsiteX2" fmla="*/ 127696 w 12192000"/>
              <a:gd name="connsiteY2" fmla="*/ 48217 h 4783510"/>
              <a:gd name="connsiteX3" fmla="*/ 195328 w 12192000"/>
              <a:gd name="connsiteY3" fmla="*/ 60745 h 4783510"/>
              <a:gd name="connsiteX4" fmla="*/ 217130 w 12192000"/>
              <a:gd name="connsiteY4" fmla="*/ 52754 h 4783510"/>
              <a:gd name="connsiteX5" fmla="*/ 232932 w 12192000"/>
              <a:gd name="connsiteY5" fmla="*/ 50560 h 4783510"/>
              <a:gd name="connsiteX6" fmla="*/ 296960 w 12192000"/>
              <a:gd name="connsiteY6" fmla="*/ 85674 h 4783510"/>
              <a:gd name="connsiteX7" fmla="*/ 329442 w 12192000"/>
              <a:gd name="connsiteY7" fmla="*/ 61820 h 4783510"/>
              <a:gd name="connsiteX8" fmla="*/ 386012 w 12192000"/>
              <a:gd name="connsiteY8" fmla="*/ 80741 h 4783510"/>
              <a:gd name="connsiteX9" fmla="*/ 425496 w 12192000"/>
              <a:gd name="connsiteY9" fmla="*/ 47729 h 4783510"/>
              <a:gd name="connsiteX10" fmla="*/ 459561 w 12192000"/>
              <a:gd name="connsiteY10" fmla="*/ 55824 h 4783510"/>
              <a:gd name="connsiteX11" fmla="*/ 559233 w 12192000"/>
              <a:gd name="connsiteY11" fmla="*/ 72799 h 4783510"/>
              <a:gd name="connsiteX12" fmla="*/ 661345 w 12192000"/>
              <a:gd name="connsiteY12" fmla="*/ 147481 h 4783510"/>
              <a:gd name="connsiteX13" fmla="*/ 725095 w 12192000"/>
              <a:gd name="connsiteY13" fmla="*/ 161274 h 4783510"/>
              <a:gd name="connsiteX14" fmla="*/ 755536 w 12192000"/>
              <a:gd name="connsiteY14" fmla="*/ 180724 h 4783510"/>
              <a:gd name="connsiteX15" fmla="*/ 776480 w 12192000"/>
              <a:gd name="connsiteY15" fmla="*/ 182273 h 4783510"/>
              <a:gd name="connsiteX16" fmla="*/ 789058 w 12192000"/>
              <a:gd name="connsiteY16" fmla="*/ 184824 h 4783510"/>
              <a:gd name="connsiteX17" fmla="*/ 811171 w 12192000"/>
              <a:gd name="connsiteY17" fmla="*/ 216295 h 4783510"/>
              <a:gd name="connsiteX18" fmla="*/ 878029 w 12192000"/>
              <a:gd name="connsiteY18" fmla="*/ 215023 h 4783510"/>
              <a:gd name="connsiteX19" fmla="*/ 884769 w 12192000"/>
              <a:gd name="connsiteY19" fmla="*/ 220986 h 4783510"/>
              <a:gd name="connsiteX20" fmla="*/ 1600387 w 12192000"/>
              <a:gd name="connsiteY20" fmla="*/ 354356 h 4783510"/>
              <a:gd name="connsiteX21" fmla="*/ 9012952 w 12192000"/>
              <a:gd name="connsiteY21" fmla="*/ 1139547 h 4783510"/>
              <a:gd name="connsiteX22" fmla="*/ 11269135 w 12192000"/>
              <a:gd name="connsiteY22" fmla="*/ 1154978 h 4783510"/>
              <a:gd name="connsiteX23" fmla="*/ 11276593 w 12192000"/>
              <a:gd name="connsiteY23" fmla="*/ 1158504 h 4783510"/>
              <a:gd name="connsiteX24" fmla="*/ 11298713 w 12192000"/>
              <a:gd name="connsiteY24" fmla="*/ 1157049 h 4783510"/>
              <a:gd name="connsiteX25" fmla="*/ 11380829 w 12192000"/>
              <a:gd name="connsiteY25" fmla="*/ 1144822 h 4783510"/>
              <a:gd name="connsiteX26" fmla="*/ 11402942 w 12192000"/>
              <a:gd name="connsiteY26" fmla="*/ 1113350 h 4783510"/>
              <a:gd name="connsiteX27" fmla="*/ 11415520 w 12192000"/>
              <a:gd name="connsiteY27" fmla="*/ 1110800 h 4783510"/>
              <a:gd name="connsiteX28" fmla="*/ 11436464 w 12192000"/>
              <a:gd name="connsiteY28" fmla="*/ 1109251 h 4783510"/>
              <a:gd name="connsiteX29" fmla="*/ 11466905 w 12192000"/>
              <a:gd name="connsiteY29" fmla="*/ 1089800 h 4783510"/>
              <a:gd name="connsiteX30" fmla="*/ 11530655 w 12192000"/>
              <a:gd name="connsiteY30" fmla="*/ 1076007 h 4783510"/>
              <a:gd name="connsiteX31" fmla="*/ 11632767 w 12192000"/>
              <a:gd name="connsiteY31" fmla="*/ 1001326 h 4783510"/>
              <a:gd name="connsiteX32" fmla="*/ 11735844 w 12192000"/>
              <a:gd name="connsiteY32" fmla="*/ 1008189 h 4783510"/>
              <a:gd name="connsiteX33" fmla="*/ 11766504 w 12192000"/>
              <a:gd name="connsiteY33" fmla="*/ 976255 h 4783510"/>
              <a:gd name="connsiteX34" fmla="*/ 11788440 w 12192000"/>
              <a:gd name="connsiteY34" fmla="*/ 995646 h 4783510"/>
              <a:gd name="connsiteX35" fmla="*/ 11826422 w 12192000"/>
              <a:gd name="connsiteY35" fmla="*/ 995644 h 4783510"/>
              <a:gd name="connsiteX36" fmla="*/ 11891635 w 12192000"/>
              <a:gd name="connsiteY36" fmla="*/ 997172 h 4783510"/>
              <a:gd name="connsiteX37" fmla="*/ 11959068 w 12192000"/>
              <a:gd name="connsiteY37" fmla="*/ 979087 h 4783510"/>
              <a:gd name="connsiteX38" fmla="*/ 11974871 w 12192000"/>
              <a:gd name="connsiteY38" fmla="*/ 981280 h 4783510"/>
              <a:gd name="connsiteX39" fmla="*/ 11996673 w 12192000"/>
              <a:gd name="connsiteY39" fmla="*/ 989271 h 4783510"/>
              <a:gd name="connsiteX40" fmla="*/ 12064304 w 12192000"/>
              <a:gd name="connsiteY40" fmla="*/ 976743 h 4783510"/>
              <a:gd name="connsiteX41" fmla="*/ 12108011 w 12192000"/>
              <a:gd name="connsiteY41" fmla="*/ 949852 h 4783510"/>
              <a:gd name="connsiteX42" fmla="*/ 12137961 w 12192000"/>
              <a:gd name="connsiteY42" fmla="*/ 928659 h 4783510"/>
              <a:gd name="connsiteX43" fmla="*/ 12152392 w 12192000"/>
              <a:gd name="connsiteY43" fmla="*/ 940852 h 4783510"/>
              <a:gd name="connsiteX44" fmla="*/ 12187275 w 12192000"/>
              <a:gd name="connsiteY44" fmla="*/ 939175 h 4783510"/>
              <a:gd name="connsiteX45" fmla="*/ 12192000 w 12192000"/>
              <a:gd name="connsiteY45" fmla="*/ 932202 h 4783510"/>
              <a:gd name="connsiteX46" fmla="*/ 12192000 w 12192000"/>
              <a:gd name="connsiteY46" fmla="*/ 1423622 h 4783510"/>
              <a:gd name="connsiteX47" fmla="*/ 12192000 w 12192000"/>
              <a:gd name="connsiteY47" fmla="*/ 2783600 h 4783510"/>
              <a:gd name="connsiteX48" fmla="*/ 12192000 w 12192000"/>
              <a:gd name="connsiteY48" fmla="*/ 4783510 h 4783510"/>
              <a:gd name="connsiteX49" fmla="*/ 2 w 12192000"/>
              <a:gd name="connsiteY49" fmla="*/ 4783510 h 4783510"/>
              <a:gd name="connsiteX50" fmla="*/ 2 w 12192000"/>
              <a:gd name="connsiteY50" fmla="*/ 1855074 h 4783510"/>
              <a:gd name="connsiteX51" fmla="*/ 0 w 12192000"/>
              <a:gd name="connsiteY51" fmla="*/ 1855074 h 4783510"/>
              <a:gd name="connsiteX52" fmla="*/ 0 w 12192000"/>
              <a:gd name="connsiteY52" fmla="*/ 3676 h 4783510"/>
              <a:gd name="connsiteX53" fmla="*/ 4725 w 12192000"/>
              <a:gd name="connsiteY53" fmla="*/ 10649 h 4783510"/>
              <a:gd name="connsiteX54" fmla="*/ 39608 w 12192000"/>
              <a:gd name="connsiteY54" fmla="*/ 12325 h 4783510"/>
              <a:gd name="connsiteX55" fmla="*/ 54039 w 12192000"/>
              <a:gd name="connsiteY55" fmla="*/ 133 h 4783510"/>
              <a:gd name="connsiteX0" fmla="*/ 54039 w 12192000"/>
              <a:gd name="connsiteY0" fmla="*/ 133 h 4783510"/>
              <a:gd name="connsiteX1" fmla="*/ 83989 w 12192000"/>
              <a:gd name="connsiteY1" fmla="*/ 21326 h 4783510"/>
              <a:gd name="connsiteX2" fmla="*/ 127696 w 12192000"/>
              <a:gd name="connsiteY2" fmla="*/ 48217 h 4783510"/>
              <a:gd name="connsiteX3" fmla="*/ 195328 w 12192000"/>
              <a:gd name="connsiteY3" fmla="*/ 60745 h 4783510"/>
              <a:gd name="connsiteX4" fmla="*/ 217130 w 12192000"/>
              <a:gd name="connsiteY4" fmla="*/ 52754 h 4783510"/>
              <a:gd name="connsiteX5" fmla="*/ 232932 w 12192000"/>
              <a:gd name="connsiteY5" fmla="*/ 50560 h 4783510"/>
              <a:gd name="connsiteX6" fmla="*/ 296960 w 12192000"/>
              <a:gd name="connsiteY6" fmla="*/ 85674 h 4783510"/>
              <a:gd name="connsiteX7" fmla="*/ 329442 w 12192000"/>
              <a:gd name="connsiteY7" fmla="*/ 61820 h 4783510"/>
              <a:gd name="connsiteX8" fmla="*/ 386012 w 12192000"/>
              <a:gd name="connsiteY8" fmla="*/ 80741 h 4783510"/>
              <a:gd name="connsiteX9" fmla="*/ 425496 w 12192000"/>
              <a:gd name="connsiteY9" fmla="*/ 47729 h 4783510"/>
              <a:gd name="connsiteX10" fmla="*/ 459561 w 12192000"/>
              <a:gd name="connsiteY10" fmla="*/ 55824 h 4783510"/>
              <a:gd name="connsiteX11" fmla="*/ 559233 w 12192000"/>
              <a:gd name="connsiteY11" fmla="*/ 72799 h 4783510"/>
              <a:gd name="connsiteX12" fmla="*/ 661345 w 12192000"/>
              <a:gd name="connsiteY12" fmla="*/ 147481 h 4783510"/>
              <a:gd name="connsiteX13" fmla="*/ 725095 w 12192000"/>
              <a:gd name="connsiteY13" fmla="*/ 161274 h 4783510"/>
              <a:gd name="connsiteX14" fmla="*/ 755536 w 12192000"/>
              <a:gd name="connsiteY14" fmla="*/ 180724 h 4783510"/>
              <a:gd name="connsiteX15" fmla="*/ 776480 w 12192000"/>
              <a:gd name="connsiteY15" fmla="*/ 182273 h 4783510"/>
              <a:gd name="connsiteX16" fmla="*/ 789058 w 12192000"/>
              <a:gd name="connsiteY16" fmla="*/ 184824 h 4783510"/>
              <a:gd name="connsiteX17" fmla="*/ 811171 w 12192000"/>
              <a:gd name="connsiteY17" fmla="*/ 216295 h 4783510"/>
              <a:gd name="connsiteX18" fmla="*/ 878029 w 12192000"/>
              <a:gd name="connsiteY18" fmla="*/ 215023 h 4783510"/>
              <a:gd name="connsiteX19" fmla="*/ 884769 w 12192000"/>
              <a:gd name="connsiteY19" fmla="*/ 220986 h 4783510"/>
              <a:gd name="connsiteX20" fmla="*/ 1600387 w 12192000"/>
              <a:gd name="connsiteY20" fmla="*/ 354356 h 4783510"/>
              <a:gd name="connsiteX21" fmla="*/ 9012952 w 12192000"/>
              <a:gd name="connsiteY21" fmla="*/ 1139547 h 4783510"/>
              <a:gd name="connsiteX22" fmla="*/ 11269135 w 12192000"/>
              <a:gd name="connsiteY22" fmla="*/ 1154978 h 4783510"/>
              <a:gd name="connsiteX23" fmla="*/ 11276593 w 12192000"/>
              <a:gd name="connsiteY23" fmla="*/ 1158504 h 4783510"/>
              <a:gd name="connsiteX24" fmla="*/ 11298713 w 12192000"/>
              <a:gd name="connsiteY24" fmla="*/ 1157049 h 4783510"/>
              <a:gd name="connsiteX25" fmla="*/ 11380829 w 12192000"/>
              <a:gd name="connsiteY25" fmla="*/ 1144822 h 4783510"/>
              <a:gd name="connsiteX26" fmla="*/ 11402942 w 12192000"/>
              <a:gd name="connsiteY26" fmla="*/ 1113350 h 4783510"/>
              <a:gd name="connsiteX27" fmla="*/ 11415520 w 12192000"/>
              <a:gd name="connsiteY27" fmla="*/ 1110800 h 4783510"/>
              <a:gd name="connsiteX28" fmla="*/ 11436464 w 12192000"/>
              <a:gd name="connsiteY28" fmla="*/ 1109251 h 4783510"/>
              <a:gd name="connsiteX29" fmla="*/ 11466905 w 12192000"/>
              <a:gd name="connsiteY29" fmla="*/ 1089800 h 4783510"/>
              <a:gd name="connsiteX30" fmla="*/ 11530655 w 12192000"/>
              <a:gd name="connsiteY30" fmla="*/ 1076007 h 4783510"/>
              <a:gd name="connsiteX31" fmla="*/ 11632767 w 12192000"/>
              <a:gd name="connsiteY31" fmla="*/ 1001326 h 4783510"/>
              <a:gd name="connsiteX32" fmla="*/ 11708599 w 12192000"/>
              <a:gd name="connsiteY32" fmla="*/ 997972 h 4783510"/>
              <a:gd name="connsiteX33" fmla="*/ 11766504 w 12192000"/>
              <a:gd name="connsiteY33" fmla="*/ 976255 h 4783510"/>
              <a:gd name="connsiteX34" fmla="*/ 11788440 w 12192000"/>
              <a:gd name="connsiteY34" fmla="*/ 995646 h 4783510"/>
              <a:gd name="connsiteX35" fmla="*/ 11826422 w 12192000"/>
              <a:gd name="connsiteY35" fmla="*/ 995644 h 4783510"/>
              <a:gd name="connsiteX36" fmla="*/ 11891635 w 12192000"/>
              <a:gd name="connsiteY36" fmla="*/ 997172 h 4783510"/>
              <a:gd name="connsiteX37" fmla="*/ 11959068 w 12192000"/>
              <a:gd name="connsiteY37" fmla="*/ 979087 h 4783510"/>
              <a:gd name="connsiteX38" fmla="*/ 11974871 w 12192000"/>
              <a:gd name="connsiteY38" fmla="*/ 981280 h 4783510"/>
              <a:gd name="connsiteX39" fmla="*/ 11996673 w 12192000"/>
              <a:gd name="connsiteY39" fmla="*/ 989271 h 4783510"/>
              <a:gd name="connsiteX40" fmla="*/ 12064304 w 12192000"/>
              <a:gd name="connsiteY40" fmla="*/ 976743 h 4783510"/>
              <a:gd name="connsiteX41" fmla="*/ 12108011 w 12192000"/>
              <a:gd name="connsiteY41" fmla="*/ 949852 h 4783510"/>
              <a:gd name="connsiteX42" fmla="*/ 12137961 w 12192000"/>
              <a:gd name="connsiteY42" fmla="*/ 928659 h 4783510"/>
              <a:gd name="connsiteX43" fmla="*/ 12152392 w 12192000"/>
              <a:gd name="connsiteY43" fmla="*/ 940852 h 4783510"/>
              <a:gd name="connsiteX44" fmla="*/ 12187275 w 12192000"/>
              <a:gd name="connsiteY44" fmla="*/ 939175 h 4783510"/>
              <a:gd name="connsiteX45" fmla="*/ 12192000 w 12192000"/>
              <a:gd name="connsiteY45" fmla="*/ 932202 h 4783510"/>
              <a:gd name="connsiteX46" fmla="*/ 12192000 w 12192000"/>
              <a:gd name="connsiteY46" fmla="*/ 1423622 h 4783510"/>
              <a:gd name="connsiteX47" fmla="*/ 12192000 w 12192000"/>
              <a:gd name="connsiteY47" fmla="*/ 2783600 h 4783510"/>
              <a:gd name="connsiteX48" fmla="*/ 12192000 w 12192000"/>
              <a:gd name="connsiteY48" fmla="*/ 4783510 h 4783510"/>
              <a:gd name="connsiteX49" fmla="*/ 2 w 12192000"/>
              <a:gd name="connsiteY49" fmla="*/ 4783510 h 4783510"/>
              <a:gd name="connsiteX50" fmla="*/ 2 w 12192000"/>
              <a:gd name="connsiteY50" fmla="*/ 1855074 h 4783510"/>
              <a:gd name="connsiteX51" fmla="*/ 0 w 12192000"/>
              <a:gd name="connsiteY51" fmla="*/ 1855074 h 4783510"/>
              <a:gd name="connsiteX52" fmla="*/ 0 w 12192000"/>
              <a:gd name="connsiteY52" fmla="*/ 3676 h 4783510"/>
              <a:gd name="connsiteX53" fmla="*/ 4725 w 12192000"/>
              <a:gd name="connsiteY53" fmla="*/ 10649 h 4783510"/>
              <a:gd name="connsiteX54" fmla="*/ 39608 w 12192000"/>
              <a:gd name="connsiteY54" fmla="*/ 12325 h 4783510"/>
              <a:gd name="connsiteX55" fmla="*/ 54039 w 12192000"/>
              <a:gd name="connsiteY55" fmla="*/ 133 h 4783510"/>
              <a:gd name="connsiteX0" fmla="*/ 54039 w 12192000"/>
              <a:gd name="connsiteY0" fmla="*/ 133 h 4783510"/>
              <a:gd name="connsiteX1" fmla="*/ 83989 w 12192000"/>
              <a:gd name="connsiteY1" fmla="*/ 21326 h 4783510"/>
              <a:gd name="connsiteX2" fmla="*/ 127696 w 12192000"/>
              <a:gd name="connsiteY2" fmla="*/ 48217 h 4783510"/>
              <a:gd name="connsiteX3" fmla="*/ 195328 w 12192000"/>
              <a:gd name="connsiteY3" fmla="*/ 60745 h 4783510"/>
              <a:gd name="connsiteX4" fmla="*/ 217130 w 12192000"/>
              <a:gd name="connsiteY4" fmla="*/ 52754 h 4783510"/>
              <a:gd name="connsiteX5" fmla="*/ 232932 w 12192000"/>
              <a:gd name="connsiteY5" fmla="*/ 50560 h 4783510"/>
              <a:gd name="connsiteX6" fmla="*/ 296960 w 12192000"/>
              <a:gd name="connsiteY6" fmla="*/ 85674 h 4783510"/>
              <a:gd name="connsiteX7" fmla="*/ 329442 w 12192000"/>
              <a:gd name="connsiteY7" fmla="*/ 61820 h 4783510"/>
              <a:gd name="connsiteX8" fmla="*/ 386012 w 12192000"/>
              <a:gd name="connsiteY8" fmla="*/ 80741 h 4783510"/>
              <a:gd name="connsiteX9" fmla="*/ 425496 w 12192000"/>
              <a:gd name="connsiteY9" fmla="*/ 47729 h 4783510"/>
              <a:gd name="connsiteX10" fmla="*/ 459561 w 12192000"/>
              <a:gd name="connsiteY10" fmla="*/ 55824 h 4783510"/>
              <a:gd name="connsiteX11" fmla="*/ 559233 w 12192000"/>
              <a:gd name="connsiteY11" fmla="*/ 72799 h 4783510"/>
              <a:gd name="connsiteX12" fmla="*/ 661345 w 12192000"/>
              <a:gd name="connsiteY12" fmla="*/ 147481 h 4783510"/>
              <a:gd name="connsiteX13" fmla="*/ 725095 w 12192000"/>
              <a:gd name="connsiteY13" fmla="*/ 161274 h 4783510"/>
              <a:gd name="connsiteX14" fmla="*/ 755536 w 12192000"/>
              <a:gd name="connsiteY14" fmla="*/ 180724 h 4783510"/>
              <a:gd name="connsiteX15" fmla="*/ 776480 w 12192000"/>
              <a:gd name="connsiteY15" fmla="*/ 182273 h 4783510"/>
              <a:gd name="connsiteX16" fmla="*/ 789058 w 12192000"/>
              <a:gd name="connsiteY16" fmla="*/ 184824 h 4783510"/>
              <a:gd name="connsiteX17" fmla="*/ 811171 w 12192000"/>
              <a:gd name="connsiteY17" fmla="*/ 216295 h 4783510"/>
              <a:gd name="connsiteX18" fmla="*/ 878029 w 12192000"/>
              <a:gd name="connsiteY18" fmla="*/ 215023 h 4783510"/>
              <a:gd name="connsiteX19" fmla="*/ 884769 w 12192000"/>
              <a:gd name="connsiteY19" fmla="*/ 220986 h 4783510"/>
              <a:gd name="connsiteX20" fmla="*/ 1600387 w 12192000"/>
              <a:gd name="connsiteY20" fmla="*/ 354356 h 4783510"/>
              <a:gd name="connsiteX21" fmla="*/ 9012952 w 12192000"/>
              <a:gd name="connsiteY21" fmla="*/ 1139547 h 4783510"/>
              <a:gd name="connsiteX22" fmla="*/ 11269135 w 12192000"/>
              <a:gd name="connsiteY22" fmla="*/ 1154978 h 4783510"/>
              <a:gd name="connsiteX23" fmla="*/ 11276593 w 12192000"/>
              <a:gd name="connsiteY23" fmla="*/ 1158504 h 4783510"/>
              <a:gd name="connsiteX24" fmla="*/ 11298713 w 12192000"/>
              <a:gd name="connsiteY24" fmla="*/ 1157049 h 4783510"/>
              <a:gd name="connsiteX25" fmla="*/ 11380829 w 12192000"/>
              <a:gd name="connsiteY25" fmla="*/ 1144822 h 4783510"/>
              <a:gd name="connsiteX26" fmla="*/ 11402942 w 12192000"/>
              <a:gd name="connsiteY26" fmla="*/ 1113350 h 4783510"/>
              <a:gd name="connsiteX27" fmla="*/ 11415520 w 12192000"/>
              <a:gd name="connsiteY27" fmla="*/ 1110800 h 4783510"/>
              <a:gd name="connsiteX28" fmla="*/ 11436464 w 12192000"/>
              <a:gd name="connsiteY28" fmla="*/ 1109251 h 4783510"/>
              <a:gd name="connsiteX29" fmla="*/ 11466905 w 12192000"/>
              <a:gd name="connsiteY29" fmla="*/ 1089800 h 4783510"/>
              <a:gd name="connsiteX30" fmla="*/ 11530655 w 12192000"/>
              <a:gd name="connsiteY30" fmla="*/ 1076007 h 4783510"/>
              <a:gd name="connsiteX31" fmla="*/ 11632767 w 12192000"/>
              <a:gd name="connsiteY31" fmla="*/ 1001326 h 4783510"/>
              <a:gd name="connsiteX32" fmla="*/ 11708599 w 12192000"/>
              <a:gd name="connsiteY32" fmla="*/ 997972 h 4783510"/>
              <a:gd name="connsiteX33" fmla="*/ 11766504 w 12192000"/>
              <a:gd name="connsiteY33" fmla="*/ 976255 h 4783510"/>
              <a:gd name="connsiteX34" fmla="*/ 11774818 w 12192000"/>
              <a:gd name="connsiteY34" fmla="*/ 1009269 h 4783510"/>
              <a:gd name="connsiteX35" fmla="*/ 11826422 w 12192000"/>
              <a:gd name="connsiteY35" fmla="*/ 995644 h 4783510"/>
              <a:gd name="connsiteX36" fmla="*/ 11891635 w 12192000"/>
              <a:gd name="connsiteY36" fmla="*/ 997172 h 4783510"/>
              <a:gd name="connsiteX37" fmla="*/ 11959068 w 12192000"/>
              <a:gd name="connsiteY37" fmla="*/ 979087 h 4783510"/>
              <a:gd name="connsiteX38" fmla="*/ 11974871 w 12192000"/>
              <a:gd name="connsiteY38" fmla="*/ 981280 h 4783510"/>
              <a:gd name="connsiteX39" fmla="*/ 11996673 w 12192000"/>
              <a:gd name="connsiteY39" fmla="*/ 989271 h 4783510"/>
              <a:gd name="connsiteX40" fmla="*/ 12064304 w 12192000"/>
              <a:gd name="connsiteY40" fmla="*/ 976743 h 4783510"/>
              <a:gd name="connsiteX41" fmla="*/ 12108011 w 12192000"/>
              <a:gd name="connsiteY41" fmla="*/ 949852 h 4783510"/>
              <a:gd name="connsiteX42" fmla="*/ 12137961 w 12192000"/>
              <a:gd name="connsiteY42" fmla="*/ 928659 h 4783510"/>
              <a:gd name="connsiteX43" fmla="*/ 12152392 w 12192000"/>
              <a:gd name="connsiteY43" fmla="*/ 940852 h 4783510"/>
              <a:gd name="connsiteX44" fmla="*/ 12187275 w 12192000"/>
              <a:gd name="connsiteY44" fmla="*/ 939175 h 4783510"/>
              <a:gd name="connsiteX45" fmla="*/ 12192000 w 12192000"/>
              <a:gd name="connsiteY45" fmla="*/ 932202 h 4783510"/>
              <a:gd name="connsiteX46" fmla="*/ 12192000 w 12192000"/>
              <a:gd name="connsiteY46" fmla="*/ 1423622 h 4783510"/>
              <a:gd name="connsiteX47" fmla="*/ 12192000 w 12192000"/>
              <a:gd name="connsiteY47" fmla="*/ 2783600 h 4783510"/>
              <a:gd name="connsiteX48" fmla="*/ 12192000 w 12192000"/>
              <a:gd name="connsiteY48" fmla="*/ 4783510 h 4783510"/>
              <a:gd name="connsiteX49" fmla="*/ 2 w 12192000"/>
              <a:gd name="connsiteY49" fmla="*/ 4783510 h 4783510"/>
              <a:gd name="connsiteX50" fmla="*/ 2 w 12192000"/>
              <a:gd name="connsiteY50" fmla="*/ 1855074 h 4783510"/>
              <a:gd name="connsiteX51" fmla="*/ 0 w 12192000"/>
              <a:gd name="connsiteY51" fmla="*/ 1855074 h 4783510"/>
              <a:gd name="connsiteX52" fmla="*/ 0 w 12192000"/>
              <a:gd name="connsiteY52" fmla="*/ 3676 h 4783510"/>
              <a:gd name="connsiteX53" fmla="*/ 4725 w 12192000"/>
              <a:gd name="connsiteY53" fmla="*/ 10649 h 4783510"/>
              <a:gd name="connsiteX54" fmla="*/ 39608 w 12192000"/>
              <a:gd name="connsiteY54" fmla="*/ 12325 h 4783510"/>
              <a:gd name="connsiteX55" fmla="*/ 54039 w 12192000"/>
              <a:gd name="connsiteY55" fmla="*/ 133 h 4783510"/>
              <a:gd name="connsiteX0" fmla="*/ 54039 w 12192000"/>
              <a:gd name="connsiteY0" fmla="*/ 133 h 4783510"/>
              <a:gd name="connsiteX1" fmla="*/ 83989 w 12192000"/>
              <a:gd name="connsiteY1" fmla="*/ 21326 h 4783510"/>
              <a:gd name="connsiteX2" fmla="*/ 127696 w 12192000"/>
              <a:gd name="connsiteY2" fmla="*/ 48217 h 4783510"/>
              <a:gd name="connsiteX3" fmla="*/ 195328 w 12192000"/>
              <a:gd name="connsiteY3" fmla="*/ 60745 h 4783510"/>
              <a:gd name="connsiteX4" fmla="*/ 217130 w 12192000"/>
              <a:gd name="connsiteY4" fmla="*/ 52754 h 4783510"/>
              <a:gd name="connsiteX5" fmla="*/ 232932 w 12192000"/>
              <a:gd name="connsiteY5" fmla="*/ 50560 h 4783510"/>
              <a:gd name="connsiteX6" fmla="*/ 296960 w 12192000"/>
              <a:gd name="connsiteY6" fmla="*/ 85674 h 4783510"/>
              <a:gd name="connsiteX7" fmla="*/ 329442 w 12192000"/>
              <a:gd name="connsiteY7" fmla="*/ 61820 h 4783510"/>
              <a:gd name="connsiteX8" fmla="*/ 386012 w 12192000"/>
              <a:gd name="connsiteY8" fmla="*/ 80741 h 4783510"/>
              <a:gd name="connsiteX9" fmla="*/ 425496 w 12192000"/>
              <a:gd name="connsiteY9" fmla="*/ 47729 h 4783510"/>
              <a:gd name="connsiteX10" fmla="*/ 459561 w 12192000"/>
              <a:gd name="connsiteY10" fmla="*/ 55824 h 4783510"/>
              <a:gd name="connsiteX11" fmla="*/ 559233 w 12192000"/>
              <a:gd name="connsiteY11" fmla="*/ 72799 h 4783510"/>
              <a:gd name="connsiteX12" fmla="*/ 661345 w 12192000"/>
              <a:gd name="connsiteY12" fmla="*/ 147481 h 4783510"/>
              <a:gd name="connsiteX13" fmla="*/ 725095 w 12192000"/>
              <a:gd name="connsiteY13" fmla="*/ 161274 h 4783510"/>
              <a:gd name="connsiteX14" fmla="*/ 755536 w 12192000"/>
              <a:gd name="connsiteY14" fmla="*/ 180724 h 4783510"/>
              <a:gd name="connsiteX15" fmla="*/ 776480 w 12192000"/>
              <a:gd name="connsiteY15" fmla="*/ 182273 h 4783510"/>
              <a:gd name="connsiteX16" fmla="*/ 789058 w 12192000"/>
              <a:gd name="connsiteY16" fmla="*/ 184824 h 4783510"/>
              <a:gd name="connsiteX17" fmla="*/ 811171 w 12192000"/>
              <a:gd name="connsiteY17" fmla="*/ 216295 h 4783510"/>
              <a:gd name="connsiteX18" fmla="*/ 878029 w 12192000"/>
              <a:gd name="connsiteY18" fmla="*/ 215023 h 4783510"/>
              <a:gd name="connsiteX19" fmla="*/ 884769 w 12192000"/>
              <a:gd name="connsiteY19" fmla="*/ 220986 h 4783510"/>
              <a:gd name="connsiteX20" fmla="*/ 1600387 w 12192000"/>
              <a:gd name="connsiteY20" fmla="*/ 354356 h 4783510"/>
              <a:gd name="connsiteX21" fmla="*/ 9012952 w 12192000"/>
              <a:gd name="connsiteY21" fmla="*/ 1139547 h 4783510"/>
              <a:gd name="connsiteX22" fmla="*/ 11269135 w 12192000"/>
              <a:gd name="connsiteY22" fmla="*/ 1154978 h 4783510"/>
              <a:gd name="connsiteX23" fmla="*/ 11276593 w 12192000"/>
              <a:gd name="connsiteY23" fmla="*/ 1158504 h 4783510"/>
              <a:gd name="connsiteX24" fmla="*/ 11298713 w 12192000"/>
              <a:gd name="connsiteY24" fmla="*/ 1157049 h 4783510"/>
              <a:gd name="connsiteX25" fmla="*/ 11380829 w 12192000"/>
              <a:gd name="connsiteY25" fmla="*/ 1144822 h 4783510"/>
              <a:gd name="connsiteX26" fmla="*/ 11402942 w 12192000"/>
              <a:gd name="connsiteY26" fmla="*/ 1113350 h 4783510"/>
              <a:gd name="connsiteX27" fmla="*/ 11415520 w 12192000"/>
              <a:gd name="connsiteY27" fmla="*/ 1110800 h 4783510"/>
              <a:gd name="connsiteX28" fmla="*/ 11436464 w 12192000"/>
              <a:gd name="connsiteY28" fmla="*/ 1109251 h 4783510"/>
              <a:gd name="connsiteX29" fmla="*/ 11466905 w 12192000"/>
              <a:gd name="connsiteY29" fmla="*/ 1089800 h 4783510"/>
              <a:gd name="connsiteX30" fmla="*/ 11530655 w 12192000"/>
              <a:gd name="connsiteY30" fmla="*/ 1076007 h 4783510"/>
              <a:gd name="connsiteX31" fmla="*/ 11632767 w 12192000"/>
              <a:gd name="connsiteY31" fmla="*/ 1001326 h 4783510"/>
              <a:gd name="connsiteX32" fmla="*/ 11708599 w 12192000"/>
              <a:gd name="connsiteY32" fmla="*/ 997972 h 4783510"/>
              <a:gd name="connsiteX33" fmla="*/ 11766504 w 12192000"/>
              <a:gd name="connsiteY33" fmla="*/ 976255 h 4783510"/>
              <a:gd name="connsiteX34" fmla="*/ 11781629 w 12192000"/>
              <a:gd name="connsiteY34" fmla="*/ 985430 h 4783510"/>
              <a:gd name="connsiteX35" fmla="*/ 11826422 w 12192000"/>
              <a:gd name="connsiteY35" fmla="*/ 995644 h 4783510"/>
              <a:gd name="connsiteX36" fmla="*/ 11891635 w 12192000"/>
              <a:gd name="connsiteY36" fmla="*/ 997172 h 4783510"/>
              <a:gd name="connsiteX37" fmla="*/ 11959068 w 12192000"/>
              <a:gd name="connsiteY37" fmla="*/ 979087 h 4783510"/>
              <a:gd name="connsiteX38" fmla="*/ 11974871 w 12192000"/>
              <a:gd name="connsiteY38" fmla="*/ 981280 h 4783510"/>
              <a:gd name="connsiteX39" fmla="*/ 11996673 w 12192000"/>
              <a:gd name="connsiteY39" fmla="*/ 989271 h 4783510"/>
              <a:gd name="connsiteX40" fmla="*/ 12064304 w 12192000"/>
              <a:gd name="connsiteY40" fmla="*/ 976743 h 4783510"/>
              <a:gd name="connsiteX41" fmla="*/ 12108011 w 12192000"/>
              <a:gd name="connsiteY41" fmla="*/ 949852 h 4783510"/>
              <a:gd name="connsiteX42" fmla="*/ 12137961 w 12192000"/>
              <a:gd name="connsiteY42" fmla="*/ 928659 h 4783510"/>
              <a:gd name="connsiteX43" fmla="*/ 12152392 w 12192000"/>
              <a:gd name="connsiteY43" fmla="*/ 940852 h 4783510"/>
              <a:gd name="connsiteX44" fmla="*/ 12187275 w 12192000"/>
              <a:gd name="connsiteY44" fmla="*/ 939175 h 4783510"/>
              <a:gd name="connsiteX45" fmla="*/ 12192000 w 12192000"/>
              <a:gd name="connsiteY45" fmla="*/ 932202 h 4783510"/>
              <a:gd name="connsiteX46" fmla="*/ 12192000 w 12192000"/>
              <a:gd name="connsiteY46" fmla="*/ 1423622 h 4783510"/>
              <a:gd name="connsiteX47" fmla="*/ 12192000 w 12192000"/>
              <a:gd name="connsiteY47" fmla="*/ 2783600 h 4783510"/>
              <a:gd name="connsiteX48" fmla="*/ 12192000 w 12192000"/>
              <a:gd name="connsiteY48" fmla="*/ 4783510 h 4783510"/>
              <a:gd name="connsiteX49" fmla="*/ 2 w 12192000"/>
              <a:gd name="connsiteY49" fmla="*/ 4783510 h 4783510"/>
              <a:gd name="connsiteX50" fmla="*/ 2 w 12192000"/>
              <a:gd name="connsiteY50" fmla="*/ 1855074 h 4783510"/>
              <a:gd name="connsiteX51" fmla="*/ 0 w 12192000"/>
              <a:gd name="connsiteY51" fmla="*/ 1855074 h 4783510"/>
              <a:gd name="connsiteX52" fmla="*/ 0 w 12192000"/>
              <a:gd name="connsiteY52" fmla="*/ 3676 h 4783510"/>
              <a:gd name="connsiteX53" fmla="*/ 4725 w 12192000"/>
              <a:gd name="connsiteY53" fmla="*/ 10649 h 4783510"/>
              <a:gd name="connsiteX54" fmla="*/ 39608 w 12192000"/>
              <a:gd name="connsiteY54" fmla="*/ 12325 h 4783510"/>
              <a:gd name="connsiteX55" fmla="*/ 54039 w 12192000"/>
              <a:gd name="connsiteY55" fmla="*/ 133 h 4783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4783510">
                <a:moveTo>
                  <a:pt x="54039" y="133"/>
                </a:moveTo>
                <a:cubicBezTo>
                  <a:pt x="63704" y="2639"/>
                  <a:pt x="62723" y="39358"/>
                  <a:pt x="83989" y="21326"/>
                </a:cubicBezTo>
                <a:cubicBezTo>
                  <a:pt x="105981" y="-11024"/>
                  <a:pt x="111081" y="45279"/>
                  <a:pt x="127696" y="48217"/>
                </a:cubicBezTo>
                <a:cubicBezTo>
                  <a:pt x="144311" y="51155"/>
                  <a:pt x="175067" y="46490"/>
                  <a:pt x="195328" y="60745"/>
                </a:cubicBezTo>
                <a:cubicBezTo>
                  <a:pt x="202114" y="49815"/>
                  <a:pt x="211298" y="72404"/>
                  <a:pt x="217130" y="52754"/>
                </a:cubicBezTo>
                <a:cubicBezTo>
                  <a:pt x="224172" y="55476"/>
                  <a:pt x="227826" y="61398"/>
                  <a:pt x="232932" y="50560"/>
                </a:cubicBezTo>
                <a:cubicBezTo>
                  <a:pt x="248268" y="92855"/>
                  <a:pt x="280981" y="52963"/>
                  <a:pt x="296960" y="85674"/>
                </a:cubicBezTo>
                <a:cubicBezTo>
                  <a:pt x="299830" y="67582"/>
                  <a:pt x="319291" y="68613"/>
                  <a:pt x="329442" y="61820"/>
                </a:cubicBezTo>
                <a:cubicBezTo>
                  <a:pt x="298380" y="131083"/>
                  <a:pt x="368905" y="57302"/>
                  <a:pt x="386012" y="80741"/>
                </a:cubicBezTo>
                <a:cubicBezTo>
                  <a:pt x="377510" y="29578"/>
                  <a:pt x="414386" y="72354"/>
                  <a:pt x="425496" y="47729"/>
                </a:cubicBezTo>
                <a:cubicBezTo>
                  <a:pt x="437040" y="71659"/>
                  <a:pt x="445854" y="45812"/>
                  <a:pt x="459561" y="55824"/>
                </a:cubicBezTo>
                <a:cubicBezTo>
                  <a:pt x="489863" y="61969"/>
                  <a:pt x="520202" y="89712"/>
                  <a:pt x="559233" y="72799"/>
                </a:cubicBezTo>
                <a:cubicBezTo>
                  <a:pt x="577813" y="147164"/>
                  <a:pt x="623281" y="104139"/>
                  <a:pt x="661345" y="147481"/>
                </a:cubicBezTo>
                <a:cubicBezTo>
                  <a:pt x="683250" y="156781"/>
                  <a:pt x="717059" y="121215"/>
                  <a:pt x="725095" y="161274"/>
                </a:cubicBezTo>
                <a:cubicBezTo>
                  <a:pt x="734778" y="137222"/>
                  <a:pt x="744590" y="176885"/>
                  <a:pt x="755536" y="180724"/>
                </a:cubicBezTo>
                <a:cubicBezTo>
                  <a:pt x="764056" y="165505"/>
                  <a:pt x="768536" y="179043"/>
                  <a:pt x="776480" y="182273"/>
                </a:cubicBezTo>
                <a:cubicBezTo>
                  <a:pt x="779946" y="172829"/>
                  <a:pt x="786646" y="173541"/>
                  <a:pt x="789058" y="184824"/>
                </a:cubicBezTo>
                <a:cubicBezTo>
                  <a:pt x="786138" y="210571"/>
                  <a:pt x="809228" y="198414"/>
                  <a:pt x="811171" y="216295"/>
                </a:cubicBezTo>
                <a:cubicBezTo>
                  <a:pt x="821323" y="219407"/>
                  <a:pt x="856662" y="208499"/>
                  <a:pt x="878029" y="215023"/>
                </a:cubicBezTo>
                <a:lnTo>
                  <a:pt x="884769" y="220986"/>
                </a:lnTo>
                <a:lnTo>
                  <a:pt x="1600387" y="354356"/>
                </a:lnTo>
                <a:lnTo>
                  <a:pt x="9012952" y="1139547"/>
                </a:lnTo>
                <a:lnTo>
                  <a:pt x="11269135" y="1154978"/>
                </a:lnTo>
                <a:lnTo>
                  <a:pt x="11276593" y="1158504"/>
                </a:lnTo>
                <a:cubicBezTo>
                  <a:pt x="11284278" y="1160597"/>
                  <a:pt x="11291853" y="1160653"/>
                  <a:pt x="11298713" y="1157049"/>
                </a:cubicBezTo>
                <a:cubicBezTo>
                  <a:pt x="11308980" y="1128196"/>
                  <a:pt x="11367293" y="1148970"/>
                  <a:pt x="11380829" y="1144822"/>
                </a:cubicBezTo>
                <a:cubicBezTo>
                  <a:pt x="11382772" y="1126940"/>
                  <a:pt x="11405862" y="1139097"/>
                  <a:pt x="11402942" y="1113350"/>
                </a:cubicBezTo>
                <a:cubicBezTo>
                  <a:pt x="11405355" y="1102067"/>
                  <a:pt x="11412054" y="1101355"/>
                  <a:pt x="11415520" y="1110800"/>
                </a:cubicBezTo>
                <a:cubicBezTo>
                  <a:pt x="11423464" y="1107569"/>
                  <a:pt x="11427945" y="1094031"/>
                  <a:pt x="11436464" y="1109251"/>
                </a:cubicBezTo>
                <a:cubicBezTo>
                  <a:pt x="11447410" y="1105411"/>
                  <a:pt x="11457222" y="1065748"/>
                  <a:pt x="11466905" y="1089800"/>
                </a:cubicBezTo>
                <a:cubicBezTo>
                  <a:pt x="11474941" y="1049741"/>
                  <a:pt x="11508751" y="1085307"/>
                  <a:pt x="11530655" y="1076007"/>
                </a:cubicBezTo>
                <a:cubicBezTo>
                  <a:pt x="11568719" y="1032666"/>
                  <a:pt x="11614187" y="1075691"/>
                  <a:pt x="11632767" y="1001326"/>
                </a:cubicBezTo>
                <a:cubicBezTo>
                  <a:pt x="11671799" y="1018238"/>
                  <a:pt x="11678297" y="1004118"/>
                  <a:pt x="11708599" y="997972"/>
                </a:cubicBezTo>
                <a:cubicBezTo>
                  <a:pt x="11722307" y="987960"/>
                  <a:pt x="11754960" y="1000186"/>
                  <a:pt x="11766504" y="976255"/>
                </a:cubicBezTo>
                <a:cubicBezTo>
                  <a:pt x="11775270" y="975867"/>
                  <a:pt x="11771643" y="982199"/>
                  <a:pt x="11781629" y="985430"/>
                </a:cubicBezTo>
                <a:cubicBezTo>
                  <a:pt x="11791615" y="988661"/>
                  <a:pt x="11808655" y="993119"/>
                  <a:pt x="11826422" y="995644"/>
                </a:cubicBezTo>
                <a:cubicBezTo>
                  <a:pt x="11847845" y="1001968"/>
                  <a:pt x="11866122" y="1002202"/>
                  <a:pt x="11891635" y="997172"/>
                </a:cubicBezTo>
                <a:cubicBezTo>
                  <a:pt x="11907614" y="964462"/>
                  <a:pt x="11943732" y="1021381"/>
                  <a:pt x="11959068" y="979087"/>
                </a:cubicBezTo>
                <a:cubicBezTo>
                  <a:pt x="11964175" y="989925"/>
                  <a:pt x="11967829" y="984002"/>
                  <a:pt x="11974871" y="981280"/>
                </a:cubicBezTo>
                <a:cubicBezTo>
                  <a:pt x="11980703" y="1000930"/>
                  <a:pt x="11989887" y="978341"/>
                  <a:pt x="11996673" y="989271"/>
                </a:cubicBezTo>
                <a:cubicBezTo>
                  <a:pt x="12016933" y="975016"/>
                  <a:pt x="12047689" y="979681"/>
                  <a:pt x="12064304" y="976743"/>
                </a:cubicBezTo>
                <a:cubicBezTo>
                  <a:pt x="12080919" y="973805"/>
                  <a:pt x="12075802" y="961775"/>
                  <a:pt x="12108011" y="949852"/>
                </a:cubicBezTo>
                <a:cubicBezTo>
                  <a:pt x="12129277" y="967884"/>
                  <a:pt x="12128297" y="931165"/>
                  <a:pt x="12137961" y="928659"/>
                </a:cubicBezTo>
                <a:cubicBezTo>
                  <a:pt x="12141183" y="927823"/>
                  <a:pt x="12145587" y="930789"/>
                  <a:pt x="12152392" y="940852"/>
                </a:cubicBezTo>
                <a:cubicBezTo>
                  <a:pt x="12158285" y="946241"/>
                  <a:pt x="12172554" y="936871"/>
                  <a:pt x="12187275" y="939175"/>
                </a:cubicBezTo>
                <a:lnTo>
                  <a:pt x="12192000" y="932202"/>
                </a:lnTo>
                <a:lnTo>
                  <a:pt x="12192000" y="1423622"/>
                </a:lnTo>
                <a:lnTo>
                  <a:pt x="12192000" y="2783600"/>
                </a:lnTo>
                <a:lnTo>
                  <a:pt x="12192000" y="4783510"/>
                </a:lnTo>
                <a:lnTo>
                  <a:pt x="2" y="4783510"/>
                </a:lnTo>
                <a:lnTo>
                  <a:pt x="2" y="1855074"/>
                </a:lnTo>
                <a:lnTo>
                  <a:pt x="0" y="1855074"/>
                </a:lnTo>
                <a:lnTo>
                  <a:pt x="0" y="3676"/>
                </a:lnTo>
                <a:lnTo>
                  <a:pt x="4725" y="10649"/>
                </a:lnTo>
                <a:cubicBezTo>
                  <a:pt x="19446" y="8345"/>
                  <a:pt x="33716" y="17715"/>
                  <a:pt x="39608" y="12325"/>
                </a:cubicBezTo>
                <a:cubicBezTo>
                  <a:pt x="46413" y="2263"/>
                  <a:pt x="50817" y="-703"/>
                  <a:pt x="54039" y="133"/>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descr="A screenshot of a computer&#10;&#10;Description automatically generated">
            <a:extLst>
              <a:ext uri="{FF2B5EF4-FFF2-40B4-BE49-F238E27FC236}">
                <a16:creationId xmlns:a16="http://schemas.microsoft.com/office/drawing/2014/main" id="{D607CFF8-5FDA-2CAA-A505-CE30B663618F}"/>
              </a:ext>
            </a:extLst>
          </p:cNvPr>
          <p:cNvPicPr>
            <a:picLocks noChangeAspect="1"/>
          </p:cNvPicPr>
          <p:nvPr/>
        </p:nvPicPr>
        <p:blipFill>
          <a:blip r:embed="rId2">
            <a:extLst>
              <a:ext uri="{28A0092B-C50C-407E-A947-70E740481C1C}">
                <a14:useLocalDpi xmlns:a14="http://schemas.microsoft.com/office/drawing/2010/main" val="0"/>
              </a:ext>
            </a:extLst>
          </a:blip>
          <a:srcRect t="1783" r="1" b="1"/>
          <a:stretch/>
        </p:blipFill>
        <p:spPr>
          <a:xfrm>
            <a:off x="680484" y="608261"/>
            <a:ext cx="10849144" cy="5700774"/>
          </a:xfrm>
          <a:custGeom>
            <a:avLst/>
            <a:gdLst/>
            <a:ahLst/>
            <a:cxnLst/>
            <a:rect l="l" t="t" r="r" b="b"/>
            <a:pathLst>
              <a:path w="10849144" h="5700774">
                <a:moveTo>
                  <a:pt x="10849144" y="0"/>
                </a:moveTo>
                <a:lnTo>
                  <a:pt x="10849144" y="4704874"/>
                </a:lnTo>
                <a:lnTo>
                  <a:pt x="10844433" y="4704083"/>
                </a:lnTo>
                <a:cubicBezTo>
                  <a:pt x="10775772" y="4702622"/>
                  <a:pt x="10731635" y="4723344"/>
                  <a:pt x="10627028" y="4736091"/>
                </a:cubicBezTo>
                <a:cubicBezTo>
                  <a:pt x="10549662" y="4756399"/>
                  <a:pt x="10442424" y="4756744"/>
                  <a:pt x="10426962" y="4785620"/>
                </a:cubicBezTo>
                <a:cubicBezTo>
                  <a:pt x="10323654" y="4811093"/>
                  <a:pt x="10316619" y="4787626"/>
                  <a:pt x="10226986" y="4823118"/>
                </a:cubicBezTo>
                <a:cubicBezTo>
                  <a:pt x="10150525" y="4884256"/>
                  <a:pt x="10082541" y="4863779"/>
                  <a:pt x="9981162" y="4935663"/>
                </a:cubicBezTo>
                <a:cubicBezTo>
                  <a:pt x="9931220" y="4933313"/>
                  <a:pt x="9892260" y="4951206"/>
                  <a:pt x="9843873" y="4935858"/>
                </a:cubicBezTo>
                <a:cubicBezTo>
                  <a:pt x="9822471" y="4921786"/>
                  <a:pt x="9777158" y="4963696"/>
                  <a:pt x="9752052" y="4925073"/>
                </a:cubicBezTo>
                <a:cubicBezTo>
                  <a:pt x="9750186" y="4953137"/>
                  <a:pt x="9702805" y="4928500"/>
                  <a:pt x="9692324" y="4915468"/>
                </a:cubicBezTo>
                <a:cubicBezTo>
                  <a:pt x="9680167" y="4927714"/>
                  <a:pt x="9659741" y="4905365"/>
                  <a:pt x="9646593" y="4906557"/>
                </a:cubicBezTo>
                <a:cubicBezTo>
                  <a:pt x="9620587" y="4845178"/>
                  <a:pt x="9617697" y="4941490"/>
                  <a:pt x="9585685" y="4906617"/>
                </a:cubicBezTo>
                <a:cubicBezTo>
                  <a:pt x="9571621" y="4927453"/>
                  <a:pt x="9523936" y="4971653"/>
                  <a:pt x="9486200" y="4990496"/>
                </a:cubicBezTo>
                <a:cubicBezTo>
                  <a:pt x="9411968" y="5031655"/>
                  <a:pt x="9406835" y="5080617"/>
                  <a:pt x="9330223" y="5063988"/>
                </a:cubicBezTo>
                <a:cubicBezTo>
                  <a:pt x="9319445" y="5103721"/>
                  <a:pt x="9188211" y="5003648"/>
                  <a:pt x="9204637" y="5074753"/>
                </a:cubicBezTo>
                <a:cubicBezTo>
                  <a:pt x="9179069" y="5071279"/>
                  <a:pt x="9160334" y="5042982"/>
                  <a:pt x="9174585" y="5089264"/>
                </a:cubicBezTo>
                <a:lnTo>
                  <a:pt x="9026902" y="5086064"/>
                </a:lnTo>
                <a:cubicBezTo>
                  <a:pt x="8945039" y="5098972"/>
                  <a:pt x="8893921" y="5133031"/>
                  <a:pt x="8809858" y="5115776"/>
                </a:cubicBezTo>
                <a:cubicBezTo>
                  <a:pt x="8727523" y="5113709"/>
                  <a:pt x="8685980" y="5083373"/>
                  <a:pt x="8574056" y="5084000"/>
                </a:cubicBezTo>
                <a:cubicBezTo>
                  <a:pt x="8495237" y="5079985"/>
                  <a:pt x="8382476" y="5056445"/>
                  <a:pt x="8302745" y="5071462"/>
                </a:cubicBezTo>
                <a:cubicBezTo>
                  <a:pt x="8207300" y="5035549"/>
                  <a:pt x="8230918" y="5079966"/>
                  <a:pt x="8128608" y="5060341"/>
                </a:cubicBezTo>
                <a:cubicBezTo>
                  <a:pt x="8083878" y="5137967"/>
                  <a:pt x="8005860" y="5099291"/>
                  <a:pt x="7951805" y="5118527"/>
                </a:cubicBezTo>
                <a:cubicBezTo>
                  <a:pt x="7889668" y="5135371"/>
                  <a:pt x="7818236" y="5153622"/>
                  <a:pt x="7755788" y="5161403"/>
                </a:cubicBezTo>
                <a:cubicBezTo>
                  <a:pt x="7706324" y="5126424"/>
                  <a:pt x="7638479" y="5212284"/>
                  <a:pt x="7577106" y="5165213"/>
                </a:cubicBezTo>
                <a:cubicBezTo>
                  <a:pt x="7554526" y="5153874"/>
                  <a:pt x="7484609" y="5155306"/>
                  <a:pt x="7471372" y="5177827"/>
                </a:cubicBezTo>
                <a:cubicBezTo>
                  <a:pt x="7456792" y="5182711"/>
                  <a:pt x="7439786" y="5174734"/>
                  <a:pt x="7433047" y="5198849"/>
                </a:cubicBezTo>
                <a:cubicBezTo>
                  <a:pt x="7421914" y="5227873"/>
                  <a:pt x="7371049" y="5183060"/>
                  <a:pt x="7378290" y="5217298"/>
                </a:cubicBezTo>
                <a:cubicBezTo>
                  <a:pt x="7342173" y="5186591"/>
                  <a:pt x="7313446" y="5247390"/>
                  <a:pt x="7283079" y="5262415"/>
                </a:cubicBezTo>
                <a:cubicBezTo>
                  <a:pt x="7254633" y="5231950"/>
                  <a:pt x="7227203" y="5272840"/>
                  <a:pt x="7160915" y="5280502"/>
                </a:cubicBezTo>
                <a:cubicBezTo>
                  <a:pt x="7129633" y="5245268"/>
                  <a:pt x="7108043" y="5306829"/>
                  <a:pt x="7049854" y="5260110"/>
                </a:cubicBezTo>
                <a:cubicBezTo>
                  <a:pt x="7018959" y="5259830"/>
                  <a:pt x="7028644" y="5259631"/>
                  <a:pt x="6975548" y="5251998"/>
                </a:cubicBezTo>
                <a:cubicBezTo>
                  <a:pt x="6894534" y="5243801"/>
                  <a:pt x="6869986" y="5257489"/>
                  <a:pt x="6795351" y="5247842"/>
                </a:cubicBezTo>
                <a:cubicBezTo>
                  <a:pt x="6711613" y="5244398"/>
                  <a:pt x="6709818" y="5284819"/>
                  <a:pt x="6600330" y="5227284"/>
                </a:cubicBezTo>
                <a:cubicBezTo>
                  <a:pt x="6591713" y="5254711"/>
                  <a:pt x="6578692" y="5256798"/>
                  <a:pt x="6555317" y="5245371"/>
                </a:cubicBezTo>
                <a:cubicBezTo>
                  <a:pt x="6514817" y="5245696"/>
                  <a:pt x="6524396" y="5312750"/>
                  <a:pt x="6479807" y="5274839"/>
                </a:cubicBezTo>
                <a:cubicBezTo>
                  <a:pt x="6490582" y="5310509"/>
                  <a:pt x="6404736" y="5293688"/>
                  <a:pt x="6426975" y="5330070"/>
                </a:cubicBezTo>
                <a:cubicBezTo>
                  <a:pt x="6403906" y="5364654"/>
                  <a:pt x="6385703" y="5311282"/>
                  <a:pt x="6362409" y="5341550"/>
                </a:cubicBezTo>
                <a:cubicBezTo>
                  <a:pt x="6337113" y="5341121"/>
                  <a:pt x="6306725" y="5322421"/>
                  <a:pt x="6275196" y="5327492"/>
                </a:cubicBezTo>
                <a:cubicBezTo>
                  <a:pt x="6231951" y="5309975"/>
                  <a:pt x="6227669" y="5348549"/>
                  <a:pt x="6173232" y="5371980"/>
                </a:cubicBezTo>
                <a:cubicBezTo>
                  <a:pt x="6147561" y="5352709"/>
                  <a:pt x="6129671" y="5364601"/>
                  <a:pt x="6113220" y="5386546"/>
                </a:cubicBezTo>
                <a:cubicBezTo>
                  <a:pt x="6057852" y="5385619"/>
                  <a:pt x="6010968" y="5420770"/>
                  <a:pt x="5950607" y="5438381"/>
                </a:cubicBezTo>
                <a:cubicBezTo>
                  <a:pt x="5884305" y="5470765"/>
                  <a:pt x="5920836" y="5463432"/>
                  <a:pt x="5880097" y="5487781"/>
                </a:cubicBezTo>
                <a:lnTo>
                  <a:pt x="5763805" y="5522426"/>
                </a:lnTo>
                <a:lnTo>
                  <a:pt x="5680769" y="5541020"/>
                </a:lnTo>
                <a:lnTo>
                  <a:pt x="5657234" y="5577549"/>
                </a:lnTo>
                <a:lnTo>
                  <a:pt x="5656897" y="5578228"/>
                </a:lnTo>
                <a:lnTo>
                  <a:pt x="5606432" y="5583275"/>
                </a:lnTo>
                <a:cubicBezTo>
                  <a:pt x="5579593" y="5590728"/>
                  <a:pt x="5526323" y="5613484"/>
                  <a:pt x="5495860" y="5622944"/>
                </a:cubicBezTo>
                <a:cubicBezTo>
                  <a:pt x="5468216" y="5616068"/>
                  <a:pt x="5451208" y="5585463"/>
                  <a:pt x="5461026" y="5633325"/>
                </a:cubicBezTo>
                <a:cubicBezTo>
                  <a:pt x="5451945" y="5632425"/>
                  <a:pt x="5446398" y="5636315"/>
                  <a:pt x="5442463" y="5642543"/>
                </a:cubicBezTo>
                <a:lnTo>
                  <a:pt x="5414637" y="5618665"/>
                </a:lnTo>
                <a:lnTo>
                  <a:pt x="5379838" y="5629021"/>
                </a:lnTo>
                <a:lnTo>
                  <a:pt x="5371733" y="5632368"/>
                </a:lnTo>
                <a:lnTo>
                  <a:pt x="5310861" y="5609123"/>
                </a:lnTo>
                <a:lnTo>
                  <a:pt x="5304926" y="5599797"/>
                </a:lnTo>
                <a:cubicBezTo>
                  <a:pt x="5298560" y="5594054"/>
                  <a:pt x="5289500" y="5591395"/>
                  <a:pt x="5274403" y="5595741"/>
                </a:cubicBezTo>
                <a:lnTo>
                  <a:pt x="5270930" y="5598215"/>
                </a:lnTo>
                <a:lnTo>
                  <a:pt x="5245636" y="5583936"/>
                </a:lnTo>
                <a:cubicBezTo>
                  <a:pt x="5237471" y="5577438"/>
                  <a:pt x="5150120" y="5569259"/>
                  <a:pt x="5144201" y="5558756"/>
                </a:cubicBezTo>
                <a:cubicBezTo>
                  <a:pt x="5048549" y="5584754"/>
                  <a:pt x="5041963" y="5538617"/>
                  <a:pt x="4949159" y="5545539"/>
                </a:cubicBezTo>
                <a:cubicBezTo>
                  <a:pt x="4868784" y="5475237"/>
                  <a:pt x="4818088" y="5518057"/>
                  <a:pt x="4746039" y="5507816"/>
                </a:cubicBezTo>
                <a:cubicBezTo>
                  <a:pt x="4677416" y="5500610"/>
                  <a:pt x="4645641" y="5523361"/>
                  <a:pt x="4553441" y="5522419"/>
                </a:cubicBezTo>
                <a:cubicBezTo>
                  <a:pt x="4455752" y="5507087"/>
                  <a:pt x="4313399" y="5515235"/>
                  <a:pt x="4203513" y="5482043"/>
                </a:cubicBezTo>
                <a:cubicBezTo>
                  <a:pt x="4117174" y="5471359"/>
                  <a:pt x="4116876" y="5479259"/>
                  <a:pt x="4083461" y="5478429"/>
                </a:cubicBezTo>
                <a:cubicBezTo>
                  <a:pt x="4072350" y="5482983"/>
                  <a:pt x="4013667" y="5469667"/>
                  <a:pt x="4003029" y="5477061"/>
                </a:cubicBezTo>
                <a:lnTo>
                  <a:pt x="3997453" y="5480895"/>
                </a:lnTo>
                <a:lnTo>
                  <a:pt x="3974987" y="5483158"/>
                </a:lnTo>
                <a:lnTo>
                  <a:pt x="3968837" y="5500146"/>
                </a:lnTo>
                <a:lnTo>
                  <a:pt x="3893757" y="5514872"/>
                </a:lnTo>
                <a:cubicBezTo>
                  <a:pt x="3843843" y="5473516"/>
                  <a:pt x="3801226" y="5522853"/>
                  <a:pt x="3713057" y="5521543"/>
                </a:cubicBezTo>
                <a:cubicBezTo>
                  <a:pt x="3689691" y="5507258"/>
                  <a:pt x="3596705" y="5472487"/>
                  <a:pt x="3579330" y="5493075"/>
                </a:cubicBezTo>
                <a:cubicBezTo>
                  <a:pt x="3562701" y="5495972"/>
                  <a:pt x="3545031" y="5485773"/>
                  <a:pt x="3534589" y="5508816"/>
                </a:cubicBezTo>
                <a:cubicBezTo>
                  <a:pt x="3518705" y="5536140"/>
                  <a:pt x="3468492" y="5484831"/>
                  <a:pt x="3472128" y="5519795"/>
                </a:cubicBezTo>
                <a:cubicBezTo>
                  <a:pt x="3428266" y="5520128"/>
                  <a:pt x="3332435" y="5511059"/>
                  <a:pt x="3271418" y="5510811"/>
                </a:cubicBezTo>
                <a:cubicBezTo>
                  <a:pt x="3241504" y="5471638"/>
                  <a:pt x="3153370" y="5525542"/>
                  <a:pt x="3106030" y="5518304"/>
                </a:cubicBezTo>
                <a:cubicBezTo>
                  <a:pt x="3064471" y="5520990"/>
                  <a:pt x="3060504" y="5541433"/>
                  <a:pt x="3011389" y="5533635"/>
                </a:cubicBezTo>
                <a:cubicBezTo>
                  <a:pt x="2923824" y="5527005"/>
                  <a:pt x="2892092" y="5511211"/>
                  <a:pt x="2811340" y="5491633"/>
                </a:cubicBezTo>
                <a:cubicBezTo>
                  <a:pt x="2719808" y="5476996"/>
                  <a:pt x="2718795" y="5497281"/>
                  <a:pt x="2616483" y="5472427"/>
                </a:cubicBezTo>
                <a:cubicBezTo>
                  <a:pt x="2592885" y="5464979"/>
                  <a:pt x="2535604" y="5465304"/>
                  <a:pt x="2511374" y="5450826"/>
                </a:cubicBezTo>
                <a:cubicBezTo>
                  <a:pt x="2477485" y="5458793"/>
                  <a:pt x="2338345" y="5468388"/>
                  <a:pt x="2301014" y="5479997"/>
                </a:cubicBezTo>
                <a:cubicBezTo>
                  <a:pt x="2248016" y="5487332"/>
                  <a:pt x="2294103" y="5474984"/>
                  <a:pt x="2246778" y="5481424"/>
                </a:cubicBezTo>
                <a:cubicBezTo>
                  <a:pt x="2201492" y="5458235"/>
                  <a:pt x="2191927" y="5495963"/>
                  <a:pt x="2129191" y="5511933"/>
                </a:cubicBezTo>
                <a:cubicBezTo>
                  <a:pt x="2103428" y="5489360"/>
                  <a:pt x="2082281" y="5498769"/>
                  <a:pt x="2061447" y="5518357"/>
                </a:cubicBezTo>
                <a:cubicBezTo>
                  <a:pt x="2000755" y="5510020"/>
                  <a:pt x="1944835" y="5538638"/>
                  <a:pt x="1876326" y="5548036"/>
                </a:cubicBezTo>
                <a:cubicBezTo>
                  <a:pt x="1802831" y="5520482"/>
                  <a:pt x="1785413" y="5583917"/>
                  <a:pt x="1712199" y="5593720"/>
                </a:cubicBezTo>
                <a:cubicBezTo>
                  <a:pt x="1649028" y="5639613"/>
                  <a:pt x="1663412" y="5633236"/>
                  <a:pt x="1601980" y="5628775"/>
                </a:cubicBezTo>
                <a:cubicBezTo>
                  <a:pt x="1545362" y="5623105"/>
                  <a:pt x="1566421" y="5707755"/>
                  <a:pt x="1449547" y="5688706"/>
                </a:cubicBezTo>
                <a:cubicBezTo>
                  <a:pt x="1440924" y="5679974"/>
                  <a:pt x="1400761" y="5688841"/>
                  <a:pt x="1402626" y="5700774"/>
                </a:cubicBezTo>
                <a:cubicBezTo>
                  <a:pt x="1392870" y="5697068"/>
                  <a:pt x="1337631" y="5660758"/>
                  <a:pt x="1335214" y="5679873"/>
                </a:cubicBezTo>
                <a:cubicBezTo>
                  <a:pt x="1286051" y="5682126"/>
                  <a:pt x="1269252" y="5684370"/>
                  <a:pt x="1225455" y="5660854"/>
                </a:cubicBezTo>
                <a:cubicBezTo>
                  <a:pt x="1200065" y="5653433"/>
                  <a:pt x="1193050" y="5658167"/>
                  <a:pt x="1124535" y="5640512"/>
                </a:cubicBezTo>
                <a:cubicBezTo>
                  <a:pt x="1074869" y="5658037"/>
                  <a:pt x="1065109" y="5620631"/>
                  <a:pt x="1001579" y="5645690"/>
                </a:cubicBezTo>
                <a:cubicBezTo>
                  <a:pt x="968866" y="5644152"/>
                  <a:pt x="915075" y="5652264"/>
                  <a:pt x="890113" y="5634869"/>
                </a:cubicBezTo>
                <a:cubicBezTo>
                  <a:pt x="851171" y="5707228"/>
                  <a:pt x="792528" y="5631332"/>
                  <a:pt x="751212" y="5632903"/>
                </a:cubicBezTo>
                <a:cubicBezTo>
                  <a:pt x="691335" y="5636083"/>
                  <a:pt x="568956" y="5618959"/>
                  <a:pt x="520176" y="5613716"/>
                </a:cubicBezTo>
                <a:cubicBezTo>
                  <a:pt x="501880" y="5615807"/>
                  <a:pt x="497009" y="5621722"/>
                  <a:pt x="458529" y="5601445"/>
                </a:cubicBezTo>
                <a:cubicBezTo>
                  <a:pt x="408382" y="5573457"/>
                  <a:pt x="359756" y="5556336"/>
                  <a:pt x="299969" y="5532287"/>
                </a:cubicBezTo>
                <a:cubicBezTo>
                  <a:pt x="284323" y="5483058"/>
                  <a:pt x="222426" y="5561728"/>
                  <a:pt x="220791" y="5508118"/>
                </a:cubicBezTo>
                <a:cubicBezTo>
                  <a:pt x="193797" y="5543566"/>
                  <a:pt x="143037" y="5488427"/>
                  <a:pt x="97480" y="5491517"/>
                </a:cubicBezTo>
                <a:cubicBezTo>
                  <a:pt x="88181" y="5467638"/>
                  <a:pt x="77725" y="5469169"/>
                  <a:pt x="59923" y="5482754"/>
                </a:cubicBezTo>
                <a:cubicBezTo>
                  <a:pt x="41690" y="5484890"/>
                  <a:pt x="22429" y="5482706"/>
                  <a:pt x="2649" y="5477471"/>
                </a:cubicBezTo>
                <a:lnTo>
                  <a:pt x="0" y="5476436"/>
                </a:lnTo>
                <a:lnTo>
                  <a:pt x="0" y="19227"/>
                </a:lnTo>
                <a:close/>
              </a:path>
            </a:pathLst>
          </a:custGeom>
        </p:spPr>
      </p:pic>
      <p:sp>
        <p:nvSpPr>
          <p:cNvPr id="12" name="Rectangle 6">
            <a:extLst>
              <a:ext uri="{FF2B5EF4-FFF2-40B4-BE49-F238E27FC236}">
                <a16:creationId xmlns:a16="http://schemas.microsoft.com/office/drawing/2014/main" id="{8276E914-D126-4153-AEBF-1B9B6361C2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4799" y="393769"/>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2B2E0F0-04ED-39DC-5B5A-D0975D6D39C6}"/>
              </a:ext>
            </a:extLst>
          </p:cNvPr>
          <p:cNvSpPr txBox="1"/>
          <p:nvPr/>
        </p:nvSpPr>
        <p:spPr>
          <a:xfrm>
            <a:off x="7141029" y="285095"/>
            <a:ext cx="4344203" cy="646331"/>
          </a:xfrm>
          <a:prstGeom prst="rect">
            <a:avLst/>
          </a:prstGeom>
          <a:noFill/>
          <a:ln>
            <a:solidFill>
              <a:srgbClr val="FF0000"/>
            </a:solidFill>
          </a:ln>
        </p:spPr>
        <p:txBody>
          <a:bodyPr wrap="square" rtlCol="0">
            <a:spAutoFit/>
          </a:bodyPr>
          <a:lstStyle/>
          <a:p>
            <a:r>
              <a:rPr lang="en-US" dirty="0"/>
              <a:t>The blue color is for discrete, and </a:t>
            </a:r>
          </a:p>
          <a:p>
            <a:r>
              <a:rPr lang="en-US" dirty="0"/>
              <a:t>The green color is for continuous fields.</a:t>
            </a:r>
          </a:p>
        </p:txBody>
      </p:sp>
    </p:spTree>
    <p:extLst>
      <p:ext uri="{BB962C8B-B14F-4D97-AF65-F5344CB8AC3E}">
        <p14:creationId xmlns:p14="http://schemas.microsoft.com/office/powerpoint/2010/main" val="2715660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977"/>
        <p:cNvGrpSpPr/>
        <p:nvPr/>
      </p:nvGrpSpPr>
      <p:grpSpPr>
        <a:xfrm>
          <a:off x="0" y="0"/>
          <a:ext cx="0" cy="0"/>
          <a:chOff x="0" y="0"/>
          <a:chExt cx="0" cy="0"/>
        </a:xfrm>
      </p:grpSpPr>
      <p:sp>
        <p:nvSpPr>
          <p:cNvPr id="5978" name="Google Shape;5978;p393"/>
          <p:cNvSpPr txBox="1">
            <a:spLocks noGrp="1"/>
          </p:cNvSpPr>
          <p:nvPr>
            <p:ph type="title"/>
          </p:nvPr>
        </p:nvSpPr>
        <p:spPr>
          <a:prstGeom prst="rect">
            <a:avLst/>
          </a:prstGeom>
        </p:spPr>
        <p:txBody>
          <a:bodyPr spcFirstLastPara="1" vert="horz" wrap="square" lIns="609600" tIns="12167" rIns="1341100" bIns="0" rtlCol="0" anchor="t" anchorCtr="0">
            <a:noAutofit/>
          </a:bodyPr>
          <a:lstStyle/>
          <a:p>
            <a:r>
              <a:rPr lang="en" dirty="0"/>
              <a:t>  10 Minutes</a:t>
            </a:r>
            <a:endParaRPr dirty="0"/>
          </a:p>
        </p:txBody>
      </p:sp>
      <p:sp>
        <p:nvSpPr>
          <p:cNvPr id="5979" name="Google Shape;5979;p393"/>
          <p:cNvSpPr txBox="1">
            <a:spLocks noGrp="1"/>
          </p:cNvSpPr>
          <p:nvPr>
            <p:ph type="sldNum" idx="12"/>
          </p:nvPr>
        </p:nvSpPr>
        <p:spPr>
          <a:prstGeom prst="rect">
            <a:avLst/>
          </a:prstGeom>
        </p:spPr>
        <p:txBody>
          <a:bodyPr spcFirstLastPara="1" vert="horz" wrap="square" lIns="0" tIns="0" rIns="0" bIns="121900" rtlCol="0" anchor="t" anchorCtr="0">
            <a:noAutofit/>
          </a:bodyPr>
          <a:lstStyle/>
          <a:p>
            <a:fld id="{00000000-1234-1234-1234-123412341234}" type="slidenum">
              <a:rPr lang="en"/>
              <a:pPr/>
              <a:t>16</a:t>
            </a:fld>
            <a:endParaRPr/>
          </a:p>
        </p:txBody>
      </p:sp>
      <p:sp>
        <p:nvSpPr>
          <p:cNvPr id="5981" name="Google Shape;5981;p393"/>
          <p:cNvSpPr txBox="1">
            <a:spLocks noGrp="1"/>
          </p:cNvSpPr>
          <p:nvPr>
            <p:ph type="title" idx="2"/>
          </p:nvPr>
        </p:nvSpPr>
        <p:spPr>
          <a:xfrm>
            <a:off x="849087" y="1441021"/>
            <a:ext cx="11202114" cy="1465899"/>
          </a:xfrm>
          <a:prstGeom prst="rect">
            <a:avLst/>
          </a:prstGeom>
        </p:spPr>
        <p:txBody>
          <a:bodyPr spcFirstLastPara="1" vert="horz" wrap="square" lIns="3413733" tIns="0" rIns="609600" bIns="609600" rtlCol="0" anchor="t" anchorCtr="0">
            <a:noAutofit/>
          </a:bodyPr>
          <a:lstStyle/>
          <a:p>
            <a:pPr>
              <a:buClr>
                <a:schemeClr val="dk1"/>
              </a:buClr>
              <a:buSzPts val="1100"/>
            </a:pPr>
            <a:r>
              <a:rPr lang="en-US" sz="3067" b="1" dirty="0"/>
              <a:t>Instructor Demonstration</a:t>
            </a:r>
            <a:r>
              <a:rPr lang="en" sz="3067" b="1" dirty="0"/>
              <a:t>: </a:t>
            </a:r>
            <a:r>
              <a:rPr lang="en-US" sz="3067" b="1" dirty="0"/>
              <a:t>Simple visualization (Global Rentals)</a:t>
            </a:r>
            <a:endParaRPr sz="3067" b="1" dirty="0"/>
          </a:p>
          <a:p>
            <a:pPr>
              <a:buClr>
                <a:schemeClr val="dk1"/>
              </a:buClr>
              <a:buSzPts val="1100"/>
            </a:pPr>
            <a:endParaRPr sz="3067" dirty="0">
              <a:latin typeface="Roboto Medium"/>
              <a:ea typeface="Roboto Medium"/>
              <a:cs typeface="Roboto Medium"/>
              <a:sym typeface="Roboto Medium"/>
            </a:endParaRPr>
          </a:p>
        </p:txBody>
      </p:sp>
      <p:sp>
        <p:nvSpPr>
          <p:cNvPr id="6" name="Rectangle 5">
            <a:extLst>
              <a:ext uri="{FF2B5EF4-FFF2-40B4-BE49-F238E27FC236}">
                <a16:creationId xmlns:a16="http://schemas.microsoft.com/office/drawing/2014/main" id="{7E26E8FB-5CDF-A9C2-62AB-B8EF12F5377E}"/>
              </a:ext>
            </a:extLst>
          </p:cNvPr>
          <p:cNvSpPr/>
          <p:nvPr/>
        </p:nvSpPr>
        <p:spPr>
          <a:xfrm>
            <a:off x="0" y="4684029"/>
            <a:ext cx="12192000" cy="1866837"/>
          </a:xfrm>
          <a:prstGeom prst="rect">
            <a:avLst/>
          </a:prstGeom>
          <a:solidFill>
            <a:srgbClr val="C09200">
              <a:alpha val="49804"/>
            </a:srgbClr>
          </a:solidFill>
          <a:ln>
            <a:solidFill>
              <a:srgbClr val="FFC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8" name="Picture 7" descr="A clock with a bell&#10;&#10;Description automatically generated">
            <a:extLst>
              <a:ext uri="{FF2B5EF4-FFF2-40B4-BE49-F238E27FC236}">
                <a16:creationId xmlns:a16="http://schemas.microsoft.com/office/drawing/2014/main" id="{88A25E8B-E337-29D4-2624-D9E613FFDA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6776" y="4730288"/>
            <a:ext cx="1474424" cy="1474424"/>
          </a:xfrm>
          <a:prstGeom prst="rect">
            <a:avLst/>
          </a:prstGeom>
        </p:spPr>
      </p:pic>
      <p:sp>
        <p:nvSpPr>
          <p:cNvPr id="9" name="TextBox 8">
            <a:extLst>
              <a:ext uri="{FF2B5EF4-FFF2-40B4-BE49-F238E27FC236}">
                <a16:creationId xmlns:a16="http://schemas.microsoft.com/office/drawing/2014/main" id="{78A1C98C-CBF1-4DF3-3F11-519189FD83DE}"/>
              </a:ext>
            </a:extLst>
          </p:cNvPr>
          <p:cNvSpPr txBox="1"/>
          <p:nvPr/>
        </p:nvSpPr>
        <p:spPr>
          <a:xfrm>
            <a:off x="7881257" y="5076100"/>
            <a:ext cx="2628119" cy="461665"/>
          </a:xfrm>
          <a:prstGeom prst="rect">
            <a:avLst/>
          </a:prstGeom>
          <a:noFill/>
        </p:spPr>
        <p:txBody>
          <a:bodyPr wrap="square" rtlCol="0">
            <a:spAutoFit/>
          </a:bodyPr>
          <a:lstStyle/>
          <a:p>
            <a:r>
              <a:rPr lang="en-US" sz="2400" b="1" dirty="0"/>
              <a:t>Suggested Time:</a:t>
            </a:r>
          </a:p>
        </p:txBody>
      </p:sp>
      <p:sp>
        <p:nvSpPr>
          <p:cNvPr id="10" name="TextBox 9">
            <a:extLst>
              <a:ext uri="{FF2B5EF4-FFF2-40B4-BE49-F238E27FC236}">
                <a16:creationId xmlns:a16="http://schemas.microsoft.com/office/drawing/2014/main" id="{AB896F87-EB2A-AA3D-0D4B-F4A66B100DCD}"/>
              </a:ext>
            </a:extLst>
          </p:cNvPr>
          <p:cNvSpPr txBox="1"/>
          <p:nvPr/>
        </p:nvSpPr>
        <p:spPr>
          <a:xfrm>
            <a:off x="8666492" y="5567098"/>
            <a:ext cx="2597547" cy="400110"/>
          </a:xfrm>
          <a:prstGeom prst="rect">
            <a:avLst/>
          </a:prstGeom>
          <a:noFill/>
        </p:spPr>
        <p:txBody>
          <a:bodyPr wrap="square" rtlCol="0">
            <a:spAutoFit/>
          </a:bodyPr>
          <a:lstStyle/>
          <a:p>
            <a:r>
              <a:rPr lang="en-US" sz="2000" dirty="0"/>
              <a:t>5 minutes </a:t>
            </a:r>
          </a:p>
        </p:txBody>
      </p:sp>
      <p:pic>
        <p:nvPicPr>
          <p:cNvPr id="12" name="Picture 11" descr="A person standing in front of a board&#10;&#10;Description automatically generated">
            <a:extLst>
              <a:ext uri="{FF2B5EF4-FFF2-40B4-BE49-F238E27FC236}">
                <a16:creationId xmlns:a16="http://schemas.microsoft.com/office/drawing/2014/main" id="{BDD304A6-4CD0-33A5-D245-AA55A57929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16991"/>
            <a:ext cx="3977456" cy="4067038"/>
          </a:xfrm>
          <a:prstGeom prst="rect">
            <a:avLst/>
          </a:prstGeom>
        </p:spPr>
      </p:pic>
    </p:spTree>
    <p:extLst>
      <p:ext uri="{BB962C8B-B14F-4D97-AF65-F5344CB8AC3E}">
        <p14:creationId xmlns:p14="http://schemas.microsoft.com/office/powerpoint/2010/main" val="3926521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26"/>
        <p:cNvGrpSpPr/>
        <p:nvPr/>
      </p:nvGrpSpPr>
      <p:grpSpPr>
        <a:xfrm>
          <a:off x="0" y="0"/>
          <a:ext cx="0" cy="0"/>
          <a:chOff x="0" y="0"/>
          <a:chExt cx="0" cy="0"/>
        </a:xfrm>
      </p:grpSpPr>
      <p:sp>
        <p:nvSpPr>
          <p:cNvPr id="6027" name="Google Shape;6027;p400"/>
          <p:cNvSpPr txBox="1">
            <a:spLocks noGrp="1"/>
          </p:cNvSpPr>
          <p:nvPr>
            <p:ph type="title"/>
          </p:nvPr>
        </p:nvSpPr>
        <p:spPr>
          <a:xfrm>
            <a:off x="-16400" y="0"/>
            <a:ext cx="12224800" cy="711600"/>
          </a:xfrm>
          <a:prstGeom prst="rect">
            <a:avLst/>
          </a:prstGeom>
        </p:spPr>
        <p:txBody>
          <a:bodyPr spcFirstLastPara="1" vert="horz" wrap="square" lIns="609600" tIns="243833" rIns="365733" bIns="121900" rtlCol="0" anchor="t" anchorCtr="0">
            <a:noAutofit/>
          </a:bodyPr>
          <a:lstStyle/>
          <a:p>
            <a:pPr>
              <a:buSzPts val="990"/>
            </a:pPr>
            <a:r>
              <a:rPr lang="en" sz="3253"/>
              <a:t>Instructor Do: Building Basic Visuals</a:t>
            </a:r>
            <a:endParaRPr sz="3253" b="1">
              <a:latin typeface="Roboto"/>
              <a:ea typeface="Roboto"/>
              <a:cs typeface="Roboto"/>
              <a:sym typeface="Roboto"/>
            </a:endParaRPr>
          </a:p>
        </p:txBody>
      </p:sp>
      <p:sp>
        <p:nvSpPr>
          <p:cNvPr id="6028" name="Google Shape;6028;p400"/>
          <p:cNvSpPr txBox="1"/>
          <p:nvPr/>
        </p:nvSpPr>
        <p:spPr>
          <a:xfrm>
            <a:off x="502833" y="1002534"/>
            <a:ext cx="10688400" cy="1354176"/>
          </a:xfrm>
          <a:prstGeom prst="rect">
            <a:avLst/>
          </a:prstGeom>
          <a:noFill/>
          <a:ln>
            <a:noFill/>
          </a:ln>
        </p:spPr>
        <p:txBody>
          <a:bodyPr spcFirstLastPara="1" wrap="square" lIns="121900" tIns="121900" rIns="121900" bIns="121900" anchor="t" anchorCtr="0">
            <a:spAutoFit/>
          </a:bodyPr>
          <a:lstStyle/>
          <a:p>
            <a:r>
              <a:rPr lang="en" sz="2400"/>
              <a:t>Dragging "Paid Fee" from the Measurements panel and placing it within Columns, finally, creates a true visualization: a bar chart showing the total paid rental fees per rating for each store.</a:t>
            </a:r>
            <a:endParaRPr sz="2400"/>
          </a:p>
        </p:txBody>
      </p:sp>
      <p:pic>
        <p:nvPicPr>
          <p:cNvPr id="6029" name="Google Shape;6029;p400"/>
          <p:cNvPicPr preferRelativeResize="0"/>
          <p:nvPr/>
        </p:nvPicPr>
        <p:blipFill>
          <a:blip r:embed="rId3">
            <a:alphaModFix/>
          </a:blip>
          <a:stretch>
            <a:fillRect/>
          </a:stretch>
        </p:blipFill>
        <p:spPr>
          <a:xfrm>
            <a:off x="203200" y="2388724"/>
            <a:ext cx="11785599" cy="422513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33"/>
        <p:cNvGrpSpPr/>
        <p:nvPr/>
      </p:nvGrpSpPr>
      <p:grpSpPr>
        <a:xfrm>
          <a:off x="0" y="0"/>
          <a:ext cx="0" cy="0"/>
          <a:chOff x="0" y="0"/>
          <a:chExt cx="0" cy="0"/>
        </a:xfrm>
      </p:grpSpPr>
      <p:sp>
        <p:nvSpPr>
          <p:cNvPr id="6034" name="Google Shape;6034;p401"/>
          <p:cNvSpPr txBox="1">
            <a:spLocks noGrp="1"/>
          </p:cNvSpPr>
          <p:nvPr>
            <p:ph type="title"/>
          </p:nvPr>
        </p:nvSpPr>
        <p:spPr>
          <a:xfrm>
            <a:off x="-16400" y="0"/>
            <a:ext cx="12224800" cy="711600"/>
          </a:xfrm>
          <a:prstGeom prst="rect">
            <a:avLst/>
          </a:prstGeom>
        </p:spPr>
        <p:txBody>
          <a:bodyPr spcFirstLastPara="1" vert="horz" wrap="square" lIns="609600" tIns="243833" rIns="365733" bIns="121900" rtlCol="0" anchor="t" anchorCtr="0">
            <a:noAutofit/>
          </a:bodyPr>
          <a:lstStyle/>
          <a:p>
            <a:pPr>
              <a:buSzPts val="990"/>
            </a:pPr>
            <a:r>
              <a:rPr lang="en" sz="3253"/>
              <a:t>Instructor Do: Building Basic Visuals</a:t>
            </a:r>
            <a:endParaRPr sz="3253" b="1">
              <a:latin typeface="Roboto"/>
              <a:ea typeface="Roboto"/>
              <a:cs typeface="Roboto"/>
              <a:sym typeface="Roboto"/>
            </a:endParaRPr>
          </a:p>
        </p:txBody>
      </p:sp>
      <p:sp>
        <p:nvSpPr>
          <p:cNvPr id="6035" name="Google Shape;6035;p401"/>
          <p:cNvSpPr txBox="1"/>
          <p:nvPr/>
        </p:nvSpPr>
        <p:spPr>
          <a:xfrm>
            <a:off x="502833" y="1002534"/>
            <a:ext cx="11425600" cy="1354176"/>
          </a:xfrm>
          <a:prstGeom prst="rect">
            <a:avLst/>
          </a:prstGeom>
          <a:noFill/>
          <a:ln>
            <a:noFill/>
          </a:ln>
        </p:spPr>
        <p:txBody>
          <a:bodyPr spcFirstLastPara="1" wrap="square" lIns="121900" tIns="121900" rIns="121900" bIns="121900" anchor="t" anchorCtr="0">
            <a:spAutoFit/>
          </a:bodyPr>
          <a:lstStyle/>
          <a:p>
            <a:r>
              <a:rPr lang="en" sz="2400"/>
              <a:t>The chart can then be made more detailed by adding more elements. By adding Continent into Columns, for example, multiple charts are created to show the paid rental fees per rating by continent for each store.</a:t>
            </a:r>
            <a:endParaRPr sz="2400"/>
          </a:p>
        </p:txBody>
      </p:sp>
      <p:pic>
        <p:nvPicPr>
          <p:cNvPr id="6036" name="Google Shape;6036;p401"/>
          <p:cNvPicPr preferRelativeResize="0"/>
          <p:nvPr/>
        </p:nvPicPr>
        <p:blipFill>
          <a:blip r:embed="rId3">
            <a:alphaModFix/>
          </a:blip>
          <a:stretch>
            <a:fillRect/>
          </a:stretch>
        </p:blipFill>
        <p:spPr>
          <a:xfrm>
            <a:off x="203200" y="2293507"/>
            <a:ext cx="11785600" cy="441556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40"/>
        <p:cNvGrpSpPr/>
        <p:nvPr/>
      </p:nvGrpSpPr>
      <p:grpSpPr>
        <a:xfrm>
          <a:off x="0" y="0"/>
          <a:ext cx="0" cy="0"/>
          <a:chOff x="0" y="0"/>
          <a:chExt cx="0" cy="0"/>
        </a:xfrm>
      </p:grpSpPr>
      <p:sp>
        <p:nvSpPr>
          <p:cNvPr id="6041" name="Google Shape;6041;p402"/>
          <p:cNvSpPr txBox="1">
            <a:spLocks noGrp="1"/>
          </p:cNvSpPr>
          <p:nvPr>
            <p:ph type="title"/>
          </p:nvPr>
        </p:nvSpPr>
        <p:spPr>
          <a:xfrm>
            <a:off x="-16400" y="0"/>
            <a:ext cx="12224800" cy="711600"/>
          </a:xfrm>
          <a:prstGeom prst="rect">
            <a:avLst/>
          </a:prstGeom>
        </p:spPr>
        <p:txBody>
          <a:bodyPr spcFirstLastPara="1" vert="horz" wrap="square" lIns="609600" tIns="243833" rIns="365733" bIns="121900" rtlCol="0" anchor="t" anchorCtr="0">
            <a:noAutofit/>
          </a:bodyPr>
          <a:lstStyle/>
          <a:p>
            <a:pPr>
              <a:buSzPts val="990"/>
            </a:pPr>
            <a:r>
              <a:rPr lang="en" sz="3253"/>
              <a:t>Instructor Do: Building Basic Visuals</a:t>
            </a:r>
            <a:endParaRPr sz="3253" b="1">
              <a:latin typeface="Roboto"/>
              <a:ea typeface="Roboto"/>
              <a:cs typeface="Roboto"/>
              <a:sym typeface="Roboto"/>
            </a:endParaRPr>
          </a:p>
        </p:txBody>
      </p:sp>
      <p:pic>
        <p:nvPicPr>
          <p:cNvPr id="6042" name="Google Shape;6042;p402"/>
          <p:cNvPicPr preferRelativeResize="0"/>
          <p:nvPr/>
        </p:nvPicPr>
        <p:blipFill>
          <a:blip r:embed="rId3">
            <a:alphaModFix/>
          </a:blip>
          <a:stretch>
            <a:fillRect/>
          </a:stretch>
        </p:blipFill>
        <p:spPr>
          <a:xfrm>
            <a:off x="413800" y="993767"/>
            <a:ext cx="4801432" cy="5167067"/>
          </a:xfrm>
          <a:prstGeom prst="rect">
            <a:avLst/>
          </a:prstGeom>
          <a:noFill/>
          <a:ln>
            <a:noFill/>
          </a:ln>
        </p:spPr>
      </p:pic>
      <p:pic>
        <p:nvPicPr>
          <p:cNvPr id="6043" name="Google Shape;6043;p402"/>
          <p:cNvPicPr preferRelativeResize="0"/>
          <p:nvPr/>
        </p:nvPicPr>
        <p:blipFill>
          <a:blip r:embed="rId4">
            <a:alphaModFix/>
          </a:blip>
          <a:stretch>
            <a:fillRect/>
          </a:stretch>
        </p:blipFill>
        <p:spPr>
          <a:xfrm>
            <a:off x="8611334" y="914800"/>
            <a:ext cx="3396100" cy="5740000"/>
          </a:xfrm>
          <a:prstGeom prst="rect">
            <a:avLst/>
          </a:prstGeom>
          <a:noFill/>
          <a:ln>
            <a:noFill/>
          </a:ln>
        </p:spPr>
      </p:pic>
      <p:sp>
        <p:nvSpPr>
          <p:cNvPr id="6044" name="Google Shape;6044;p402"/>
          <p:cNvSpPr/>
          <p:nvPr/>
        </p:nvSpPr>
        <p:spPr>
          <a:xfrm>
            <a:off x="2459433" y="1848699"/>
            <a:ext cx="5870000" cy="4015533"/>
          </a:xfrm>
          <a:prstGeom prst="rect">
            <a:avLst/>
          </a:prstGeom>
          <a:noFill/>
          <a:ln w="2857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609585" indent="-423323">
              <a:buSzPts val="1400"/>
              <a:buChar char="●"/>
            </a:pPr>
            <a:r>
              <a:rPr lang="en" sz="2000" dirty="0"/>
              <a:t>Create a new worksheet within Tableau by clicking the </a:t>
            </a:r>
            <a:r>
              <a:rPr lang="en" sz="2000" i="1" dirty="0"/>
              <a:t>"New Worksheet"</a:t>
            </a:r>
            <a:r>
              <a:rPr lang="en" sz="2000" dirty="0"/>
              <a:t> button in the bottom left-hand menu. Drag Paid Fee into the Rows section.</a:t>
            </a:r>
            <a:endParaRPr sz="2000" dirty="0"/>
          </a:p>
          <a:p>
            <a:endParaRPr sz="2000" dirty="0"/>
          </a:p>
          <a:p>
            <a:pPr marL="609585" indent="-423323">
              <a:buSzPts val="1400"/>
              <a:buChar char="●"/>
            </a:pPr>
            <a:r>
              <a:rPr lang="en" sz="2000" dirty="0"/>
              <a:t>The Paid Fee pill is being measured by its sum by default.</a:t>
            </a:r>
            <a:endParaRPr sz="2000" dirty="0"/>
          </a:p>
          <a:p>
            <a:endParaRPr sz="2000" dirty="0"/>
          </a:p>
          <a:p>
            <a:pPr marL="609585" indent="-423323">
              <a:buSzPts val="1400"/>
              <a:buChar char="●"/>
            </a:pPr>
            <a:r>
              <a:rPr lang="en" sz="2000" dirty="0"/>
              <a:t>The type of calculation performed on a Measures pill can be changed by clicking on the pill, selecting Measure from the drop-down menu, and then picking one of the available calculation types.</a:t>
            </a:r>
            <a:endParaRPr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48"/>
        <p:cNvGrpSpPr/>
        <p:nvPr/>
      </p:nvGrpSpPr>
      <p:grpSpPr>
        <a:xfrm>
          <a:off x="0" y="0"/>
          <a:ext cx="0" cy="0"/>
          <a:chOff x="0" y="0"/>
          <a:chExt cx="0" cy="0"/>
        </a:xfrm>
      </p:grpSpPr>
      <p:sp>
        <p:nvSpPr>
          <p:cNvPr id="6049" name="Google Shape;6049;p403"/>
          <p:cNvSpPr txBox="1">
            <a:spLocks noGrp="1"/>
          </p:cNvSpPr>
          <p:nvPr>
            <p:ph type="title"/>
          </p:nvPr>
        </p:nvSpPr>
        <p:spPr>
          <a:xfrm>
            <a:off x="-16400" y="0"/>
            <a:ext cx="12224800" cy="711600"/>
          </a:xfrm>
          <a:prstGeom prst="rect">
            <a:avLst/>
          </a:prstGeom>
        </p:spPr>
        <p:txBody>
          <a:bodyPr spcFirstLastPara="1" vert="horz" wrap="square" lIns="609600" tIns="243833" rIns="365733" bIns="121900" rtlCol="0" anchor="t" anchorCtr="0">
            <a:noAutofit/>
          </a:bodyPr>
          <a:lstStyle/>
          <a:p>
            <a:pPr>
              <a:buSzPts val="990"/>
            </a:pPr>
            <a:r>
              <a:rPr lang="en" sz="3253"/>
              <a:t>Instructor Do: Building Basic Visuals</a:t>
            </a:r>
            <a:endParaRPr sz="3253" b="1">
              <a:latin typeface="Roboto"/>
              <a:ea typeface="Roboto"/>
              <a:cs typeface="Roboto"/>
              <a:sym typeface="Roboto"/>
            </a:endParaRPr>
          </a:p>
        </p:txBody>
      </p:sp>
      <p:sp>
        <p:nvSpPr>
          <p:cNvPr id="6050" name="Google Shape;6050;p403"/>
          <p:cNvSpPr txBox="1"/>
          <p:nvPr/>
        </p:nvSpPr>
        <p:spPr>
          <a:xfrm>
            <a:off x="502833" y="900934"/>
            <a:ext cx="11017600" cy="779532"/>
          </a:xfrm>
          <a:prstGeom prst="rect">
            <a:avLst/>
          </a:prstGeom>
          <a:noFill/>
          <a:ln>
            <a:noFill/>
          </a:ln>
        </p:spPr>
        <p:txBody>
          <a:bodyPr spcFirstLastPara="1" wrap="square" lIns="121900" tIns="121900" rIns="121900" bIns="121900" anchor="t" anchorCtr="0">
            <a:spAutoFit/>
          </a:bodyPr>
          <a:lstStyle/>
          <a:p>
            <a:r>
              <a:rPr lang="en" sz="1733"/>
              <a:t>Now, drag “</a:t>
            </a:r>
            <a:r>
              <a:rPr lang="en" sz="1733" i="1"/>
              <a:t>Rental Date”</a:t>
            </a:r>
            <a:r>
              <a:rPr lang="en" sz="1733"/>
              <a:t> into the Columns field to create a line chart. Tableau has aggregated the dates at the year level. To include quarters, simply click the plus symbol within the YEAR pill.</a:t>
            </a:r>
            <a:endParaRPr sz="1733"/>
          </a:p>
        </p:txBody>
      </p:sp>
      <p:pic>
        <p:nvPicPr>
          <p:cNvPr id="6051" name="Google Shape;6051;p403"/>
          <p:cNvPicPr preferRelativeResize="0"/>
          <p:nvPr/>
        </p:nvPicPr>
        <p:blipFill>
          <a:blip r:embed="rId3">
            <a:alphaModFix/>
          </a:blip>
          <a:stretch>
            <a:fillRect/>
          </a:stretch>
        </p:blipFill>
        <p:spPr>
          <a:xfrm>
            <a:off x="736567" y="1792967"/>
            <a:ext cx="2412067" cy="4648365"/>
          </a:xfrm>
          <a:prstGeom prst="rect">
            <a:avLst/>
          </a:prstGeom>
          <a:noFill/>
          <a:ln>
            <a:noFill/>
          </a:ln>
        </p:spPr>
      </p:pic>
      <p:pic>
        <p:nvPicPr>
          <p:cNvPr id="6052" name="Google Shape;6052;p403"/>
          <p:cNvPicPr preferRelativeResize="0"/>
          <p:nvPr/>
        </p:nvPicPr>
        <p:blipFill>
          <a:blip r:embed="rId4">
            <a:alphaModFix/>
          </a:blip>
          <a:stretch>
            <a:fillRect/>
          </a:stretch>
        </p:blipFill>
        <p:spPr>
          <a:xfrm>
            <a:off x="4218934" y="1798100"/>
            <a:ext cx="2823967" cy="4648368"/>
          </a:xfrm>
          <a:prstGeom prst="rect">
            <a:avLst/>
          </a:prstGeom>
          <a:noFill/>
          <a:ln>
            <a:noFill/>
          </a:ln>
        </p:spPr>
      </p:pic>
      <p:pic>
        <p:nvPicPr>
          <p:cNvPr id="6053" name="Google Shape;6053;p403"/>
          <p:cNvPicPr preferRelativeResize="0"/>
          <p:nvPr/>
        </p:nvPicPr>
        <p:blipFill>
          <a:blip r:embed="rId5">
            <a:alphaModFix/>
          </a:blip>
          <a:stretch>
            <a:fillRect/>
          </a:stretch>
        </p:blipFill>
        <p:spPr>
          <a:xfrm>
            <a:off x="7808400" y="1798101"/>
            <a:ext cx="2933835" cy="464836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extBox 8">
            <a:extLst>
              <a:ext uri="{FF2B5EF4-FFF2-40B4-BE49-F238E27FC236}">
                <a16:creationId xmlns:a16="http://schemas.microsoft.com/office/drawing/2014/main" id="{EEC84FB9-686D-9B7B-7BE0-5D4BF259CB49}"/>
              </a:ext>
            </a:extLst>
          </p:cNvPr>
          <p:cNvSpPr txBox="1"/>
          <p:nvPr/>
        </p:nvSpPr>
        <p:spPr>
          <a:xfrm>
            <a:off x="773408" y="992094"/>
            <a:ext cx="3616913" cy="2795160"/>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4400" b="1" kern="1200">
                <a:solidFill>
                  <a:schemeClr val="tx1"/>
                </a:solidFill>
                <a:latin typeface="+mj-lt"/>
                <a:ea typeface="+mj-ea"/>
                <a:cs typeface="+mj-cs"/>
              </a:rPr>
              <a:t>Questions</a:t>
            </a:r>
            <a:r>
              <a:rPr lang="en-US" sz="4400" kern="1200">
                <a:solidFill>
                  <a:schemeClr val="tx1"/>
                </a:solidFill>
                <a:latin typeface="+mj-lt"/>
                <a:ea typeface="+mj-ea"/>
                <a:cs typeface="+mj-cs"/>
              </a:rPr>
              <a:t> ?</a:t>
            </a:r>
          </a:p>
        </p:txBody>
      </p:sp>
      <p:pic>
        <p:nvPicPr>
          <p:cNvPr id="8" name="Picture 7" descr="A group of hands with their hands raised&#10;&#10;Description automatically generated">
            <a:extLst>
              <a:ext uri="{FF2B5EF4-FFF2-40B4-BE49-F238E27FC236}">
                <a16:creationId xmlns:a16="http://schemas.microsoft.com/office/drawing/2014/main" id="{EFB8A6E5-CB28-2BCB-2F87-E707279982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4801" y="578738"/>
            <a:ext cx="5670549" cy="5670549"/>
          </a:xfrm>
          <a:prstGeom prst="rect">
            <a:avLst/>
          </a:prstGeom>
        </p:spPr>
      </p:pic>
    </p:spTree>
    <p:extLst>
      <p:ext uri="{BB962C8B-B14F-4D97-AF65-F5344CB8AC3E}">
        <p14:creationId xmlns:p14="http://schemas.microsoft.com/office/powerpoint/2010/main" val="1630098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977"/>
        <p:cNvGrpSpPr/>
        <p:nvPr/>
      </p:nvGrpSpPr>
      <p:grpSpPr>
        <a:xfrm>
          <a:off x="0" y="0"/>
          <a:ext cx="0" cy="0"/>
          <a:chOff x="0" y="0"/>
          <a:chExt cx="0" cy="0"/>
        </a:xfrm>
      </p:grpSpPr>
      <p:sp>
        <p:nvSpPr>
          <p:cNvPr id="5978" name="Google Shape;5978;p393"/>
          <p:cNvSpPr txBox="1">
            <a:spLocks noGrp="1"/>
          </p:cNvSpPr>
          <p:nvPr>
            <p:ph type="title"/>
          </p:nvPr>
        </p:nvSpPr>
        <p:spPr>
          <a:prstGeom prst="rect">
            <a:avLst/>
          </a:prstGeom>
        </p:spPr>
        <p:txBody>
          <a:bodyPr spcFirstLastPara="1" vert="horz" wrap="square" lIns="609600" tIns="12167" rIns="1341100" bIns="0" rtlCol="0" anchor="t" anchorCtr="0">
            <a:noAutofit/>
          </a:bodyPr>
          <a:lstStyle/>
          <a:p>
            <a:r>
              <a:rPr lang="en" dirty="0"/>
              <a:t>  10 Minutes</a:t>
            </a:r>
            <a:endParaRPr dirty="0"/>
          </a:p>
        </p:txBody>
      </p:sp>
      <p:sp>
        <p:nvSpPr>
          <p:cNvPr id="5979" name="Google Shape;5979;p393"/>
          <p:cNvSpPr txBox="1">
            <a:spLocks noGrp="1"/>
          </p:cNvSpPr>
          <p:nvPr>
            <p:ph type="sldNum" idx="12"/>
          </p:nvPr>
        </p:nvSpPr>
        <p:spPr>
          <a:prstGeom prst="rect">
            <a:avLst/>
          </a:prstGeom>
        </p:spPr>
        <p:txBody>
          <a:bodyPr spcFirstLastPara="1" vert="horz" wrap="square" lIns="0" tIns="0" rIns="0" bIns="121900" rtlCol="0" anchor="t" anchorCtr="0">
            <a:noAutofit/>
          </a:bodyPr>
          <a:lstStyle/>
          <a:p>
            <a:fld id="{00000000-1234-1234-1234-123412341234}" type="slidenum">
              <a:rPr lang="en"/>
              <a:pPr/>
              <a:t>22</a:t>
            </a:fld>
            <a:endParaRPr/>
          </a:p>
        </p:txBody>
      </p:sp>
      <p:sp>
        <p:nvSpPr>
          <p:cNvPr id="5981" name="Google Shape;5981;p393"/>
          <p:cNvSpPr txBox="1">
            <a:spLocks noGrp="1"/>
          </p:cNvSpPr>
          <p:nvPr>
            <p:ph type="title" idx="2"/>
          </p:nvPr>
        </p:nvSpPr>
        <p:spPr>
          <a:xfrm>
            <a:off x="365200" y="1390500"/>
            <a:ext cx="11686000" cy="3685600"/>
          </a:xfrm>
          <a:prstGeom prst="rect">
            <a:avLst/>
          </a:prstGeom>
        </p:spPr>
        <p:txBody>
          <a:bodyPr spcFirstLastPara="1" vert="horz" wrap="square" lIns="3413733" tIns="0" rIns="609600" bIns="609600" rtlCol="0" anchor="t" anchorCtr="0">
            <a:noAutofit/>
          </a:bodyPr>
          <a:lstStyle/>
          <a:p>
            <a:pPr>
              <a:buClr>
                <a:schemeClr val="dk1"/>
              </a:buClr>
              <a:buSzPts val="1100"/>
            </a:pPr>
            <a:r>
              <a:rPr lang="en" sz="3067" b="1" dirty="0"/>
              <a:t>Student  Do: </a:t>
            </a:r>
            <a:r>
              <a:rPr lang="en-US" sz="3067" b="1" dirty="0"/>
              <a:t>Global Rentals</a:t>
            </a:r>
            <a:r>
              <a:rPr lang="en" sz="3067" b="1" dirty="0"/>
              <a:t> </a:t>
            </a:r>
            <a:r>
              <a:rPr lang="en-US" sz="3067" b="1" dirty="0"/>
              <a:t>visualization</a:t>
            </a:r>
            <a:endParaRPr sz="3067" b="1" dirty="0"/>
          </a:p>
          <a:p>
            <a:pPr>
              <a:buClr>
                <a:schemeClr val="dk1"/>
              </a:buClr>
              <a:buSzPts val="1100"/>
            </a:pPr>
            <a:endParaRPr sz="3067" dirty="0">
              <a:latin typeface="Roboto Medium"/>
              <a:ea typeface="Roboto Medium"/>
              <a:cs typeface="Roboto Medium"/>
              <a:sym typeface="Roboto Medium"/>
            </a:endParaRPr>
          </a:p>
          <a:p>
            <a:pPr marL="0" lvl="0" indent="0" algn="l" rtl="0">
              <a:spcBef>
                <a:spcPts val="0"/>
              </a:spcBef>
              <a:spcAft>
                <a:spcPts val="0"/>
              </a:spcAft>
              <a:buClr>
                <a:schemeClr val="dk1"/>
              </a:buClr>
              <a:buSzPts val="1100"/>
              <a:buFont typeface="Arial"/>
              <a:buNone/>
            </a:pPr>
            <a:r>
              <a:rPr lang="en-US" sz="2800" dirty="0">
                <a:latin typeface="Roboto Light"/>
                <a:ea typeface="Roboto Light"/>
                <a:cs typeface="Roboto Light"/>
                <a:sym typeface="Roboto Light"/>
              </a:rPr>
              <a:t>In this activity, you will be given visualizations that you will attempt to recreate using Tableau.</a:t>
            </a:r>
            <a:endParaRPr lang="en-US" sz="2800" dirty="0"/>
          </a:p>
        </p:txBody>
      </p:sp>
      <p:pic>
        <p:nvPicPr>
          <p:cNvPr id="5" name="Picture 4" descr="A pen and pencil with a black background&#10;&#10;Description automatically generated">
            <a:extLst>
              <a:ext uri="{FF2B5EF4-FFF2-40B4-BE49-F238E27FC236}">
                <a16:creationId xmlns:a16="http://schemas.microsoft.com/office/drawing/2014/main" id="{3D4352F9-81A4-3797-0CFF-9F8D6E7473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800" y="428610"/>
            <a:ext cx="4133943" cy="4133943"/>
          </a:xfrm>
          <a:prstGeom prst="rect">
            <a:avLst/>
          </a:prstGeom>
        </p:spPr>
      </p:pic>
      <p:sp>
        <p:nvSpPr>
          <p:cNvPr id="6" name="Rectangle 5">
            <a:extLst>
              <a:ext uri="{FF2B5EF4-FFF2-40B4-BE49-F238E27FC236}">
                <a16:creationId xmlns:a16="http://schemas.microsoft.com/office/drawing/2014/main" id="{7E26E8FB-5CDF-A9C2-62AB-B8EF12F5377E}"/>
              </a:ext>
            </a:extLst>
          </p:cNvPr>
          <p:cNvSpPr/>
          <p:nvPr/>
        </p:nvSpPr>
        <p:spPr>
          <a:xfrm>
            <a:off x="0" y="4684029"/>
            <a:ext cx="12192000" cy="1866837"/>
          </a:xfrm>
          <a:prstGeom prst="rect">
            <a:avLst/>
          </a:prstGeom>
          <a:solidFill>
            <a:srgbClr val="FFC000">
              <a:alpha val="50000"/>
            </a:srgbClr>
          </a:solidFill>
          <a:ln>
            <a:solidFill>
              <a:srgbClr val="FFC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8" name="Picture 7" descr="A clock with a bell&#10;&#10;Description automatically generated">
            <a:extLst>
              <a:ext uri="{FF2B5EF4-FFF2-40B4-BE49-F238E27FC236}">
                <a16:creationId xmlns:a16="http://schemas.microsoft.com/office/drawing/2014/main" id="{88A25E8B-E337-29D4-2624-D9E613FFDA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76776" y="4730288"/>
            <a:ext cx="1474424" cy="1474424"/>
          </a:xfrm>
          <a:prstGeom prst="rect">
            <a:avLst/>
          </a:prstGeom>
        </p:spPr>
      </p:pic>
      <p:sp>
        <p:nvSpPr>
          <p:cNvPr id="9" name="TextBox 8">
            <a:extLst>
              <a:ext uri="{FF2B5EF4-FFF2-40B4-BE49-F238E27FC236}">
                <a16:creationId xmlns:a16="http://schemas.microsoft.com/office/drawing/2014/main" id="{78A1C98C-CBF1-4DF3-3F11-519189FD83DE}"/>
              </a:ext>
            </a:extLst>
          </p:cNvPr>
          <p:cNvSpPr txBox="1"/>
          <p:nvPr/>
        </p:nvSpPr>
        <p:spPr>
          <a:xfrm>
            <a:off x="7881257" y="5076100"/>
            <a:ext cx="2628119" cy="461665"/>
          </a:xfrm>
          <a:prstGeom prst="rect">
            <a:avLst/>
          </a:prstGeom>
          <a:noFill/>
        </p:spPr>
        <p:txBody>
          <a:bodyPr wrap="square" rtlCol="0">
            <a:spAutoFit/>
          </a:bodyPr>
          <a:lstStyle/>
          <a:p>
            <a:r>
              <a:rPr lang="en-US" sz="2400" b="1" dirty="0"/>
              <a:t>Suggested Time:</a:t>
            </a:r>
          </a:p>
        </p:txBody>
      </p:sp>
      <p:sp>
        <p:nvSpPr>
          <p:cNvPr id="10" name="TextBox 9">
            <a:extLst>
              <a:ext uri="{FF2B5EF4-FFF2-40B4-BE49-F238E27FC236}">
                <a16:creationId xmlns:a16="http://schemas.microsoft.com/office/drawing/2014/main" id="{AB896F87-EB2A-AA3D-0D4B-F4A66B100DCD}"/>
              </a:ext>
            </a:extLst>
          </p:cNvPr>
          <p:cNvSpPr txBox="1"/>
          <p:nvPr/>
        </p:nvSpPr>
        <p:spPr>
          <a:xfrm>
            <a:off x="8666492" y="5567098"/>
            <a:ext cx="2597547" cy="400110"/>
          </a:xfrm>
          <a:prstGeom prst="rect">
            <a:avLst/>
          </a:prstGeom>
          <a:noFill/>
        </p:spPr>
        <p:txBody>
          <a:bodyPr wrap="square" rtlCol="0">
            <a:spAutoFit/>
          </a:bodyPr>
          <a:lstStyle/>
          <a:p>
            <a:r>
              <a:rPr lang="en-US" sz="2000" dirty="0"/>
              <a:t>15 minutes </a:t>
            </a:r>
          </a:p>
        </p:txBody>
      </p:sp>
    </p:spTree>
    <p:extLst>
      <p:ext uri="{BB962C8B-B14F-4D97-AF65-F5344CB8AC3E}">
        <p14:creationId xmlns:p14="http://schemas.microsoft.com/office/powerpoint/2010/main" val="14110778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078"/>
        <p:cNvGrpSpPr/>
        <p:nvPr/>
      </p:nvGrpSpPr>
      <p:grpSpPr>
        <a:xfrm>
          <a:off x="0" y="0"/>
          <a:ext cx="0" cy="0"/>
          <a:chOff x="0" y="0"/>
          <a:chExt cx="0" cy="0"/>
        </a:xfrm>
      </p:grpSpPr>
      <p:sp>
        <p:nvSpPr>
          <p:cNvPr id="6080" name="Google Shape;6080;p407"/>
          <p:cNvSpPr txBox="1">
            <a:spLocks noGrp="1"/>
          </p:cNvSpPr>
          <p:nvPr>
            <p:ph type="title"/>
          </p:nvPr>
        </p:nvSpPr>
        <p:spPr>
          <a:xfrm>
            <a:off x="-16400" y="0"/>
            <a:ext cx="12224800" cy="711600"/>
          </a:xfrm>
          <a:prstGeom prst="rect">
            <a:avLst/>
          </a:prstGeom>
        </p:spPr>
        <p:txBody>
          <a:bodyPr spcFirstLastPara="1" vert="horz" wrap="square" lIns="609600" tIns="243833" rIns="365733" bIns="121900" rtlCol="0" anchor="t" anchorCtr="0">
            <a:noAutofit/>
          </a:bodyPr>
          <a:lstStyle/>
          <a:p>
            <a:pPr>
              <a:buSzPts val="990"/>
            </a:pPr>
            <a:r>
              <a:rPr lang="en" sz="3253" dirty="0"/>
              <a:t>Activity: Explore Data</a:t>
            </a:r>
            <a:endParaRPr sz="3253" b="1" dirty="0">
              <a:latin typeface="Roboto"/>
              <a:ea typeface="Roboto"/>
              <a:cs typeface="Roboto"/>
              <a:sym typeface="Roboto"/>
            </a:endParaRPr>
          </a:p>
        </p:txBody>
      </p:sp>
      <p:sp>
        <p:nvSpPr>
          <p:cNvPr id="6081" name="Google Shape;6081;p407"/>
          <p:cNvSpPr txBox="1">
            <a:spLocks noGrp="1"/>
          </p:cNvSpPr>
          <p:nvPr>
            <p:ph type="sldNum" idx="12"/>
          </p:nvPr>
        </p:nvSpPr>
        <p:spPr>
          <a:xfrm>
            <a:off x="11477033" y="6609600"/>
            <a:ext cx="349200" cy="140800"/>
          </a:xfrm>
          <a:prstGeom prst="rect">
            <a:avLst/>
          </a:prstGeom>
        </p:spPr>
        <p:txBody>
          <a:bodyPr spcFirstLastPara="1" vert="horz" wrap="square" lIns="0" tIns="0" rIns="0" bIns="121900" rtlCol="0" anchor="t" anchorCtr="0">
            <a:normAutofit fontScale="25000" lnSpcReduction="20000"/>
          </a:bodyPr>
          <a:lstStyle/>
          <a:p>
            <a:fld id="{00000000-1234-1234-1234-123412341234}" type="slidenum">
              <a:rPr lang="en"/>
              <a:pPr/>
              <a:t>23</a:t>
            </a:fld>
            <a:endParaRPr/>
          </a:p>
        </p:txBody>
      </p:sp>
      <p:sp>
        <p:nvSpPr>
          <p:cNvPr id="6082" name="Google Shape;6082;p407"/>
          <p:cNvSpPr/>
          <p:nvPr/>
        </p:nvSpPr>
        <p:spPr>
          <a:xfrm>
            <a:off x="751100" y="1353300"/>
            <a:ext cx="10722400" cy="2075600"/>
          </a:xfrm>
          <a:prstGeom prst="rect">
            <a:avLst/>
          </a:prstGeom>
          <a:noFill/>
          <a:ln w="2857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083" name="Google Shape;6083;p407"/>
          <p:cNvSpPr txBox="1"/>
          <p:nvPr/>
        </p:nvSpPr>
        <p:spPr>
          <a:xfrm>
            <a:off x="710767" y="3526161"/>
            <a:ext cx="10605200" cy="1354176"/>
          </a:xfrm>
          <a:prstGeom prst="rect">
            <a:avLst/>
          </a:prstGeom>
          <a:noFill/>
          <a:ln>
            <a:noFill/>
          </a:ln>
        </p:spPr>
        <p:txBody>
          <a:bodyPr spcFirstLastPara="1" wrap="square" lIns="121900" tIns="121900" rIns="121900" bIns="121900" anchor="t" anchorCtr="0">
            <a:spAutoFit/>
          </a:bodyPr>
          <a:lstStyle/>
          <a:p>
            <a:pPr marL="609585" indent="-423323">
              <a:buSzPts val="1400"/>
              <a:buFont typeface="Roboto"/>
              <a:buChar char="●"/>
            </a:pPr>
            <a:r>
              <a:rPr lang="en" sz="2400" b="1">
                <a:latin typeface="Roboto"/>
                <a:ea typeface="Roboto"/>
                <a:cs typeface="Roboto"/>
                <a:sym typeface="Roboto"/>
              </a:rPr>
              <a:t>Bonus:</a:t>
            </a:r>
            <a:endParaRPr sz="2400" b="1">
              <a:latin typeface="Roboto"/>
              <a:ea typeface="Roboto"/>
              <a:cs typeface="Roboto"/>
              <a:sym typeface="Roboto"/>
            </a:endParaRPr>
          </a:p>
          <a:p>
            <a:pPr marL="1219170" lvl="1" indent="-423323">
              <a:buSzPts val="1400"/>
              <a:buFont typeface="Roboto"/>
              <a:buChar char="○"/>
            </a:pPr>
            <a:r>
              <a:rPr lang="en" sz="2400">
                <a:latin typeface="Roboto"/>
                <a:ea typeface="Roboto"/>
                <a:cs typeface="Roboto"/>
                <a:sym typeface="Roboto"/>
              </a:rPr>
              <a:t>If you finish early, try experimenting with other possible visualization!</a:t>
            </a:r>
            <a:endParaRPr sz="2400">
              <a:latin typeface="Roboto"/>
              <a:ea typeface="Roboto"/>
              <a:cs typeface="Roboto"/>
              <a:sym typeface="Roboto"/>
            </a:endParaRPr>
          </a:p>
        </p:txBody>
      </p:sp>
      <p:sp>
        <p:nvSpPr>
          <p:cNvPr id="6084" name="Google Shape;6084;p407"/>
          <p:cNvSpPr/>
          <p:nvPr/>
        </p:nvSpPr>
        <p:spPr>
          <a:xfrm>
            <a:off x="743567" y="3551667"/>
            <a:ext cx="10775600" cy="1200820"/>
          </a:xfrm>
          <a:prstGeom prst="rect">
            <a:avLst/>
          </a:prstGeom>
          <a:noFill/>
          <a:ln w="28575" cap="flat" cmpd="sng">
            <a:solidFill>
              <a:srgbClr val="0000FF"/>
            </a:solidFill>
            <a:prstDash val="solid"/>
            <a:round/>
            <a:headEnd type="none" w="sm" len="sm"/>
            <a:tailEnd type="none" w="sm" len="sm"/>
          </a:ln>
        </p:spPr>
        <p:txBody>
          <a:bodyPr spcFirstLastPara="1" wrap="square" lIns="121900" tIns="121900" rIns="121900" bIns="121900" anchor="ctr" anchorCtr="0">
            <a:noAutofit/>
          </a:bodyPr>
          <a:lstStyle/>
          <a:p>
            <a:pPr indent="609585"/>
            <a:r>
              <a:rPr lang="en" sz="2400"/>
              <a:t>	</a:t>
            </a:r>
            <a:endParaRPr sz="2400"/>
          </a:p>
        </p:txBody>
      </p:sp>
      <p:sp>
        <p:nvSpPr>
          <p:cNvPr id="6085" name="Google Shape;6085;p407"/>
          <p:cNvSpPr txBox="1"/>
          <p:nvPr/>
        </p:nvSpPr>
        <p:spPr>
          <a:xfrm>
            <a:off x="718500" y="1303410"/>
            <a:ext cx="10667600" cy="1945107"/>
          </a:xfrm>
          <a:prstGeom prst="rect">
            <a:avLst/>
          </a:prstGeom>
          <a:noFill/>
          <a:ln>
            <a:noFill/>
          </a:ln>
        </p:spPr>
        <p:txBody>
          <a:bodyPr spcFirstLastPara="1" wrap="square" lIns="121900" tIns="121900" rIns="121900" bIns="121900" anchor="t" anchorCtr="0">
            <a:spAutoFit/>
          </a:bodyPr>
          <a:lstStyle/>
          <a:p>
            <a:pPr marL="609585" indent="-423323">
              <a:lnSpc>
                <a:spcPct val="115000"/>
              </a:lnSpc>
              <a:buClr>
                <a:srgbClr val="24292E"/>
              </a:buClr>
              <a:buSzPts val="1400"/>
              <a:buFont typeface="Roboto"/>
              <a:buChar char="●"/>
            </a:pPr>
            <a:r>
              <a:rPr lang="en" sz="2400" dirty="0">
                <a:solidFill>
                  <a:srgbClr val="24292E"/>
                </a:solidFill>
                <a:latin typeface="Roboto"/>
                <a:ea typeface="Roboto"/>
                <a:cs typeface="Roboto"/>
                <a:sym typeface="Roboto"/>
              </a:rPr>
              <a:t>Using GlobalRentals.xlsx, visualize the following data:</a:t>
            </a:r>
            <a:endParaRPr sz="2400" dirty="0">
              <a:solidFill>
                <a:srgbClr val="24292E"/>
              </a:solidFill>
              <a:latin typeface="Roboto"/>
              <a:ea typeface="Roboto"/>
              <a:cs typeface="Roboto"/>
              <a:sym typeface="Roboto"/>
            </a:endParaRPr>
          </a:p>
          <a:p>
            <a:pPr marL="1219170" lvl="1" indent="-423323">
              <a:lnSpc>
                <a:spcPct val="115000"/>
              </a:lnSpc>
              <a:buClr>
                <a:srgbClr val="24292E"/>
              </a:buClr>
              <a:buSzPts val="1400"/>
              <a:buFont typeface="Roboto"/>
              <a:buChar char="○"/>
            </a:pPr>
            <a:r>
              <a:rPr lang="en" sz="2400" dirty="0">
                <a:solidFill>
                  <a:srgbClr val="24292E"/>
                </a:solidFill>
                <a:latin typeface="Roboto"/>
                <a:ea typeface="Roboto"/>
                <a:cs typeface="Roboto"/>
                <a:sym typeface="Roboto"/>
              </a:rPr>
              <a:t>The customers with the highest amount of paid fees</a:t>
            </a:r>
            <a:endParaRPr sz="2400" dirty="0">
              <a:solidFill>
                <a:srgbClr val="24292E"/>
              </a:solidFill>
              <a:latin typeface="Roboto"/>
              <a:ea typeface="Roboto"/>
              <a:cs typeface="Roboto"/>
              <a:sym typeface="Roboto"/>
            </a:endParaRPr>
          </a:p>
          <a:p>
            <a:pPr marL="1219170" lvl="1" indent="-423323">
              <a:lnSpc>
                <a:spcPct val="115000"/>
              </a:lnSpc>
              <a:buClr>
                <a:srgbClr val="24292E"/>
              </a:buClr>
              <a:buSzPts val="1400"/>
              <a:buFont typeface="Roboto"/>
              <a:buChar char="○"/>
            </a:pPr>
            <a:r>
              <a:rPr lang="en" sz="2400" dirty="0">
                <a:solidFill>
                  <a:srgbClr val="24292E"/>
                </a:solidFill>
                <a:latin typeface="Roboto"/>
                <a:ea typeface="Roboto"/>
                <a:cs typeface="Roboto"/>
                <a:sym typeface="Roboto"/>
              </a:rPr>
              <a:t>The customers with more than 150 rental days</a:t>
            </a:r>
            <a:endParaRPr sz="2400" dirty="0">
              <a:solidFill>
                <a:srgbClr val="24292E"/>
              </a:solidFill>
              <a:latin typeface="Roboto"/>
              <a:ea typeface="Roboto"/>
              <a:cs typeface="Roboto"/>
              <a:sym typeface="Roboto"/>
            </a:endParaRPr>
          </a:p>
          <a:p>
            <a:pPr marL="1219170" lvl="1" indent="-423323">
              <a:lnSpc>
                <a:spcPct val="115000"/>
              </a:lnSpc>
              <a:buClr>
                <a:srgbClr val="24292E"/>
              </a:buClr>
              <a:buSzPts val="1400"/>
              <a:buFont typeface="Roboto"/>
              <a:buChar char="○"/>
            </a:pPr>
            <a:r>
              <a:rPr lang="en" sz="2400" dirty="0">
                <a:solidFill>
                  <a:srgbClr val="24292E"/>
                </a:solidFill>
                <a:latin typeface="Roboto"/>
                <a:ea typeface="Roboto"/>
                <a:cs typeface="Roboto"/>
                <a:sym typeface="Roboto"/>
              </a:rPr>
              <a:t>The rental days by continent and rating</a:t>
            </a:r>
            <a:endParaRPr sz="2400" dirty="0">
              <a:solidFill>
                <a:srgbClr val="24292E"/>
              </a:solidFill>
              <a:latin typeface="Roboto"/>
              <a:ea typeface="Roboto"/>
              <a:cs typeface="Roboto"/>
              <a:sym typeface="Roboto"/>
            </a:endParaRPr>
          </a:p>
        </p:txBody>
      </p:sp>
      <p:sp>
        <p:nvSpPr>
          <p:cNvPr id="6086" name="Google Shape;6086;p407"/>
          <p:cNvSpPr/>
          <p:nvPr/>
        </p:nvSpPr>
        <p:spPr>
          <a:xfrm>
            <a:off x="738533" y="4809203"/>
            <a:ext cx="10722400" cy="1281600"/>
          </a:xfrm>
          <a:prstGeom prst="rect">
            <a:avLst/>
          </a:prstGeom>
          <a:noFill/>
          <a:ln w="2857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marL="609585"/>
            <a:endParaRPr sz="2400"/>
          </a:p>
          <a:p>
            <a:pPr marL="609585"/>
            <a:endParaRPr sz="2400"/>
          </a:p>
          <a:p>
            <a:pPr marL="609585"/>
            <a:endParaRPr sz="2400"/>
          </a:p>
          <a:p>
            <a:pPr marL="609585"/>
            <a:r>
              <a:rPr lang="en" sz="2400"/>
              <a:t>	</a:t>
            </a:r>
            <a:endParaRPr sz="2400"/>
          </a:p>
        </p:txBody>
      </p:sp>
      <p:pic>
        <p:nvPicPr>
          <p:cNvPr id="6087" name="Google Shape;6087;p407"/>
          <p:cNvPicPr preferRelativeResize="0"/>
          <p:nvPr/>
        </p:nvPicPr>
        <p:blipFill>
          <a:blip r:embed="rId3">
            <a:alphaModFix/>
          </a:blip>
          <a:stretch>
            <a:fillRect/>
          </a:stretch>
        </p:blipFill>
        <p:spPr>
          <a:xfrm rot="-1782531" flipH="1">
            <a:off x="914507" y="5160004"/>
            <a:ext cx="835436" cy="835401"/>
          </a:xfrm>
          <a:prstGeom prst="rect">
            <a:avLst/>
          </a:prstGeom>
          <a:noFill/>
          <a:ln>
            <a:noFill/>
          </a:ln>
        </p:spPr>
      </p:pic>
      <p:sp>
        <p:nvSpPr>
          <p:cNvPr id="6088" name="Google Shape;6088;p407"/>
          <p:cNvSpPr txBox="1"/>
          <p:nvPr/>
        </p:nvSpPr>
        <p:spPr>
          <a:xfrm>
            <a:off x="711652" y="4753669"/>
            <a:ext cx="10775600" cy="1040244"/>
          </a:xfrm>
          <a:prstGeom prst="rect">
            <a:avLst/>
          </a:prstGeom>
          <a:noFill/>
          <a:ln>
            <a:noFill/>
          </a:ln>
        </p:spPr>
        <p:txBody>
          <a:bodyPr spcFirstLastPara="1" wrap="square" lIns="121900" tIns="121900" rIns="121900" bIns="121900" anchor="t" anchorCtr="0">
            <a:spAutoFit/>
          </a:bodyPr>
          <a:lstStyle/>
          <a:p>
            <a:pPr marL="609585" indent="-423323">
              <a:buSzPts val="1400"/>
              <a:buFont typeface="Roboto"/>
              <a:buChar char="●"/>
            </a:pPr>
            <a:r>
              <a:rPr lang="en" sz="2400" b="1" dirty="0">
                <a:latin typeface="Roboto"/>
                <a:ea typeface="Roboto"/>
                <a:cs typeface="Roboto"/>
                <a:sym typeface="Roboto"/>
              </a:rPr>
              <a:t>Hint:</a:t>
            </a:r>
            <a:endParaRPr sz="2400" b="1" dirty="0">
              <a:latin typeface="Roboto"/>
              <a:ea typeface="Roboto"/>
              <a:cs typeface="Roboto"/>
              <a:sym typeface="Roboto"/>
            </a:endParaRPr>
          </a:p>
          <a:p>
            <a:pPr marL="1219170" lvl="1" indent="-423323">
              <a:lnSpc>
                <a:spcPct val="115000"/>
              </a:lnSpc>
              <a:buClr>
                <a:srgbClr val="24292E"/>
              </a:buClr>
              <a:buSzPts val="1400"/>
              <a:buChar char="○"/>
            </a:pPr>
            <a:r>
              <a:rPr lang="en" sz="2400" dirty="0">
                <a:solidFill>
                  <a:srgbClr val="24292E"/>
                </a:solidFill>
                <a:highlight>
                  <a:srgbClr val="FFFFFF"/>
                </a:highlight>
                <a:latin typeface="Roboto"/>
                <a:ea typeface="Roboto"/>
                <a:cs typeface="Roboto"/>
                <a:sym typeface="Roboto"/>
              </a:rPr>
              <a:t>Don’t forget to save the file once finished. </a:t>
            </a:r>
            <a:endParaRPr sz="2400" dirty="0">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A1010-0D35-B696-76C8-BA34585BA329}"/>
            </a:ext>
          </a:extLst>
        </p:cNvPr>
        <p:cNvGrpSpPr/>
        <p:nvPr/>
      </p:nvGrpSpPr>
      <p:grpSpPr>
        <a:xfrm>
          <a:off x="0" y="0"/>
          <a:ext cx="0" cy="0"/>
          <a:chOff x="0" y="0"/>
          <a:chExt cx="0" cy="0"/>
        </a:xfrm>
      </p:grpSpPr>
      <p:pic>
        <p:nvPicPr>
          <p:cNvPr id="6" name="Picture 5" descr="A stopwatch with a red ribbon&#10;&#10;Description automatically generated">
            <a:extLst>
              <a:ext uri="{FF2B5EF4-FFF2-40B4-BE49-F238E27FC236}">
                <a16:creationId xmlns:a16="http://schemas.microsoft.com/office/drawing/2014/main" id="{2ED1FC7E-513E-17FE-1B4D-9EC015963C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9889" y="643466"/>
            <a:ext cx="6632221" cy="5571067"/>
          </a:xfrm>
          <a:prstGeom prst="rect">
            <a:avLst/>
          </a:prstGeom>
        </p:spPr>
      </p:pic>
    </p:spTree>
    <p:extLst>
      <p:ext uri="{BB962C8B-B14F-4D97-AF65-F5344CB8AC3E}">
        <p14:creationId xmlns:p14="http://schemas.microsoft.com/office/powerpoint/2010/main" val="2745696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0FCD4B-B582-4BCC-B196-E973A4271783}"/>
              </a:ext>
            </a:extLst>
          </p:cNvPr>
          <p:cNvSpPr txBox="1"/>
          <p:nvPr/>
        </p:nvSpPr>
        <p:spPr>
          <a:xfrm>
            <a:off x="2152860" y="614177"/>
            <a:ext cx="6094324" cy="523220"/>
          </a:xfrm>
          <a:prstGeom prst="rect">
            <a:avLst/>
          </a:prstGeom>
          <a:noFill/>
        </p:spPr>
        <p:txBody>
          <a:bodyPr wrap="square">
            <a:spAutoFit/>
          </a:bodyPr>
          <a:lstStyle/>
          <a:p>
            <a:pPr algn="ctr"/>
            <a:r>
              <a:rPr lang="en-US" sz="2800" b="1" i="0" dirty="0">
                <a:solidFill>
                  <a:srgbClr val="000000"/>
                </a:solidFill>
                <a:effectLst/>
                <a:highlight>
                  <a:srgbClr val="FFFF00"/>
                </a:highlight>
                <a:latin typeface="Benton Sans Book"/>
              </a:rPr>
              <a:t>What is Tableau Prep</a:t>
            </a:r>
            <a:r>
              <a:rPr lang="en-US" sz="2800" b="1" i="0" dirty="0">
                <a:solidFill>
                  <a:srgbClr val="000000"/>
                </a:solidFill>
                <a:effectLst/>
                <a:latin typeface="Benton Sans Book"/>
              </a:rPr>
              <a:t>?</a:t>
            </a:r>
          </a:p>
        </p:txBody>
      </p:sp>
      <p:sp>
        <p:nvSpPr>
          <p:cNvPr id="5" name="TextBox 4">
            <a:extLst>
              <a:ext uri="{FF2B5EF4-FFF2-40B4-BE49-F238E27FC236}">
                <a16:creationId xmlns:a16="http://schemas.microsoft.com/office/drawing/2014/main" id="{FBB74116-C9D7-4CF9-9DA0-88EE5DD32FB4}"/>
              </a:ext>
            </a:extLst>
          </p:cNvPr>
          <p:cNvSpPr txBox="1"/>
          <p:nvPr/>
        </p:nvSpPr>
        <p:spPr>
          <a:xfrm>
            <a:off x="381001" y="1137397"/>
            <a:ext cx="10270252" cy="2031325"/>
          </a:xfrm>
          <a:prstGeom prst="rect">
            <a:avLst/>
          </a:prstGeom>
          <a:noFill/>
        </p:spPr>
        <p:txBody>
          <a:bodyPr wrap="square">
            <a:spAutoFit/>
          </a:bodyPr>
          <a:lstStyle/>
          <a:p>
            <a:pPr algn="l"/>
            <a:r>
              <a:rPr lang="en-US" b="0" i="0" dirty="0">
                <a:solidFill>
                  <a:srgbClr val="000000"/>
                </a:solidFill>
                <a:effectLst/>
                <a:latin typeface="Benton Sans Book"/>
              </a:rPr>
              <a:t>Self-service data preparation</a:t>
            </a:r>
          </a:p>
          <a:p>
            <a:pPr algn="l"/>
            <a:endParaRPr lang="en-US" b="0" i="0" dirty="0">
              <a:solidFill>
                <a:srgbClr val="000000"/>
              </a:solidFill>
              <a:effectLst/>
              <a:latin typeface="Benton Sans Book"/>
            </a:endParaRPr>
          </a:p>
          <a:p>
            <a:pPr algn="l"/>
            <a:r>
              <a:rPr lang="en-US" b="0" i="0" dirty="0">
                <a:solidFill>
                  <a:srgbClr val="333333"/>
                </a:solidFill>
                <a:effectLst/>
                <a:latin typeface="Merriweather"/>
              </a:rPr>
              <a:t>Regardless of your skill level with data preparation, Tableau Prep makes it easier to combine, clean, shape, and share your data. With a visual interface giving a complete picture of the data and smart features to make cleaning, automating and administering easier than ever, Tableau Prep will help your organization role out a complete, self-service data preparation solution.</a:t>
            </a:r>
          </a:p>
        </p:txBody>
      </p:sp>
    </p:spTree>
    <p:extLst>
      <p:ext uri="{BB962C8B-B14F-4D97-AF65-F5344CB8AC3E}">
        <p14:creationId xmlns:p14="http://schemas.microsoft.com/office/powerpoint/2010/main" val="905867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B7F553-9453-4C72-86B2-3FF944A01DED}"/>
              </a:ext>
            </a:extLst>
          </p:cNvPr>
          <p:cNvSpPr txBox="1"/>
          <p:nvPr/>
        </p:nvSpPr>
        <p:spPr>
          <a:xfrm>
            <a:off x="1653308" y="919007"/>
            <a:ext cx="8654473" cy="3571427"/>
          </a:xfrm>
          <a:prstGeom prst="rect">
            <a:avLst/>
          </a:prstGeom>
          <a:noFill/>
        </p:spPr>
        <p:txBody>
          <a:bodyPr wrap="square">
            <a:spAutoFit/>
          </a:bodyPr>
          <a:lstStyle/>
          <a:p>
            <a:pPr marL="0" marR="0">
              <a:lnSpc>
                <a:spcPts val="2400"/>
              </a:lnSpc>
              <a:spcBef>
                <a:spcPts val="0"/>
              </a:spcBef>
              <a:spcAft>
                <a:spcPts val="0"/>
              </a:spcAft>
            </a:pPr>
            <a:r>
              <a:rPr lang="en-CA" sz="1800" b="1" dirty="0">
                <a:effectLst/>
                <a:latin typeface="Times New Roman" panose="02020603050405020304" pitchFamily="18" charset="0"/>
                <a:ea typeface="Times New Roman" panose="02020603050405020304" pitchFamily="18" charset="0"/>
                <a:cs typeface="Times New Roman" panose="02020603050405020304" pitchFamily="18" charset="0"/>
              </a:rPr>
              <a:t>Tableau Public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nSpc>
                <a:spcPts val="2400"/>
              </a:lnSpc>
              <a:spcBef>
                <a:spcPts val="0"/>
              </a:spcBef>
              <a:spcAft>
                <a:spcPts val="0"/>
              </a:spcAft>
              <a:buFont typeface="Arial" panose="020B0604020202020204" pitchFamily="34" charset="0"/>
              <a:buChar char="•"/>
              <a:tabLst>
                <a:tab pos="457200" algn="l"/>
              </a:tabLst>
            </a:pPr>
            <a:r>
              <a:rPr lang="en-CA" sz="1800" dirty="0">
                <a:effectLst/>
                <a:latin typeface="Times New Roman" panose="02020603050405020304" pitchFamily="18" charset="0"/>
                <a:ea typeface="Times New Roman" panose="02020603050405020304" pitchFamily="18" charset="0"/>
                <a:cs typeface="Times New Roman" panose="02020603050405020304" pitchFamily="18" charset="0"/>
              </a:rPr>
              <a:t>It is a free version of the software.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nSpc>
                <a:spcPts val="2400"/>
              </a:lnSpc>
              <a:spcBef>
                <a:spcPts val="0"/>
              </a:spcBef>
              <a:spcAft>
                <a:spcPts val="0"/>
              </a:spcAft>
              <a:buFont typeface="Arial" panose="020B0604020202020204" pitchFamily="34" charset="0"/>
              <a:buChar char="•"/>
            </a:pPr>
            <a:r>
              <a:rPr lang="en-CA" sz="1800" dirty="0">
                <a:effectLst/>
                <a:latin typeface="Times New Roman" panose="02020603050405020304" pitchFamily="18" charset="0"/>
                <a:ea typeface="Times New Roman" panose="02020603050405020304" pitchFamily="18" charset="0"/>
              </a:rPr>
              <a:t>It allows you to save your work on the Tableau server.</a:t>
            </a:r>
            <a:endParaRPr lang="en-US" sz="1600" dirty="0">
              <a:effectLst/>
              <a:latin typeface="Times New Roman" panose="02020603050405020304" pitchFamily="18" charset="0"/>
              <a:ea typeface="Times New Roman" panose="02020603050405020304" pitchFamily="18" charset="0"/>
            </a:endParaRPr>
          </a:p>
          <a:p>
            <a:pPr marR="0">
              <a:lnSpc>
                <a:spcPts val="2400"/>
              </a:lnSpc>
              <a:spcBef>
                <a:spcPts val="0"/>
              </a:spcBef>
              <a:spcAft>
                <a:spcPts val="0"/>
              </a:spcAft>
            </a:pPr>
            <a:r>
              <a:rPr lang="en-CA" sz="1800" dirty="0">
                <a:effectLst/>
                <a:latin typeface="Times New Roman" panose="02020603050405020304" pitchFamily="18" charset="0"/>
                <a:ea typeface="Times New Roman" panose="02020603050405020304" pitchFamily="18" charset="0"/>
              </a:rPr>
              <a:t>Tableau Public is: </a:t>
            </a:r>
            <a:endParaRPr lang="en-US" sz="1600" dirty="0">
              <a:effectLst/>
              <a:latin typeface="Times New Roman" panose="02020603050405020304" pitchFamily="18" charset="0"/>
              <a:ea typeface="Times New Roman" panose="02020603050405020304" pitchFamily="18" charset="0"/>
            </a:endParaRPr>
          </a:p>
          <a:p>
            <a:pPr marL="342900" marR="0" lvl="0" indent="-342900">
              <a:lnSpc>
                <a:spcPts val="2400"/>
              </a:lnSpc>
              <a:spcBef>
                <a:spcPts val="0"/>
              </a:spcBef>
              <a:spcAft>
                <a:spcPts val="0"/>
              </a:spcAft>
              <a:buFont typeface="Arial" panose="020B0604020202020204" pitchFamily="34" charset="0"/>
              <a:buChar char="•"/>
              <a:tabLst>
                <a:tab pos="457200" algn="l"/>
              </a:tabLst>
            </a:pPr>
            <a:r>
              <a:rPr lang="en-CA" sz="1800" dirty="0">
                <a:effectLst/>
                <a:latin typeface="Times New Roman" panose="02020603050405020304" pitchFamily="18" charset="0"/>
                <a:ea typeface="Times New Roman" panose="02020603050405020304" pitchFamily="18" charset="0"/>
                <a:cs typeface="Times New Roman" panose="02020603050405020304" pitchFamily="18" charset="0"/>
              </a:rPr>
              <a:t>Free software, similar to Tableau Corporate,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ts val="2400"/>
              </a:lnSpc>
              <a:spcBef>
                <a:spcPts val="0"/>
              </a:spcBef>
              <a:spcAft>
                <a:spcPts val="0"/>
              </a:spcAft>
              <a:buFont typeface="Arial" panose="020B0604020202020204" pitchFamily="34" charset="0"/>
              <a:buChar char="•"/>
              <a:tabLst>
                <a:tab pos="457200" algn="l"/>
              </a:tabLst>
            </a:pPr>
            <a:r>
              <a:rPr lang="en-CA" sz="1800" dirty="0">
                <a:effectLst/>
                <a:latin typeface="Times New Roman" panose="02020603050405020304" pitchFamily="18" charset="0"/>
                <a:ea typeface="Times New Roman" panose="02020603050405020304" pitchFamily="18" charset="0"/>
                <a:cs typeface="Times New Roman" panose="02020603050405020304" pitchFamily="18" charset="0"/>
              </a:rPr>
              <a:t>A public website where </a:t>
            </a:r>
            <a:r>
              <a:rPr lang="en-CA" sz="1800" dirty="0" err="1">
                <a:effectLst/>
                <a:latin typeface="Times New Roman" panose="02020603050405020304" pitchFamily="18" charset="0"/>
                <a:ea typeface="Times New Roman" panose="02020603050405020304" pitchFamily="18" charset="0"/>
                <a:cs typeface="Times New Roman" panose="02020603050405020304" pitchFamily="18" charset="0"/>
              </a:rPr>
              <a:t>vizzes</a:t>
            </a:r>
            <a:r>
              <a:rPr lang="en-CA" sz="1800" dirty="0">
                <a:effectLst/>
                <a:latin typeface="Times New Roman" panose="02020603050405020304" pitchFamily="18" charset="0"/>
                <a:ea typeface="Times New Roman" panose="02020603050405020304" pitchFamily="18" charset="0"/>
                <a:cs typeface="Times New Roman" panose="02020603050405020304" pitchFamily="18" charset="0"/>
              </a:rPr>
              <a:t> are saved,</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ts val="2400"/>
              </a:lnSpc>
              <a:spcBef>
                <a:spcPts val="0"/>
              </a:spcBef>
              <a:spcAft>
                <a:spcPts val="0"/>
              </a:spcAft>
              <a:buFont typeface="Arial" panose="020B0604020202020204" pitchFamily="34" charset="0"/>
              <a:buChar char="•"/>
              <a:tabLst>
                <a:tab pos="457200" algn="l"/>
              </a:tabLst>
            </a:pPr>
            <a:r>
              <a:rPr lang="en-CA" sz="1800" dirty="0">
                <a:effectLst/>
                <a:latin typeface="Times New Roman" panose="02020603050405020304" pitchFamily="18" charset="0"/>
                <a:ea typeface="Times New Roman" panose="02020603050405020304" pitchFamily="18" charset="0"/>
                <a:cs typeface="Times New Roman" panose="02020603050405020304" pitchFamily="18" charset="0"/>
              </a:rPr>
              <a:t>Semi-private, (</a:t>
            </a:r>
            <a:r>
              <a:rPr lang="en-CA" sz="1400" dirty="0">
                <a:effectLst/>
                <a:latin typeface="Segoe UI" panose="020B0502040204020203" pitchFamily="34" charset="0"/>
                <a:ea typeface="Calibri" panose="020F0502020204030204" pitchFamily="34" charset="0"/>
                <a:cs typeface="Times New Roman" panose="02020603050405020304" pitchFamily="18" charset="0"/>
              </a:rPr>
              <a:t>You can NOT securely store your company’s budget viz on Tableau Public)</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ts val="2400"/>
              </a:lnSpc>
              <a:spcBef>
                <a:spcPts val="0"/>
              </a:spcBef>
              <a:spcAft>
                <a:spcPts val="0"/>
              </a:spcAft>
              <a:buFont typeface="Arial" panose="020B0604020202020204" pitchFamily="34" charset="0"/>
              <a:buChar char="•"/>
              <a:tabLst>
                <a:tab pos="457200" algn="l"/>
              </a:tabLst>
            </a:pPr>
            <a:r>
              <a:rPr lang="en-CA" sz="1800" dirty="0">
                <a:effectLst/>
                <a:latin typeface="Times New Roman" panose="02020603050405020304" pitchFamily="18" charset="0"/>
                <a:ea typeface="Times New Roman" panose="02020603050405020304" pitchFamily="18" charset="0"/>
                <a:cs typeface="Times New Roman" panose="02020603050405020304" pitchFamily="18" charset="0"/>
              </a:rPr>
              <a:t>Storage for your public portfolio.</a:t>
            </a:r>
          </a:p>
          <a:p>
            <a:pPr marL="342900" marR="0" lvl="0" indent="-342900">
              <a:lnSpc>
                <a:spcPts val="2400"/>
              </a:lnSpc>
              <a:spcBef>
                <a:spcPts val="0"/>
              </a:spcBef>
              <a:spcAft>
                <a:spcPts val="0"/>
              </a:spcAft>
              <a:tabLst>
                <a:tab pos="457200" algn="l"/>
              </a:tabLst>
            </a:pPr>
            <a:endParaRPr lang="en-CA"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ts val="2400"/>
              </a:lnSpc>
              <a:tabLst>
                <a:tab pos="457200" algn="l"/>
              </a:tabLst>
            </a:pPr>
            <a:r>
              <a:rPr lang="en-CA" sz="14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Note: </a:t>
            </a:r>
            <a:r>
              <a:rPr lang="en-CA" sz="1800" dirty="0">
                <a:solidFill>
                  <a:srgbClr val="FF0000"/>
                </a:solidFill>
                <a:effectLst/>
                <a:latin typeface="Segoe UI" panose="020B0502040204020203" pitchFamily="34" charset="0"/>
                <a:ea typeface="Times New Roman" panose="02020603050405020304" pitchFamily="18" charset="0"/>
              </a:rPr>
              <a:t>Hadoop can only be connected in Tableau Desktop, not Public</a:t>
            </a:r>
            <a:endParaRPr lang="en-US" sz="1800" dirty="0">
              <a:effectLst/>
              <a:latin typeface="Times New Roman" panose="02020603050405020304" pitchFamily="18" charset="0"/>
              <a:ea typeface="Times New Roman" panose="02020603050405020304" pitchFamily="18" charset="0"/>
            </a:endParaRPr>
          </a:p>
          <a:p>
            <a:pPr marL="342900" marR="0" lvl="0" indent="-342900">
              <a:lnSpc>
                <a:spcPts val="2400"/>
              </a:lnSpc>
              <a:spcBef>
                <a:spcPts val="0"/>
              </a:spcBef>
              <a:spcAft>
                <a:spcPts val="0"/>
              </a:spcAft>
              <a:tabLst>
                <a:tab pos="457200" algn="l"/>
              </a:tabLst>
            </a:pP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363671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D864649-5370-49DC-8EA3-00519607B8EB}"/>
              </a:ext>
            </a:extLst>
          </p:cNvPr>
          <p:cNvSpPr txBox="1"/>
          <p:nvPr/>
        </p:nvSpPr>
        <p:spPr>
          <a:xfrm>
            <a:off x="1354665" y="650711"/>
            <a:ext cx="9595557" cy="5816977"/>
          </a:xfrm>
          <a:prstGeom prst="rect">
            <a:avLst/>
          </a:prstGeom>
          <a:noFill/>
        </p:spPr>
        <p:txBody>
          <a:bodyPr wrap="square">
            <a:spAutoFit/>
          </a:bodyPr>
          <a:lstStyle/>
          <a:p>
            <a:r>
              <a:rPr lang="en-US" sz="2400" b="1" i="0" dirty="0">
                <a:solidFill>
                  <a:srgbClr val="000000"/>
                </a:solidFill>
                <a:effectLst/>
                <a:latin typeface="Benton Sans Book"/>
              </a:rPr>
              <a:t>When should you use Tableau Prep?</a:t>
            </a:r>
          </a:p>
          <a:p>
            <a:endParaRPr lang="en-US" dirty="0">
              <a:solidFill>
                <a:srgbClr val="333333"/>
              </a:solidFill>
              <a:latin typeface="Merriweather"/>
            </a:endParaRPr>
          </a:p>
          <a:p>
            <a:r>
              <a:rPr lang="en-US" dirty="0">
                <a:solidFill>
                  <a:srgbClr val="333333"/>
                </a:solidFill>
                <a:latin typeface="Merriweather"/>
              </a:rPr>
              <a:t>F</a:t>
            </a:r>
            <a:r>
              <a:rPr lang="en-US" b="0" i="0" dirty="0">
                <a:solidFill>
                  <a:srgbClr val="333333"/>
                </a:solidFill>
                <a:effectLst/>
                <a:latin typeface="Merriweather"/>
              </a:rPr>
              <a:t>undamentally, Tableau Prep helps you explore, clean, integrate, and reshape data. If your </a:t>
            </a:r>
            <a:r>
              <a:rPr lang="en-US" b="1" i="0" dirty="0">
                <a:solidFill>
                  <a:srgbClr val="333333"/>
                </a:solidFill>
                <a:effectLst/>
                <a:latin typeface="Merriweather"/>
              </a:rPr>
              <a:t>primary </a:t>
            </a:r>
            <a:r>
              <a:rPr lang="en-US" b="0" i="0" dirty="0">
                <a:solidFill>
                  <a:srgbClr val="333333"/>
                </a:solidFill>
                <a:effectLst/>
                <a:latin typeface="Merriweather"/>
              </a:rPr>
              <a:t>goal is to perform one or more of those tasks, that’s a good sign that Tableau Prep is the right solution.</a:t>
            </a:r>
          </a:p>
          <a:p>
            <a:r>
              <a:rPr lang="en-US" b="0" i="0" dirty="0">
                <a:solidFill>
                  <a:srgbClr val="333333"/>
                </a:solidFill>
                <a:effectLst/>
                <a:latin typeface="Merriweather"/>
              </a:rPr>
              <a:t>When your</a:t>
            </a:r>
            <a:r>
              <a:rPr lang="en-US" b="1" i="0" dirty="0">
                <a:solidFill>
                  <a:srgbClr val="333333"/>
                </a:solidFill>
                <a:effectLst/>
                <a:latin typeface="Merriweather"/>
              </a:rPr>
              <a:t> primary</a:t>
            </a:r>
            <a:r>
              <a:rPr lang="en-US" b="0" i="0" dirty="0">
                <a:solidFill>
                  <a:srgbClr val="333333"/>
                </a:solidFill>
                <a:effectLst/>
                <a:latin typeface="Merriweather"/>
              </a:rPr>
              <a:t> goal isn’t to explore, clean, integrate, or reshape data, remember that all the data preparation abilities of Tableau Desktop still exist! If a combination of the data interpreter, a pivot, or joins and unions gets your data into the form you need, use Tableau Desktop. </a:t>
            </a:r>
          </a:p>
          <a:p>
            <a:endParaRPr lang="en-US" b="0" i="0" dirty="0">
              <a:solidFill>
                <a:srgbClr val="333333"/>
              </a:solidFill>
              <a:effectLst/>
              <a:latin typeface="Merriweather"/>
            </a:endParaRPr>
          </a:p>
          <a:p>
            <a:r>
              <a:rPr lang="en-US" sz="2400" b="1" dirty="0">
                <a:solidFill>
                  <a:srgbClr val="000000"/>
                </a:solidFill>
                <a:effectLst/>
                <a:latin typeface="Benton Sans Book"/>
              </a:rPr>
              <a:t>Want maximum flexibility? Use both!</a:t>
            </a:r>
          </a:p>
          <a:p>
            <a:pPr algn="l"/>
            <a:r>
              <a:rPr lang="en-US" b="0" i="0" dirty="0">
                <a:solidFill>
                  <a:srgbClr val="333333"/>
                </a:solidFill>
                <a:effectLst/>
                <a:latin typeface="Merriweather"/>
              </a:rPr>
              <a:t>At the end of the day, you never need to use </a:t>
            </a:r>
            <a:r>
              <a:rPr lang="en-US" b="0" i="1" dirty="0">
                <a:solidFill>
                  <a:srgbClr val="333333"/>
                </a:solidFill>
                <a:effectLst/>
                <a:latin typeface="Merriweather"/>
              </a:rPr>
              <a:t>just</a:t>
            </a:r>
            <a:r>
              <a:rPr lang="en-US" b="0" i="0" dirty="0">
                <a:solidFill>
                  <a:srgbClr val="333333"/>
                </a:solidFill>
                <a:effectLst/>
                <a:latin typeface="Merriweather"/>
              </a:rPr>
              <a:t> Tableau Prep or just Tableau Desktop. Both are integrated into the Tableau Platform along with Tableau Server and Online. We imagine the dashboard authoring experience as moving seamlessly from data preparation to visual analytics to sharing and collaborating, but in reality, it is an iterative, back-and-forth experience.</a:t>
            </a:r>
          </a:p>
          <a:p>
            <a:pPr algn="l"/>
            <a:r>
              <a:rPr lang="en-US" b="0" i="0" dirty="0">
                <a:solidFill>
                  <a:srgbClr val="333333"/>
                </a:solidFill>
                <a:effectLst/>
                <a:latin typeface="Merriweather"/>
              </a:rPr>
              <a:t>An insight in Tableau Desktop sends you to back to Tableau Prep to change your flow, or a data discovery in Prep inspires you to make a quick web edit to your dashboard in Tableau Server. Using multiple pieces of the Tableau Platform can make moving from disparate, messy data to actionable insight fast and easy.</a:t>
            </a:r>
          </a:p>
          <a:p>
            <a:br>
              <a:rPr lang="en-US" dirty="0"/>
            </a:br>
            <a:endParaRPr lang="en-US" dirty="0"/>
          </a:p>
        </p:txBody>
      </p:sp>
    </p:spTree>
    <p:extLst>
      <p:ext uri="{BB962C8B-B14F-4D97-AF65-F5344CB8AC3E}">
        <p14:creationId xmlns:p14="http://schemas.microsoft.com/office/powerpoint/2010/main" val="378299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C32386D-F073-A17B-B5E1-2DC725099E7D}"/>
              </a:ext>
            </a:extLst>
          </p:cNvPr>
          <p:cNvPicPr>
            <a:picLocks noChangeAspect="1"/>
          </p:cNvPicPr>
          <p:nvPr/>
        </p:nvPicPr>
        <p:blipFill rotWithShape="1">
          <a:blip r:embed="rId2"/>
          <a:srcRect l="-1" r="-866" b="17158"/>
          <a:stretch/>
        </p:blipFill>
        <p:spPr>
          <a:xfrm>
            <a:off x="4695016" y="523723"/>
            <a:ext cx="7178025" cy="5571067"/>
          </a:xfrm>
          <a:prstGeom prst="rect">
            <a:avLst/>
          </a:prstGeom>
        </p:spPr>
      </p:pic>
      <p:sp>
        <p:nvSpPr>
          <p:cNvPr id="8" name="TextBox 7">
            <a:extLst>
              <a:ext uri="{FF2B5EF4-FFF2-40B4-BE49-F238E27FC236}">
                <a16:creationId xmlns:a16="http://schemas.microsoft.com/office/drawing/2014/main" id="{6E388B25-46A6-B881-6CE1-42FA12C9C96F}"/>
              </a:ext>
            </a:extLst>
          </p:cNvPr>
          <p:cNvSpPr txBox="1"/>
          <p:nvPr/>
        </p:nvSpPr>
        <p:spPr>
          <a:xfrm>
            <a:off x="783772" y="2320613"/>
            <a:ext cx="3494315" cy="1569660"/>
          </a:xfrm>
          <a:prstGeom prst="rect">
            <a:avLst/>
          </a:prstGeom>
          <a:noFill/>
        </p:spPr>
        <p:txBody>
          <a:bodyPr wrap="square">
            <a:spAutoFit/>
          </a:bodyPr>
          <a:lstStyle/>
          <a:p>
            <a:r>
              <a:rPr lang="en-US" sz="3200" b="1" i="0" dirty="0">
                <a:effectLst/>
                <a:latin typeface="Arial" panose="020B0604020202020204" pitchFamily="34" charset="0"/>
              </a:rPr>
              <a:t>Data Terminology</a:t>
            </a:r>
            <a:br>
              <a:rPr lang="en-US" sz="3200" b="1" i="0" dirty="0">
                <a:effectLst/>
                <a:latin typeface="Arial" panose="020B0604020202020204" pitchFamily="34" charset="0"/>
              </a:rPr>
            </a:br>
            <a:endParaRPr lang="en-US" sz="3200" b="1" dirty="0"/>
          </a:p>
        </p:txBody>
      </p:sp>
    </p:spTree>
    <p:extLst>
      <p:ext uri="{BB962C8B-B14F-4D97-AF65-F5344CB8AC3E}">
        <p14:creationId xmlns:p14="http://schemas.microsoft.com/office/powerpoint/2010/main" val="37269025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D09F75-7709-4BD2-9BCA-C3D074C375FC}"/>
              </a:ext>
            </a:extLst>
          </p:cNvPr>
          <p:cNvPicPr>
            <a:picLocks noChangeAspect="1"/>
          </p:cNvPicPr>
          <p:nvPr/>
        </p:nvPicPr>
        <p:blipFill>
          <a:blip r:embed="rId2"/>
          <a:stretch>
            <a:fillRect/>
          </a:stretch>
        </p:blipFill>
        <p:spPr>
          <a:xfrm>
            <a:off x="2658615" y="286442"/>
            <a:ext cx="7003387" cy="6248942"/>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D4378F47-E131-45F9-AFBE-68162D3243E4}"/>
                  </a:ext>
                </a:extLst>
              </p14:cNvPr>
              <p14:cNvContentPartPr/>
              <p14:nvPr/>
            </p14:nvContentPartPr>
            <p14:xfrm>
              <a:off x="3358654" y="2019556"/>
              <a:ext cx="3930840" cy="360"/>
            </p14:xfrm>
          </p:contentPart>
        </mc:Choice>
        <mc:Fallback xmlns="">
          <p:pic>
            <p:nvPicPr>
              <p:cNvPr id="4" name="Ink 3">
                <a:extLst>
                  <a:ext uri="{FF2B5EF4-FFF2-40B4-BE49-F238E27FC236}">
                    <a16:creationId xmlns:a16="http://schemas.microsoft.com/office/drawing/2014/main" id="{D4378F47-E131-45F9-AFBE-68162D3243E4}"/>
                  </a:ext>
                </a:extLst>
              </p:cNvPr>
              <p:cNvPicPr/>
              <p:nvPr/>
            </p:nvPicPr>
            <p:blipFill>
              <a:blip r:embed="rId4"/>
              <a:stretch>
                <a:fillRect/>
              </a:stretch>
            </p:blipFill>
            <p:spPr>
              <a:xfrm>
                <a:off x="3322654" y="1947916"/>
                <a:ext cx="400248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9067A388-5738-4913-BDC9-8AE47C720383}"/>
                  </a:ext>
                </a:extLst>
              </p14:cNvPr>
              <p14:cNvContentPartPr/>
              <p14:nvPr/>
            </p14:nvContentPartPr>
            <p14:xfrm>
              <a:off x="3276214" y="1983556"/>
              <a:ext cx="4042800" cy="360"/>
            </p14:xfrm>
          </p:contentPart>
        </mc:Choice>
        <mc:Fallback xmlns="">
          <p:pic>
            <p:nvPicPr>
              <p:cNvPr id="5" name="Ink 4">
                <a:extLst>
                  <a:ext uri="{FF2B5EF4-FFF2-40B4-BE49-F238E27FC236}">
                    <a16:creationId xmlns:a16="http://schemas.microsoft.com/office/drawing/2014/main" id="{9067A388-5738-4913-BDC9-8AE47C720383}"/>
                  </a:ext>
                </a:extLst>
              </p:cNvPr>
              <p:cNvPicPr/>
              <p:nvPr/>
            </p:nvPicPr>
            <p:blipFill>
              <a:blip r:embed="rId6"/>
              <a:stretch>
                <a:fillRect/>
              </a:stretch>
            </p:blipFill>
            <p:spPr>
              <a:xfrm>
                <a:off x="3222214" y="1875916"/>
                <a:ext cx="41504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B16DEA72-580B-43B1-9DC8-FD573EFD906C}"/>
                  </a:ext>
                </a:extLst>
              </p14:cNvPr>
              <p14:cNvContentPartPr/>
              <p14:nvPr/>
            </p14:nvContentPartPr>
            <p14:xfrm>
              <a:off x="3266494" y="1666396"/>
              <a:ext cx="983520" cy="360"/>
            </p14:xfrm>
          </p:contentPart>
        </mc:Choice>
        <mc:Fallback xmlns="">
          <p:pic>
            <p:nvPicPr>
              <p:cNvPr id="6" name="Ink 5">
                <a:extLst>
                  <a:ext uri="{FF2B5EF4-FFF2-40B4-BE49-F238E27FC236}">
                    <a16:creationId xmlns:a16="http://schemas.microsoft.com/office/drawing/2014/main" id="{B16DEA72-580B-43B1-9DC8-FD573EFD906C}"/>
                  </a:ext>
                </a:extLst>
              </p:cNvPr>
              <p:cNvPicPr/>
              <p:nvPr/>
            </p:nvPicPr>
            <p:blipFill>
              <a:blip r:embed="rId8"/>
              <a:stretch>
                <a:fillRect/>
              </a:stretch>
            </p:blipFill>
            <p:spPr>
              <a:xfrm>
                <a:off x="3212854" y="1558756"/>
                <a:ext cx="1091160" cy="216000"/>
              </a:xfrm>
              <a:prstGeom prst="rect">
                <a:avLst/>
              </a:prstGeom>
            </p:spPr>
          </p:pic>
        </mc:Fallback>
      </mc:AlternateContent>
      <p:pic>
        <p:nvPicPr>
          <p:cNvPr id="8" name="Picture 7">
            <a:extLst>
              <a:ext uri="{FF2B5EF4-FFF2-40B4-BE49-F238E27FC236}">
                <a16:creationId xmlns:a16="http://schemas.microsoft.com/office/drawing/2014/main" id="{446CCA1C-8D1C-4F02-BF5F-983453B7C3BA}"/>
              </a:ext>
            </a:extLst>
          </p:cNvPr>
          <p:cNvPicPr>
            <a:picLocks noChangeAspect="1"/>
          </p:cNvPicPr>
          <p:nvPr/>
        </p:nvPicPr>
        <p:blipFill rotWithShape="1">
          <a:blip r:embed="rId9"/>
          <a:srcRect r="78571" b="8000"/>
          <a:stretch/>
        </p:blipFill>
        <p:spPr>
          <a:xfrm>
            <a:off x="0" y="264413"/>
            <a:ext cx="2612571" cy="6309360"/>
          </a:xfrm>
          <a:prstGeom prst="rect">
            <a:avLst/>
          </a:prstGeom>
        </p:spPr>
      </p:pic>
      <p:cxnSp>
        <p:nvCxnSpPr>
          <p:cNvPr id="10" name="Straight Arrow Connector 9">
            <a:extLst>
              <a:ext uri="{FF2B5EF4-FFF2-40B4-BE49-F238E27FC236}">
                <a16:creationId xmlns:a16="http://schemas.microsoft.com/office/drawing/2014/main" id="{1A39421C-2E1C-4B56-995D-2DB2BA07EA4C}"/>
              </a:ext>
            </a:extLst>
          </p:cNvPr>
          <p:cNvCxnSpPr/>
          <p:nvPr/>
        </p:nvCxnSpPr>
        <p:spPr>
          <a:xfrm flipH="1" flipV="1">
            <a:off x="457200" y="1018903"/>
            <a:ext cx="3030583" cy="158060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1" name="Rectangle: Rounded Corners 10">
            <a:extLst>
              <a:ext uri="{FF2B5EF4-FFF2-40B4-BE49-F238E27FC236}">
                <a16:creationId xmlns:a16="http://schemas.microsoft.com/office/drawing/2014/main" id="{51B4137D-BACD-413D-9DC3-0C47C19C7725}"/>
              </a:ext>
            </a:extLst>
          </p:cNvPr>
          <p:cNvSpPr/>
          <p:nvPr/>
        </p:nvSpPr>
        <p:spPr>
          <a:xfrm>
            <a:off x="0" y="1789611"/>
            <a:ext cx="1528354" cy="297833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CB102E11-8DE9-4A62-BD2E-C4A07A4E62E4}"/>
              </a:ext>
            </a:extLst>
          </p:cNvPr>
          <p:cNvCxnSpPr/>
          <p:nvPr/>
        </p:nvCxnSpPr>
        <p:spPr>
          <a:xfrm>
            <a:off x="3056709" y="4545874"/>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28A247E-53FC-464A-8E78-9E4987B670A3}"/>
              </a:ext>
            </a:extLst>
          </p:cNvPr>
          <p:cNvCxnSpPr/>
          <p:nvPr/>
        </p:nvCxnSpPr>
        <p:spPr>
          <a:xfrm flipH="1" flipV="1">
            <a:off x="1528354" y="3788229"/>
            <a:ext cx="2207623" cy="152835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3118958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1C9F95-1B28-4500-BF99-F11E4BF2BEDE}"/>
              </a:ext>
            </a:extLst>
          </p:cNvPr>
          <p:cNvPicPr>
            <a:picLocks noChangeAspect="1"/>
          </p:cNvPicPr>
          <p:nvPr/>
        </p:nvPicPr>
        <p:blipFill>
          <a:blip r:embed="rId2"/>
          <a:stretch>
            <a:fillRect/>
          </a:stretch>
        </p:blipFill>
        <p:spPr>
          <a:xfrm>
            <a:off x="2601927" y="460753"/>
            <a:ext cx="6988146" cy="5936494"/>
          </a:xfrm>
          <a:prstGeom prst="rect">
            <a:avLst/>
          </a:prstGeom>
        </p:spPr>
      </p:pic>
      <p:pic>
        <p:nvPicPr>
          <p:cNvPr id="4" name="Picture 3">
            <a:extLst>
              <a:ext uri="{FF2B5EF4-FFF2-40B4-BE49-F238E27FC236}">
                <a16:creationId xmlns:a16="http://schemas.microsoft.com/office/drawing/2014/main" id="{6D1F86CA-9683-42FA-9B5F-940694E89AC4}"/>
              </a:ext>
            </a:extLst>
          </p:cNvPr>
          <p:cNvPicPr>
            <a:picLocks noChangeAspect="1"/>
          </p:cNvPicPr>
          <p:nvPr/>
        </p:nvPicPr>
        <p:blipFill rotWithShape="1">
          <a:blip r:embed="rId3"/>
          <a:srcRect r="78571" b="8000"/>
          <a:stretch/>
        </p:blipFill>
        <p:spPr>
          <a:xfrm>
            <a:off x="0" y="225084"/>
            <a:ext cx="2612571" cy="6309360"/>
          </a:xfrm>
          <a:prstGeom prst="rect">
            <a:avLst/>
          </a:prstGeom>
        </p:spPr>
      </p:pic>
      <p:cxnSp>
        <p:nvCxnSpPr>
          <p:cNvPr id="5" name="Straight Arrow Connector 4">
            <a:extLst>
              <a:ext uri="{FF2B5EF4-FFF2-40B4-BE49-F238E27FC236}">
                <a16:creationId xmlns:a16="http://schemas.microsoft.com/office/drawing/2014/main" id="{5EE267F3-D525-4FFB-9E0C-388C62579E83}"/>
              </a:ext>
            </a:extLst>
          </p:cNvPr>
          <p:cNvCxnSpPr/>
          <p:nvPr/>
        </p:nvCxnSpPr>
        <p:spPr>
          <a:xfrm flipH="1" flipV="1">
            <a:off x="2069960" y="2120202"/>
            <a:ext cx="1306286" cy="345663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 name="Straight Arrow Connector 5">
            <a:extLst>
              <a:ext uri="{FF2B5EF4-FFF2-40B4-BE49-F238E27FC236}">
                <a16:creationId xmlns:a16="http://schemas.microsoft.com/office/drawing/2014/main" id="{9BB25972-D09F-4E7B-9B95-A86C1F52EA5F}"/>
              </a:ext>
            </a:extLst>
          </p:cNvPr>
          <p:cNvCxnSpPr/>
          <p:nvPr/>
        </p:nvCxnSpPr>
        <p:spPr>
          <a:xfrm flipH="1" flipV="1">
            <a:off x="2133600" y="1592826"/>
            <a:ext cx="1170039" cy="3441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2402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B3EBB3-7C9B-4E8D-A17A-EF8F0F4C7A8C}"/>
              </a:ext>
            </a:extLst>
          </p:cNvPr>
          <p:cNvPicPr>
            <a:picLocks noChangeAspect="1"/>
          </p:cNvPicPr>
          <p:nvPr/>
        </p:nvPicPr>
        <p:blipFill>
          <a:blip r:embed="rId2"/>
          <a:stretch>
            <a:fillRect/>
          </a:stretch>
        </p:blipFill>
        <p:spPr>
          <a:xfrm>
            <a:off x="2910564" y="133064"/>
            <a:ext cx="6370872" cy="6591871"/>
          </a:xfrm>
          <a:prstGeom prst="rect">
            <a:avLst/>
          </a:prstGeom>
        </p:spPr>
      </p:pic>
    </p:spTree>
    <p:extLst>
      <p:ext uri="{BB962C8B-B14F-4D97-AF65-F5344CB8AC3E}">
        <p14:creationId xmlns:p14="http://schemas.microsoft.com/office/powerpoint/2010/main" val="18037909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897C80E-F96A-4FC4-8088-A7362EF76D10}"/>
              </a:ext>
            </a:extLst>
          </p:cNvPr>
          <p:cNvSpPr txBox="1"/>
          <p:nvPr/>
        </p:nvSpPr>
        <p:spPr>
          <a:xfrm>
            <a:off x="736600" y="799515"/>
            <a:ext cx="10947400" cy="369332"/>
          </a:xfrm>
          <a:prstGeom prst="rect">
            <a:avLst/>
          </a:prstGeom>
          <a:noFill/>
        </p:spPr>
        <p:txBody>
          <a:bodyPr wrap="square">
            <a:spAutoFit/>
          </a:bodyPr>
          <a:lstStyle/>
          <a:p>
            <a:r>
              <a:rPr lang="en-US" dirty="0"/>
              <a:t>Figure 1-7 is worksheet-connected to the Sample-Superstore Sales-Excel data set used to create scatter plots.</a:t>
            </a:r>
          </a:p>
        </p:txBody>
      </p:sp>
      <p:sp>
        <p:nvSpPr>
          <p:cNvPr id="6" name="TextBox 5">
            <a:extLst>
              <a:ext uri="{FF2B5EF4-FFF2-40B4-BE49-F238E27FC236}">
                <a16:creationId xmlns:a16="http://schemas.microsoft.com/office/drawing/2014/main" id="{68DBEC4C-6D36-48C3-AE53-1FC8642F4B75}"/>
              </a:ext>
            </a:extLst>
          </p:cNvPr>
          <p:cNvSpPr txBox="1"/>
          <p:nvPr/>
        </p:nvSpPr>
        <p:spPr>
          <a:xfrm>
            <a:off x="4033520" y="74414"/>
            <a:ext cx="6096000" cy="646331"/>
          </a:xfrm>
          <a:prstGeom prst="rect">
            <a:avLst/>
          </a:prstGeom>
          <a:noFill/>
        </p:spPr>
        <p:txBody>
          <a:bodyPr wrap="square">
            <a:spAutoFit/>
          </a:bodyPr>
          <a:lstStyle/>
          <a:p>
            <a:r>
              <a:rPr lang="en-US" sz="3600" b="1" dirty="0"/>
              <a:t>Tableau Workspace</a:t>
            </a:r>
          </a:p>
        </p:txBody>
      </p:sp>
      <p:pic>
        <p:nvPicPr>
          <p:cNvPr id="8" name="Picture 7">
            <a:extLst>
              <a:ext uri="{FF2B5EF4-FFF2-40B4-BE49-F238E27FC236}">
                <a16:creationId xmlns:a16="http://schemas.microsoft.com/office/drawing/2014/main" id="{D355AD3F-3471-42E1-8400-6974A1931139}"/>
              </a:ext>
            </a:extLst>
          </p:cNvPr>
          <p:cNvPicPr>
            <a:picLocks noChangeAspect="1"/>
          </p:cNvPicPr>
          <p:nvPr/>
        </p:nvPicPr>
        <p:blipFill>
          <a:blip r:embed="rId2"/>
          <a:stretch>
            <a:fillRect/>
          </a:stretch>
        </p:blipFill>
        <p:spPr>
          <a:xfrm>
            <a:off x="2133256" y="1190021"/>
            <a:ext cx="7925487" cy="5593565"/>
          </a:xfrm>
          <a:prstGeom prst="rect">
            <a:avLst/>
          </a:prstGeom>
        </p:spPr>
      </p:pic>
      <p:sp>
        <p:nvSpPr>
          <p:cNvPr id="2" name="TextBox 1">
            <a:extLst>
              <a:ext uri="{FF2B5EF4-FFF2-40B4-BE49-F238E27FC236}">
                <a16:creationId xmlns:a16="http://schemas.microsoft.com/office/drawing/2014/main" id="{E529C307-95C9-4E9B-907D-D8C254F29A9B}"/>
              </a:ext>
            </a:extLst>
          </p:cNvPr>
          <p:cNvSpPr txBox="1"/>
          <p:nvPr/>
        </p:nvSpPr>
        <p:spPr>
          <a:xfrm>
            <a:off x="411061" y="1845578"/>
            <a:ext cx="1543574" cy="3416320"/>
          </a:xfrm>
          <a:prstGeom prst="rect">
            <a:avLst/>
          </a:prstGeom>
          <a:noFill/>
          <a:ln>
            <a:solidFill>
              <a:srgbClr val="FF0000"/>
            </a:solidFill>
          </a:ln>
        </p:spPr>
        <p:txBody>
          <a:bodyPr wrap="square" rtlCol="0">
            <a:spAutoFit/>
          </a:bodyPr>
          <a:lstStyle/>
          <a:p>
            <a:r>
              <a:rPr lang="en-US" dirty="0"/>
              <a:t>These Dimension shelf  and </a:t>
            </a:r>
          </a:p>
          <a:p>
            <a:r>
              <a:rPr lang="en-US" dirty="0"/>
              <a:t>Measure shelf are for previous version of Tableau, in new version they are just separated by line</a:t>
            </a:r>
          </a:p>
        </p:txBody>
      </p:sp>
      <p:cxnSp>
        <p:nvCxnSpPr>
          <p:cNvPr id="5" name="Straight Arrow Connector 4">
            <a:extLst>
              <a:ext uri="{FF2B5EF4-FFF2-40B4-BE49-F238E27FC236}">
                <a16:creationId xmlns:a16="http://schemas.microsoft.com/office/drawing/2014/main" id="{D01DCE5C-4278-4E3F-A13A-B3A498DCCF29}"/>
              </a:ext>
            </a:extLst>
          </p:cNvPr>
          <p:cNvCxnSpPr>
            <a:cxnSpLocks/>
          </p:cNvCxnSpPr>
          <p:nvPr/>
        </p:nvCxnSpPr>
        <p:spPr>
          <a:xfrm flipV="1">
            <a:off x="2004969" y="2399251"/>
            <a:ext cx="1392572" cy="84728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E2D0903-57AC-4B0D-8D15-D4F144A0F8F0}"/>
              </a:ext>
            </a:extLst>
          </p:cNvPr>
          <p:cNvCxnSpPr/>
          <p:nvPr/>
        </p:nvCxnSpPr>
        <p:spPr>
          <a:xfrm>
            <a:off x="1996580" y="3280095"/>
            <a:ext cx="1459684" cy="7969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55970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2E6BB6-A1BD-4976-BF3E-D7138073BFB0}"/>
              </a:ext>
            </a:extLst>
          </p:cNvPr>
          <p:cNvPicPr>
            <a:picLocks noChangeAspect="1"/>
          </p:cNvPicPr>
          <p:nvPr/>
        </p:nvPicPr>
        <p:blipFill>
          <a:blip r:embed="rId2"/>
          <a:stretch>
            <a:fillRect/>
          </a:stretch>
        </p:blipFill>
        <p:spPr>
          <a:xfrm>
            <a:off x="273873" y="-80266"/>
            <a:ext cx="8872586" cy="5891078"/>
          </a:xfrm>
          <a:prstGeom prst="rect">
            <a:avLst/>
          </a:prstGeom>
        </p:spPr>
      </p:pic>
      <p:pic>
        <p:nvPicPr>
          <p:cNvPr id="5" name="Picture 4">
            <a:extLst>
              <a:ext uri="{FF2B5EF4-FFF2-40B4-BE49-F238E27FC236}">
                <a16:creationId xmlns:a16="http://schemas.microsoft.com/office/drawing/2014/main" id="{1F01D609-B671-4C64-8A24-7D42EE8833DF}"/>
              </a:ext>
            </a:extLst>
          </p:cNvPr>
          <p:cNvPicPr>
            <a:picLocks noChangeAspect="1"/>
          </p:cNvPicPr>
          <p:nvPr/>
        </p:nvPicPr>
        <p:blipFill>
          <a:blip r:embed="rId3"/>
          <a:stretch>
            <a:fillRect/>
          </a:stretch>
        </p:blipFill>
        <p:spPr>
          <a:xfrm>
            <a:off x="3956541" y="3926004"/>
            <a:ext cx="1219306" cy="1235740"/>
          </a:xfrm>
          <a:prstGeom prst="rect">
            <a:avLst/>
          </a:prstGeom>
        </p:spPr>
      </p:pic>
      <p:sp>
        <p:nvSpPr>
          <p:cNvPr id="2" name="Oval 1">
            <a:extLst>
              <a:ext uri="{FF2B5EF4-FFF2-40B4-BE49-F238E27FC236}">
                <a16:creationId xmlns:a16="http://schemas.microsoft.com/office/drawing/2014/main" id="{D5720E1E-F4B9-453C-B8CA-C426B9A76402}"/>
              </a:ext>
            </a:extLst>
          </p:cNvPr>
          <p:cNvSpPr/>
          <p:nvPr/>
        </p:nvSpPr>
        <p:spPr>
          <a:xfrm>
            <a:off x="178565" y="2134861"/>
            <a:ext cx="855677" cy="92278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98C82E46-3AF9-49CB-894D-D1A53D4850B9}"/>
              </a:ext>
            </a:extLst>
          </p:cNvPr>
          <p:cNvSpPr/>
          <p:nvPr/>
        </p:nvSpPr>
        <p:spPr>
          <a:xfrm>
            <a:off x="1881532" y="2203371"/>
            <a:ext cx="924186" cy="92278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231B3B8D-BFE3-464F-8323-A5F4C5C9DCD0}"/>
              </a:ext>
            </a:extLst>
          </p:cNvPr>
          <p:cNvSpPr/>
          <p:nvPr/>
        </p:nvSpPr>
        <p:spPr>
          <a:xfrm>
            <a:off x="2451982" y="4483779"/>
            <a:ext cx="671119" cy="61239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7C5DD385-8F36-48B0-BADE-E7ED82DCE386}"/>
              </a:ext>
            </a:extLst>
          </p:cNvPr>
          <p:cNvPicPr>
            <a:picLocks noChangeAspect="1"/>
          </p:cNvPicPr>
          <p:nvPr/>
        </p:nvPicPr>
        <p:blipFill>
          <a:blip r:embed="rId4"/>
          <a:stretch>
            <a:fillRect/>
          </a:stretch>
        </p:blipFill>
        <p:spPr>
          <a:xfrm>
            <a:off x="160050" y="5905367"/>
            <a:ext cx="10364646" cy="952633"/>
          </a:xfrm>
          <a:prstGeom prst="rect">
            <a:avLst/>
          </a:prstGeom>
        </p:spPr>
      </p:pic>
      <p:sp>
        <p:nvSpPr>
          <p:cNvPr id="9" name="TextBox 8">
            <a:extLst>
              <a:ext uri="{FF2B5EF4-FFF2-40B4-BE49-F238E27FC236}">
                <a16:creationId xmlns:a16="http://schemas.microsoft.com/office/drawing/2014/main" id="{205F1711-16A8-4435-8ED8-DD517427E6B7}"/>
              </a:ext>
            </a:extLst>
          </p:cNvPr>
          <p:cNvSpPr txBox="1"/>
          <p:nvPr/>
        </p:nvSpPr>
        <p:spPr>
          <a:xfrm>
            <a:off x="3577213" y="5335675"/>
            <a:ext cx="6149591" cy="646331"/>
          </a:xfrm>
          <a:prstGeom prst="rect">
            <a:avLst/>
          </a:prstGeom>
          <a:noFill/>
          <a:ln>
            <a:solidFill>
              <a:srgbClr val="FF0000"/>
            </a:solidFill>
          </a:ln>
        </p:spPr>
        <p:txBody>
          <a:bodyPr wrap="square" rtlCol="0">
            <a:spAutoFit/>
          </a:bodyPr>
          <a:lstStyle/>
          <a:p>
            <a:r>
              <a:rPr lang="en-US" dirty="0"/>
              <a:t>Note: for new versions of Tableau you may have some more icons , one of them is Show Mark Labels</a:t>
            </a:r>
          </a:p>
        </p:txBody>
      </p:sp>
      <p:cxnSp>
        <p:nvCxnSpPr>
          <p:cNvPr id="11" name="Straight Arrow Connector 10">
            <a:extLst>
              <a:ext uri="{FF2B5EF4-FFF2-40B4-BE49-F238E27FC236}">
                <a16:creationId xmlns:a16="http://schemas.microsoft.com/office/drawing/2014/main" id="{E6AC9F27-618B-4F9E-8E5D-14B9F8BA4246}"/>
              </a:ext>
            </a:extLst>
          </p:cNvPr>
          <p:cNvCxnSpPr/>
          <p:nvPr/>
        </p:nvCxnSpPr>
        <p:spPr>
          <a:xfrm>
            <a:off x="6772589" y="5908431"/>
            <a:ext cx="261257" cy="58280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8421096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977">
          <a:extLst>
            <a:ext uri="{FF2B5EF4-FFF2-40B4-BE49-F238E27FC236}">
              <a16:creationId xmlns:a16="http://schemas.microsoft.com/office/drawing/2014/main" id="{E8BE54E3-86CD-7EC2-9ACC-DF1EF4CE4865}"/>
            </a:ext>
          </a:extLst>
        </p:cNvPr>
        <p:cNvGrpSpPr/>
        <p:nvPr/>
      </p:nvGrpSpPr>
      <p:grpSpPr>
        <a:xfrm>
          <a:off x="0" y="0"/>
          <a:ext cx="0" cy="0"/>
          <a:chOff x="0" y="0"/>
          <a:chExt cx="0" cy="0"/>
        </a:xfrm>
      </p:grpSpPr>
      <p:sp>
        <p:nvSpPr>
          <p:cNvPr id="5978" name="Google Shape;5978;p393">
            <a:extLst>
              <a:ext uri="{FF2B5EF4-FFF2-40B4-BE49-F238E27FC236}">
                <a16:creationId xmlns:a16="http://schemas.microsoft.com/office/drawing/2014/main" id="{9C4E7F43-AB73-3A59-9A9D-8C120B023F08}"/>
              </a:ext>
            </a:extLst>
          </p:cNvPr>
          <p:cNvSpPr txBox="1">
            <a:spLocks noGrp="1"/>
          </p:cNvSpPr>
          <p:nvPr>
            <p:ph type="title"/>
          </p:nvPr>
        </p:nvSpPr>
        <p:spPr>
          <a:prstGeom prst="rect">
            <a:avLst/>
          </a:prstGeom>
        </p:spPr>
        <p:txBody>
          <a:bodyPr spcFirstLastPara="1" vert="horz" wrap="square" lIns="609600" tIns="12167" rIns="1341100" bIns="0" rtlCol="0" anchor="t" anchorCtr="0">
            <a:noAutofit/>
          </a:bodyPr>
          <a:lstStyle/>
          <a:p>
            <a:r>
              <a:rPr lang="en" dirty="0"/>
              <a:t>  10 Minutes</a:t>
            </a:r>
            <a:endParaRPr dirty="0"/>
          </a:p>
        </p:txBody>
      </p:sp>
      <p:sp>
        <p:nvSpPr>
          <p:cNvPr id="5979" name="Google Shape;5979;p393">
            <a:extLst>
              <a:ext uri="{FF2B5EF4-FFF2-40B4-BE49-F238E27FC236}">
                <a16:creationId xmlns:a16="http://schemas.microsoft.com/office/drawing/2014/main" id="{961937DF-80FF-7E8A-12D3-EEC182D30DCF}"/>
              </a:ext>
            </a:extLst>
          </p:cNvPr>
          <p:cNvSpPr txBox="1">
            <a:spLocks noGrp="1"/>
          </p:cNvSpPr>
          <p:nvPr>
            <p:ph type="sldNum" idx="12"/>
          </p:nvPr>
        </p:nvSpPr>
        <p:spPr>
          <a:prstGeom prst="rect">
            <a:avLst/>
          </a:prstGeom>
        </p:spPr>
        <p:txBody>
          <a:bodyPr spcFirstLastPara="1" vert="horz" wrap="square" lIns="0" tIns="0" rIns="0" bIns="121900" rtlCol="0" anchor="t" anchorCtr="0">
            <a:noAutofit/>
          </a:bodyPr>
          <a:lstStyle/>
          <a:p>
            <a:fld id="{00000000-1234-1234-1234-123412341234}" type="slidenum">
              <a:rPr lang="en"/>
              <a:pPr/>
              <a:t>34</a:t>
            </a:fld>
            <a:endParaRPr/>
          </a:p>
        </p:txBody>
      </p:sp>
      <p:sp>
        <p:nvSpPr>
          <p:cNvPr id="5981" name="Google Shape;5981;p393">
            <a:extLst>
              <a:ext uri="{FF2B5EF4-FFF2-40B4-BE49-F238E27FC236}">
                <a16:creationId xmlns:a16="http://schemas.microsoft.com/office/drawing/2014/main" id="{9B3A8579-D3E3-883E-2F5E-BF4E1181B132}"/>
              </a:ext>
            </a:extLst>
          </p:cNvPr>
          <p:cNvSpPr txBox="1">
            <a:spLocks noGrp="1"/>
          </p:cNvSpPr>
          <p:nvPr>
            <p:ph type="title" idx="2"/>
          </p:nvPr>
        </p:nvSpPr>
        <p:spPr>
          <a:xfrm>
            <a:off x="365200" y="1390500"/>
            <a:ext cx="11686000" cy="3685600"/>
          </a:xfrm>
          <a:prstGeom prst="rect">
            <a:avLst/>
          </a:prstGeom>
        </p:spPr>
        <p:txBody>
          <a:bodyPr spcFirstLastPara="1" vert="horz" wrap="square" lIns="3413733" tIns="0" rIns="609600" bIns="609600" rtlCol="0" anchor="t" anchorCtr="0">
            <a:noAutofit/>
          </a:bodyPr>
          <a:lstStyle/>
          <a:p>
            <a:pPr>
              <a:buClr>
                <a:schemeClr val="dk1"/>
              </a:buClr>
              <a:buSzPts val="1100"/>
            </a:pPr>
            <a:r>
              <a:rPr lang="en" sz="3067" b="1" dirty="0"/>
              <a:t>Student  Do: </a:t>
            </a:r>
            <a:r>
              <a:rPr lang="en-US" sz="3067" b="1" dirty="0" err="1"/>
              <a:t>Noshow</a:t>
            </a:r>
            <a:r>
              <a:rPr lang="en-US" sz="3067" b="1" dirty="0"/>
              <a:t>  visualization</a:t>
            </a:r>
            <a:endParaRPr sz="3067" b="1" dirty="0"/>
          </a:p>
          <a:p>
            <a:pPr>
              <a:buClr>
                <a:schemeClr val="dk1"/>
              </a:buClr>
              <a:buSzPts val="1100"/>
            </a:pPr>
            <a:endParaRPr sz="3067" dirty="0">
              <a:latin typeface="Roboto Medium"/>
              <a:ea typeface="Roboto Medium"/>
              <a:cs typeface="Roboto Medium"/>
              <a:sym typeface="Roboto Medium"/>
            </a:endParaRPr>
          </a:p>
          <a:p>
            <a:pPr marL="0" lvl="0" indent="0" algn="l" rtl="0">
              <a:spcBef>
                <a:spcPts val="0"/>
              </a:spcBef>
              <a:spcAft>
                <a:spcPts val="0"/>
              </a:spcAft>
              <a:buClr>
                <a:schemeClr val="dk1"/>
              </a:buClr>
              <a:buSzPts val="1100"/>
              <a:buFont typeface="Arial"/>
              <a:buNone/>
            </a:pPr>
            <a:r>
              <a:rPr lang="en-US" sz="2800" dirty="0">
                <a:latin typeface="Roboto Light"/>
                <a:ea typeface="Roboto Light"/>
                <a:cs typeface="Roboto Light"/>
                <a:sym typeface="Roboto Light"/>
              </a:rPr>
              <a:t>In this activity, you will be given visualizations that you will attempt to recreate using Tableau.</a:t>
            </a:r>
            <a:endParaRPr lang="en-US" sz="2800" dirty="0"/>
          </a:p>
        </p:txBody>
      </p:sp>
      <p:pic>
        <p:nvPicPr>
          <p:cNvPr id="5" name="Picture 4" descr="A pen and pencil with a black background&#10;&#10;Description automatically generated">
            <a:extLst>
              <a:ext uri="{FF2B5EF4-FFF2-40B4-BE49-F238E27FC236}">
                <a16:creationId xmlns:a16="http://schemas.microsoft.com/office/drawing/2014/main" id="{EF505316-C88D-998F-103F-D871001294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800" y="428610"/>
            <a:ext cx="4133943" cy="4133943"/>
          </a:xfrm>
          <a:prstGeom prst="rect">
            <a:avLst/>
          </a:prstGeom>
        </p:spPr>
      </p:pic>
      <p:sp>
        <p:nvSpPr>
          <p:cNvPr id="6" name="Rectangle 5">
            <a:extLst>
              <a:ext uri="{FF2B5EF4-FFF2-40B4-BE49-F238E27FC236}">
                <a16:creationId xmlns:a16="http://schemas.microsoft.com/office/drawing/2014/main" id="{C5F0B76F-8195-8A48-E553-60B7D893C985}"/>
              </a:ext>
            </a:extLst>
          </p:cNvPr>
          <p:cNvSpPr/>
          <p:nvPr/>
        </p:nvSpPr>
        <p:spPr>
          <a:xfrm>
            <a:off x="0" y="4684029"/>
            <a:ext cx="12192000" cy="1866837"/>
          </a:xfrm>
          <a:prstGeom prst="rect">
            <a:avLst/>
          </a:prstGeom>
          <a:solidFill>
            <a:srgbClr val="FFC000">
              <a:alpha val="50000"/>
            </a:srgbClr>
          </a:solidFill>
          <a:ln>
            <a:solidFill>
              <a:srgbClr val="FFC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8" name="Picture 7" descr="A clock with a bell&#10;&#10;Description automatically generated">
            <a:extLst>
              <a:ext uri="{FF2B5EF4-FFF2-40B4-BE49-F238E27FC236}">
                <a16:creationId xmlns:a16="http://schemas.microsoft.com/office/drawing/2014/main" id="{9EA1820D-E1F8-F853-A802-4935CCE985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76776" y="4730288"/>
            <a:ext cx="1474424" cy="1474424"/>
          </a:xfrm>
          <a:prstGeom prst="rect">
            <a:avLst/>
          </a:prstGeom>
        </p:spPr>
      </p:pic>
      <p:sp>
        <p:nvSpPr>
          <p:cNvPr id="9" name="TextBox 8">
            <a:extLst>
              <a:ext uri="{FF2B5EF4-FFF2-40B4-BE49-F238E27FC236}">
                <a16:creationId xmlns:a16="http://schemas.microsoft.com/office/drawing/2014/main" id="{F9E5E1F4-B4B7-ADD3-EF5B-D518389EEA00}"/>
              </a:ext>
            </a:extLst>
          </p:cNvPr>
          <p:cNvSpPr txBox="1"/>
          <p:nvPr/>
        </p:nvSpPr>
        <p:spPr>
          <a:xfrm>
            <a:off x="7881257" y="5076100"/>
            <a:ext cx="2628119" cy="461665"/>
          </a:xfrm>
          <a:prstGeom prst="rect">
            <a:avLst/>
          </a:prstGeom>
          <a:noFill/>
        </p:spPr>
        <p:txBody>
          <a:bodyPr wrap="square" rtlCol="0">
            <a:spAutoFit/>
          </a:bodyPr>
          <a:lstStyle/>
          <a:p>
            <a:r>
              <a:rPr lang="en-US" sz="2400" b="1" dirty="0"/>
              <a:t>Suggested Time:</a:t>
            </a:r>
          </a:p>
        </p:txBody>
      </p:sp>
      <p:sp>
        <p:nvSpPr>
          <p:cNvPr id="10" name="TextBox 9">
            <a:extLst>
              <a:ext uri="{FF2B5EF4-FFF2-40B4-BE49-F238E27FC236}">
                <a16:creationId xmlns:a16="http://schemas.microsoft.com/office/drawing/2014/main" id="{162E7F17-2E16-7854-43ED-6C97BEFED726}"/>
              </a:ext>
            </a:extLst>
          </p:cNvPr>
          <p:cNvSpPr txBox="1"/>
          <p:nvPr/>
        </p:nvSpPr>
        <p:spPr>
          <a:xfrm>
            <a:off x="8666492" y="5567098"/>
            <a:ext cx="2597547" cy="400110"/>
          </a:xfrm>
          <a:prstGeom prst="rect">
            <a:avLst/>
          </a:prstGeom>
          <a:noFill/>
        </p:spPr>
        <p:txBody>
          <a:bodyPr wrap="square" rtlCol="0">
            <a:spAutoFit/>
          </a:bodyPr>
          <a:lstStyle/>
          <a:p>
            <a:r>
              <a:rPr lang="en-US" sz="2000" dirty="0"/>
              <a:t>15 minutes </a:t>
            </a:r>
          </a:p>
        </p:txBody>
      </p:sp>
    </p:spTree>
    <p:extLst>
      <p:ext uri="{BB962C8B-B14F-4D97-AF65-F5344CB8AC3E}">
        <p14:creationId xmlns:p14="http://schemas.microsoft.com/office/powerpoint/2010/main" val="22389927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078">
          <a:extLst>
            <a:ext uri="{FF2B5EF4-FFF2-40B4-BE49-F238E27FC236}">
              <a16:creationId xmlns:a16="http://schemas.microsoft.com/office/drawing/2014/main" id="{244030C1-BD06-FEF8-0B05-F96018DABB9B}"/>
            </a:ext>
          </a:extLst>
        </p:cNvPr>
        <p:cNvGrpSpPr/>
        <p:nvPr/>
      </p:nvGrpSpPr>
      <p:grpSpPr>
        <a:xfrm>
          <a:off x="0" y="0"/>
          <a:ext cx="0" cy="0"/>
          <a:chOff x="0" y="0"/>
          <a:chExt cx="0" cy="0"/>
        </a:xfrm>
      </p:grpSpPr>
      <p:sp>
        <p:nvSpPr>
          <p:cNvPr id="6080" name="Google Shape;6080;p407">
            <a:extLst>
              <a:ext uri="{FF2B5EF4-FFF2-40B4-BE49-F238E27FC236}">
                <a16:creationId xmlns:a16="http://schemas.microsoft.com/office/drawing/2014/main" id="{EE648F40-7B21-1BCF-FFB8-AE86B2651726}"/>
              </a:ext>
            </a:extLst>
          </p:cNvPr>
          <p:cNvSpPr txBox="1">
            <a:spLocks noGrp="1"/>
          </p:cNvSpPr>
          <p:nvPr>
            <p:ph type="title"/>
          </p:nvPr>
        </p:nvSpPr>
        <p:spPr>
          <a:xfrm>
            <a:off x="-16400" y="0"/>
            <a:ext cx="12224800" cy="711600"/>
          </a:xfrm>
          <a:prstGeom prst="rect">
            <a:avLst/>
          </a:prstGeom>
        </p:spPr>
        <p:txBody>
          <a:bodyPr spcFirstLastPara="1" vert="horz" wrap="square" lIns="609600" tIns="243833" rIns="365733" bIns="121900" rtlCol="0" anchor="t" anchorCtr="0">
            <a:noAutofit/>
          </a:bodyPr>
          <a:lstStyle/>
          <a:p>
            <a:pPr>
              <a:buSzPts val="990"/>
            </a:pPr>
            <a:r>
              <a:rPr lang="en" sz="3253" dirty="0"/>
              <a:t>Activity: Explore Data</a:t>
            </a:r>
            <a:endParaRPr sz="3253" b="1" dirty="0">
              <a:latin typeface="Roboto"/>
              <a:ea typeface="Roboto"/>
              <a:cs typeface="Roboto"/>
              <a:sym typeface="Roboto"/>
            </a:endParaRPr>
          </a:p>
        </p:txBody>
      </p:sp>
      <p:sp>
        <p:nvSpPr>
          <p:cNvPr id="6081" name="Google Shape;6081;p407">
            <a:extLst>
              <a:ext uri="{FF2B5EF4-FFF2-40B4-BE49-F238E27FC236}">
                <a16:creationId xmlns:a16="http://schemas.microsoft.com/office/drawing/2014/main" id="{6C3649FE-C051-D66E-9610-7D9C2A92D32C}"/>
              </a:ext>
            </a:extLst>
          </p:cNvPr>
          <p:cNvSpPr txBox="1">
            <a:spLocks noGrp="1"/>
          </p:cNvSpPr>
          <p:nvPr>
            <p:ph type="sldNum" idx="12"/>
          </p:nvPr>
        </p:nvSpPr>
        <p:spPr>
          <a:xfrm>
            <a:off x="11477033" y="6609600"/>
            <a:ext cx="349200" cy="140800"/>
          </a:xfrm>
          <a:prstGeom prst="rect">
            <a:avLst/>
          </a:prstGeom>
        </p:spPr>
        <p:txBody>
          <a:bodyPr spcFirstLastPara="1" vert="horz" wrap="square" lIns="0" tIns="0" rIns="0" bIns="121900" rtlCol="0" anchor="t" anchorCtr="0">
            <a:normAutofit fontScale="25000" lnSpcReduction="20000"/>
          </a:bodyPr>
          <a:lstStyle/>
          <a:p>
            <a:fld id="{00000000-1234-1234-1234-123412341234}" type="slidenum">
              <a:rPr lang="en"/>
              <a:pPr/>
              <a:t>35</a:t>
            </a:fld>
            <a:endParaRPr/>
          </a:p>
        </p:txBody>
      </p:sp>
      <p:pic>
        <p:nvPicPr>
          <p:cNvPr id="6087" name="Google Shape;6087;p407">
            <a:extLst>
              <a:ext uri="{FF2B5EF4-FFF2-40B4-BE49-F238E27FC236}">
                <a16:creationId xmlns:a16="http://schemas.microsoft.com/office/drawing/2014/main" id="{4692E1D9-7F70-7409-25D1-EC7EA6E13BB2}"/>
              </a:ext>
            </a:extLst>
          </p:cNvPr>
          <p:cNvPicPr preferRelativeResize="0"/>
          <p:nvPr/>
        </p:nvPicPr>
        <p:blipFill>
          <a:blip r:embed="rId3">
            <a:alphaModFix/>
          </a:blip>
          <a:stretch>
            <a:fillRect/>
          </a:stretch>
        </p:blipFill>
        <p:spPr>
          <a:xfrm rot="-1782531" flipH="1">
            <a:off x="914507" y="5160004"/>
            <a:ext cx="835436" cy="835401"/>
          </a:xfrm>
          <a:prstGeom prst="rect">
            <a:avLst/>
          </a:prstGeom>
          <a:noFill/>
          <a:ln>
            <a:noFill/>
          </a:ln>
        </p:spPr>
      </p:pic>
      <p:sp>
        <p:nvSpPr>
          <p:cNvPr id="4" name="TextBox 3">
            <a:extLst>
              <a:ext uri="{FF2B5EF4-FFF2-40B4-BE49-F238E27FC236}">
                <a16:creationId xmlns:a16="http://schemas.microsoft.com/office/drawing/2014/main" id="{9EE09CF9-853F-2F17-1456-12BF7EAE0EBC}"/>
              </a:ext>
            </a:extLst>
          </p:cNvPr>
          <p:cNvSpPr txBox="1"/>
          <p:nvPr/>
        </p:nvSpPr>
        <p:spPr>
          <a:xfrm>
            <a:off x="1332225" y="1161905"/>
            <a:ext cx="9269453" cy="4534190"/>
          </a:xfrm>
          <a:prstGeom prst="rect">
            <a:avLst/>
          </a:prstGeom>
          <a:noFill/>
        </p:spPr>
        <p:txBody>
          <a:bodyPr wrap="square">
            <a:spAutoFit/>
          </a:bodyPr>
          <a:lstStyle/>
          <a:p>
            <a:pPr marL="457200" lvl="0" indent="-317500" algn="l" rtl="0">
              <a:lnSpc>
                <a:spcPct val="115000"/>
              </a:lnSpc>
              <a:spcBef>
                <a:spcPts val="0"/>
              </a:spcBef>
              <a:spcAft>
                <a:spcPts val="0"/>
              </a:spcAft>
              <a:buClr>
                <a:srgbClr val="24292E"/>
              </a:buClr>
              <a:buSzPts val="1400"/>
              <a:buFont typeface="Roboto"/>
              <a:buChar char="●"/>
            </a:pPr>
            <a:r>
              <a:rPr lang="en-US" dirty="0">
                <a:solidFill>
                  <a:srgbClr val="24292E"/>
                </a:solidFill>
                <a:latin typeface="Roboto"/>
                <a:ea typeface="Roboto"/>
                <a:cs typeface="Roboto"/>
                <a:sym typeface="Roboto"/>
              </a:rPr>
              <a:t>Create a line chart that compares the ages of patients against the total number of appointments. Then, split this graph based on scholarship and whether the patient showed up to their appointment.</a:t>
            </a:r>
          </a:p>
          <a:p>
            <a:pPr marL="914400" lvl="1" indent="-317500" algn="l" rtl="0">
              <a:lnSpc>
                <a:spcPct val="115000"/>
              </a:lnSpc>
              <a:spcBef>
                <a:spcPts val="1000"/>
              </a:spcBef>
              <a:spcAft>
                <a:spcPts val="0"/>
              </a:spcAft>
              <a:buClr>
                <a:srgbClr val="24292E"/>
              </a:buClr>
              <a:buSzPts val="1400"/>
              <a:buFont typeface="Roboto"/>
              <a:buChar char="○"/>
            </a:pPr>
            <a:r>
              <a:rPr lang="en-US" dirty="0">
                <a:solidFill>
                  <a:srgbClr val="24292E"/>
                </a:solidFill>
                <a:latin typeface="Roboto"/>
                <a:ea typeface="Roboto"/>
                <a:cs typeface="Roboto"/>
                <a:sym typeface="Roboto"/>
              </a:rPr>
              <a:t>For this first step, you'll need to convert Age from a Measure to a Dimension.</a:t>
            </a:r>
          </a:p>
          <a:p>
            <a:pPr marL="457200" lvl="0" indent="-317500" algn="l" rtl="0">
              <a:lnSpc>
                <a:spcPct val="115000"/>
              </a:lnSpc>
              <a:spcBef>
                <a:spcPts val="1000"/>
              </a:spcBef>
              <a:spcAft>
                <a:spcPts val="0"/>
              </a:spcAft>
              <a:buClr>
                <a:srgbClr val="24292E"/>
              </a:buClr>
              <a:buSzPts val="1400"/>
              <a:buFont typeface="Roboto"/>
              <a:buChar char="●"/>
            </a:pPr>
            <a:r>
              <a:rPr lang="en-US" dirty="0">
                <a:solidFill>
                  <a:srgbClr val="24292E"/>
                </a:solidFill>
                <a:latin typeface="Roboto"/>
                <a:ea typeface="Roboto"/>
                <a:cs typeface="Roboto"/>
                <a:sym typeface="Roboto"/>
              </a:rPr>
              <a:t>Create a pair of bar charts that compare how many patients showed up to appointments versus how many were no-shows in different neighborhoods.</a:t>
            </a:r>
          </a:p>
          <a:p>
            <a:pPr marL="457200" lvl="0" indent="-317500" algn="l" rtl="0">
              <a:lnSpc>
                <a:spcPct val="115000"/>
              </a:lnSpc>
              <a:spcBef>
                <a:spcPts val="1000"/>
              </a:spcBef>
              <a:spcAft>
                <a:spcPts val="0"/>
              </a:spcAft>
              <a:buClr>
                <a:srgbClr val="24292E"/>
              </a:buClr>
              <a:buSzPts val="1400"/>
              <a:buFont typeface="Roboto"/>
              <a:buChar char="●"/>
            </a:pPr>
            <a:r>
              <a:rPr lang="en-US" dirty="0">
                <a:solidFill>
                  <a:srgbClr val="24292E"/>
                </a:solidFill>
                <a:latin typeface="Roboto"/>
                <a:ea typeface="Roboto"/>
                <a:cs typeface="Roboto"/>
                <a:sym typeface="Roboto"/>
              </a:rPr>
              <a:t>Create a stacked bar chart that compares no-shows to those who made it to their appointment based on the day of the week.</a:t>
            </a:r>
          </a:p>
          <a:p>
            <a:pPr marL="457200" lvl="0" indent="-317500" algn="l" rtl="0">
              <a:lnSpc>
                <a:spcPct val="115000"/>
              </a:lnSpc>
              <a:spcBef>
                <a:spcPts val="1000"/>
              </a:spcBef>
              <a:spcAft>
                <a:spcPts val="0"/>
              </a:spcAft>
              <a:buClr>
                <a:srgbClr val="24292E"/>
              </a:buClr>
              <a:buSzPts val="1400"/>
              <a:buFont typeface="Roboto"/>
              <a:buChar char="●"/>
            </a:pPr>
            <a:r>
              <a:rPr lang="en-US" dirty="0">
                <a:solidFill>
                  <a:srgbClr val="24292E"/>
                </a:solidFill>
                <a:latin typeface="Roboto"/>
                <a:ea typeface="Roboto"/>
                <a:cs typeface="Roboto"/>
                <a:sym typeface="Roboto"/>
              </a:rPr>
              <a:t>Create a pair of line graphs to compare age and diabetes in patients who showed up to appointments versus those who were no-shows.</a:t>
            </a:r>
          </a:p>
          <a:p>
            <a:pPr marL="457200" lvl="0" indent="-317500" algn="l" rtl="0">
              <a:lnSpc>
                <a:spcPct val="115000"/>
              </a:lnSpc>
              <a:spcBef>
                <a:spcPts val="1000"/>
              </a:spcBef>
              <a:spcAft>
                <a:spcPts val="1000"/>
              </a:spcAft>
              <a:buClr>
                <a:srgbClr val="24292E"/>
              </a:buClr>
              <a:buSzPts val="1400"/>
              <a:buFont typeface="Roboto"/>
              <a:buChar char="●"/>
            </a:pPr>
            <a:r>
              <a:rPr lang="en-US" dirty="0">
                <a:solidFill>
                  <a:srgbClr val="24292E"/>
                </a:solidFill>
                <a:latin typeface="Roboto"/>
                <a:ea typeface="Roboto"/>
                <a:cs typeface="Roboto"/>
                <a:sym typeface="Roboto"/>
              </a:rPr>
              <a:t>Create a pair of line graphs to compare age and alcoholism in patients who showed up to appointments versus those who were no-shows.</a:t>
            </a:r>
          </a:p>
        </p:txBody>
      </p:sp>
    </p:spTree>
    <p:extLst>
      <p:ext uri="{BB962C8B-B14F-4D97-AF65-F5344CB8AC3E}">
        <p14:creationId xmlns:p14="http://schemas.microsoft.com/office/powerpoint/2010/main" val="36902676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topwatch with a red ribbon&#10;&#10;Description automatically generated">
            <a:extLst>
              <a:ext uri="{FF2B5EF4-FFF2-40B4-BE49-F238E27FC236}">
                <a16:creationId xmlns:a16="http://schemas.microsoft.com/office/drawing/2014/main" id="{DDB0DF0C-8F35-45FA-48E7-21E8F1DDEC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9889" y="643466"/>
            <a:ext cx="6632221" cy="5571067"/>
          </a:xfrm>
          <a:prstGeom prst="rect">
            <a:avLst/>
          </a:prstGeom>
        </p:spPr>
      </p:pic>
    </p:spTree>
    <p:extLst>
      <p:ext uri="{BB962C8B-B14F-4D97-AF65-F5344CB8AC3E}">
        <p14:creationId xmlns:p14="http://schemas.microsoft.com/office/powerpoint/2010/main" val="40137930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127"/>
        <p:cNvGrpSpPr/>
        <p:nvPr/>
      </p:nvGrpSpPr>
      <p:grpSpPr>
        <a:xfrm>
          <a:off x="0" y="0"/>
          <a:ext cx="0" cy="0"/>
          <a:chOff x="0" y="0"/>
          <a:chExt cx="0" cy="0"/>
        </a:xfrm>
      </p:grpSpPr>
      <p:sp>
        <p:nvSpPr>
          <p:cNvPr id="6128" name="Google Shape;6128;p413"/>
          <p:cNvSpPr txBox="1">
            <a:spLocks noGrp="1"/>
          </p:cNvSpPr>
          <p:nvPr>
            <p:ph type="title"/>
          </p:nvPr>
        </p:nvSpPr>
        <p:spPr>
          <a:xfrm>
            <a:off x="-16400" y="0"/>
            <a:ext cx="12224800" cy="711600"/>
          </a:xfrm>
          <a:prstGeom prst="rect">
            <a:avLst/>
          </a:prstGeom>
        </p:spPr>
        <p:txBody>
          <a:bodyPr spcFirstLastPara="1" vert="horz" wrap="square" lIns="609600" tIns="243833" rIns="365733" bIns="121900" rtlCol="0" anchor="t" anchorCtr="0">
            <a:noAutofit/>
          </a:bodyPr>
          <a:lstStyle/>
          <a:p>
            <a:pPr>
              <a:buSzPts val="990"/>
            </a:pPr>
            <a:r>
              <a:rPr lang="en" sz="3253"/>
              <a:t>Instructor Do: Joins and Splitting Made Easy</a:t>
            </a:r>
            <a:endParaRPr sz="3253" b="1">
              <a:latin typeface="Roboto"/>
              <a:ea typeface="Roboto"/>
              <a:cs typeface="Roboto"/>
              <a:sym typeface="Roboto"/>
            </a:endParaRPr>
          </a:p>
        </p:txBody>
      </p:sp>
      <p:sp>
        <p:nvSpPr>
          <p:cNvPr id="6129" name="Google Shape;6129;p413"/>
          <p:cNvSpPr txBox="1">
            <a:spLocks noGrp="1"/>
          </p:cNvSpPr>
          <p:nvPr>
            <p:ph type="sldNum" idx="12"/>
          </p:nvPr>
        </p:nvSpPr>
        <p:spPr>
          <a:xfrm>
            <a:off x="11477033" y="6609600"/>
            <a:ext cx="349200" cy="140800"/>
          </a:xfrm>
          <a:prstGeom prst="rect">
            <a:avLst/>
          </a:prstGeom>
        </p:spPr>
        <p:txBody>
          <a:bodyPr spcFirstLastPara="1" vert="horz" wrap="square" lIns="0" tIns="0" rIns="0" bIns="121900" rtlCol="0" anchor="t" anchorCtr="0">
            <a:normAutofit fontScale="25000" lnSpcReduction="20000"/>
          </a:bodyPr>
          <a:lstStyle/>
          <a:p>
            <a:fld id="{00000000-1234-1234-1234-123412341234}" type="slidenum">
              <a:rPr lang="en"/>
              <a:pPr/>
              <a:t>37</a:t>
            </a:fld>
            <a:endParaRPr/>
          </a:p>
        </p:txBody>
      </p:sp>
      <p:sp>
        <p:nvSpPr>
          <p:cNvPr id="6130" name="Google Shape;6130;p413"/>
          <p:cNvSpPr txBox="1"/>
          <p:nvPr/>
        </p:nvSpPr>
        <p:spPr>
          <a:xfrm>
            <a:off x="397533" y="1000401"/>
            <a:ext cx="11428800" cy="1354176"/>
          </a:xfrm>
          <a:prstGeom prst="rect">
            <a:avLst/>
          </a:prstGeom>
          <a:noFill/>
          <a:ln>
            <a:noFill/>
          </a:ln>
        </p:spPr>
        <p:txBody>
          <a:bodyPr spcFirstLastPara="1" wrap="square" lIns="121900" tIns="121900" rIns="121900" bIns="121900" anchor="t" anchorCtr="0">
            <a:spAutoFit/>
          </a:bodyPr>
          <a:lstStyle/>
          <a:p>
            <a:r>
              <a:rPr lang="en" sz="2400"/>
              <a:t>Joins are a constant in data science, and they are often considered tedious and complex. Tableau, however, simplifies joins so much that even complex joins can be performed in just a few clicks.</a:t>
            </a:r>
            <a:endParaRPr sz="2400"/>
          </a:p>
        </p:txBody>
      </p:sp>
      <p:pic>
        <p:nvPicPr>
          <p:cNvPr id="6131" name="Google Shape;6131;p413"/>
          <p:cNvPicPr preferRelativeResize="0"/>
          <p:nvPr/>
        </p:nvPicPr>
        <p:blipFill>
          <a:blip r:embed="rId3">
            <a:alphaModFix/>
          </a:blip>
          <a:stretch>
            <a:fillRect/>
          </a:stretch>
        </p:blipFill>
        <p:spPr>
          <a:xfrm>
            <a:off x="2159100" y="1821200"/>
            <a:ext cx="7873813" cy="46304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135"/>
        <p:cNvGrpSpPr/>
        <p:nvPr/>
      </p:nvGrpSpPr>
      <p:grpSpPr>
        <a:xfrm>
          <a:off x="0" y="0"/>
          <a:ext cx="0" cy="0"/>
          <a:chOff x="0" y="0"/>
          <a:chExt cx="0" cy="0"/>
        </a:xfrm>
      </p:grpSpPr>
      <p:sp>
        <p:nvSpPr>
          <p:cNvPr id="6136" name="Google Shape;6136;p414"/>
          <p:cNvSpPr txBox="1">
            <a:spLocks noGrp="1"/>
          </p:cNvSpPr>
          <p:nvPr>
            <p:ph type="title"/>
          </p:nvPr>
        </p:nvSpPr>
        <p:spPr>
          <a:xfrm>
            <a:off x="-16400" y="0"/>
            <a:ext cx="12224800" cy="711600"/>
          </a:xfrm>
          <a:prstGeom prst="rect">
            <a:avLst/>
          </a:prstGeom>
        </p:spPr>
        <p:txBody>
          <a:bodyPr spcFirstLastPara="1" vert="horz" wrap="square" lIns="609600" tIns="243833" rIns="365733" bIns="121900" rtlCol="0" anchor="t" anchorCtr="0">
            <a:noAutofit/>
          </a:bodyPr>
          <a:lstStyle/>
          <a:p>
            <a:pPr>
              <a:buSzPts val="990"/>
            </a:pPr>
            <a:r>
              <a:rPr lang="en" sz="3253"/>
              <a:t>Instructor Do: Joins and Splitting Made Easy</a:t>
            </a:r>
            <a:endParaRPr sz="3253" b="1">
              <a:latin typeface="Roboto"/>
              <a:ea typeface="Roboto"/>
              <a:cs typeface="Roboto"/>
              <a:sym typeface="Roboto"/>
            </a:endParaRPr>
          </a:p>
          <a:p>
            <a:pPr>
              <a:buSzPts val="990"/>
            </a:pPr>
            <a:endParaRPr sz="3253"/>
          </a:p>
        </p:txBody>
      </p:sp>
      <p:sp>
        <p:nvSpPr>
          <p:cNvPr id="6137" name="Google Shape;6137;p414"/>
          <p:cNvSpPr/>
          <p:nvPr/>
        </p:nvSpPr>
        <p:spPr>
          <a:xfrm>
            <a:off x="5751233" y="1525367"/>
            <a:ext cx="6024000" cy="4800800"/>
          </a:xfrm>
          <a:prstGeom prst="rect">
            <a:avLst/>
          </a:prstGeom>
          <a:noFill/>
          <a:ln w="2857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609585" indent="-423323">
              <a:buSzPts val="1400"/>
              <a:buChar char="●"/>
            </a:pPr>
            <a:r>
              <a:rPr lang="en" dirty="0"/>
              <a:t>To do so, navigate to the first sheet and scroll through the data to select the column header whose values should be split, then right-click, and select </a:t>
            </a:r>
            <a:r>
              <a:rPr lang="en" i="1" dirty="0"/>
              <a:t>"Transform"</a:t>
            </a:r>
            <a:r>
              <a:rPr lang="en" dirty="0"/>
              <a:t> then </a:t>
            </a:r>
            <a:r>
              <a:rPr lang="en" i="1" dirty="0"/>
              <a:t>"Custom Split"</a:t>
            </a:r>
            <a:r>
              <a:rPr lang="en" dirty="0"/>
              <a:t> from the drop-down menu.</a:t>
            </a:r>
            <a:endParaRPr dirty="0"/>
          </a:p>
          <a:p>
            <a:pPr marL="609585"/>
            <a:endParaRPr dirty="0"/>
          </a:p>
          <a:p>
            <a:pPr marL="609585" indent="-423323">
              <a:buSzPts val="1400"/>
              <a:buChar char="●"/>
            </a:pPr>
            <a:r>
              <a:rPr lang="en" dirty="0"/>
              <a:t>Select what character to split the text on, whether to split from the beginning or the end of the string, and then how many times the text should be split.</a:t>
            </a:r>
            <a:endParaRPr dirty="0"/>
          </a:p>
          <a:p>
            <a:endParaRPr dirty="0"/>
          </a:p>
          <a:p>
            <a:pPr marL="609585" indent="-423323">
              <a:buSzPts val="1400"/>
              <a:buChar char="●"/>
            </a:pPr>
            <a:r>
              <a:rPr lang="en" dirty="0"/>
              <a:t>Split the </a:t>
            </a:r>
            <a:r>
              <a:rPr lang="en" i="1" dirty="0"/>
              <a:t>"Rent Code"</a:t>
            </a:r>
            <a:r>
              <a:rPr lang="en" dirty="0"/>
              <a:t> column on the first hyphen one time; this will extract the store id in which a movie was rented from the initial string.</a:t>
            </a:r>
            <a:endParaRPr dirty="0"/>
          </a:p>
          <a:p>
            <a:pPr marL="609585"/>
            <a:endParaRPr dirty="0"/>
          </a:p>
        </p:txBody>
      </p:sp>
      <p:sp>
        <p:nvSpPr>
          <p:cNvPr id="6138" name="Google Shape;6138;p414"/>
          <p:cNvSpPr txBox="1"/>
          <p:nvPr/>
        </p:nvSpPr>
        <p:spPr>
          <a:xfrm>
            <a:off x="720867" y="884068"/>
            <a:ext cx="10636000" cy="984845"/>
          </a:xfrm>
          <a:prstGeom prst="rect">
            <a:avLst/>
          </a:prstGeom>
          <a:noFill/>
          <a:ln>
            <a:noFill/>
          </a:ln>
        </p:spPr>
        <p:txBody>
          <a:bodyPr spcFirstLastPara="1" wrap="square" lIns="121900" tIns="121900" rIns="121900" bIns="121900" anchor="t" anchorCtr="0">
            <a:spAutoFit/>
          </a:bodyPr>
          <a:lstStyle/>
          <a:p>
            <a:r>
              <a:rPr lang="en" sz="2400"/>
              <a:t>Another interesting feature of Tableau is that columns containing text can be split to extract data</a:t>
            </a:r>
            <a:endParaRPr sz="2400"/>
          </a:p>
        </p:txBody>
      </p:sp>
      <p:pic>
        <p:nvPicPr>
          <p:cNvPr id="6139" name="Google Shape;6139;p414"/>
          <p:cNvPicPr preferRelativeResize="0"/>
          <p:nvPr/>
        </p:nvPicPr>
        <p:blipFill>
          <a:blip r:embed="rId3">
            <a:alphaModFix/>
          </a:blip>
          <a:stretch>
            <a:fillRect/>
          </a:stretch>
        </p:blipFill>
        <p:spPr>
          <a:xfrm>
            <a:off x="874533" y="2634434"/>
            <a:ext cx="4191000" cy="20701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977">
          <a:extLst>
            <a:ext uri="{FF2B5EF4-FFF2-40B4-BE49-F238E27FC236}">
              <a16:creationId xmlns:a16="http://schemas.microsoft.com/office/drawing/2014/main" id="{582AADDC-1659-643F-A73C-15453D732C11}"/>
            </a:ext>
          </a:extLst>
        </p:cNvPr>
        <p:cNvGrpSpPr/>
        <p:nvPr/>
      </p:nvGrpSpPr>
      <p:grpSpPr>
        <a:xfrm>
          <a:off x="0" y="0"/>
          <a:ext cx="0" cy="0"/>
          <a:chOff x="0" y="0"/>
          <a:chExt cx="0" cy="0"/>
        </a:xfrm>
      </p:grpSpPr>
      <p:sp>
        <p:nvSpPr>
          <p:cNvPr id="5978" name="Google Shape;5978;p393">
            <a:extLst>
              <a:ext uri="{FF2B5EF4-FFF2-40B4-BE49-F238E27FC236}">
                <a16:creationId xmlns:a16="http://schemas.microsoft.com/office/drawing/2014/main" id="{38277CAA-DE9D-6444-6EC4-0FD924339FAE}"/>
              </a:ext>
            </a:extLst>
          </p:cNvPr>
          <p:cNvSpPr txBox="1">
            <a:spLocks noGrp="1"/>
          </p:cNvSpPr>
          <p:nvPr>
            <p:ph type="title"/>
          </p:nvPr>
        </p:nvSpPr>
        <p:spPr>
          <a:prstGeom prst="rect">
            <a:avLst/>
          </a:prstGeom>
        </p:spPr>
        <p:txBody>
          <a:bodyPr spcFirstLastPara="1" vert="horz" wrap="square" lIns="609600" tIns="12167" rIns="1341100" bIns="0" rtlCol="0" anchor="t" anchorCtr="0">
            <a:noAutofit/>
          </a:bodyPr>
          <a:lstStyle/>
          <a:p>
            <a:r>
              <a:rPr lang="en" dirty="0"/>
              <a:t>  10 Minutes</a:t>
            </a:r>
            <a:endParaRPr dirty="0"/>
          </a:p>
        </p:txBody>
      </p:sp>
      <p:sp>
        <p:nvSpPr>
          <p:cNvPr id="5979" name="Google Shape;5979;p393">
            <a:extLst>
              <a:ext uri="{FF2B5EF4-FFF2-40B4-BE49-F238E27FC236}">
                <a16:creationId xmlns:a16="http://schemas.microsoft.com/office/drawing/2014/main" id="{89AE77EA-E1CF-D10E-31C6-7D3D42368B89}"/>
              </a:ext>
            </a:extLst>
          </p:cNvPr>
          <p:cNvSpPr txBox="1">
            <a:spLocks noGrp="1"/>
          </p:cNvSpPr>
          <p:nvPr>
            <p:ph type="sldNum" idx="12"/>
          </p:nvPr>
        </p:nvSpPr>
        <p:spPr>
          <a:prstGeom prst="rect">
            <a:avLst/>
          </a:prstGeom>
        </p:spPr>
        <p:txBody>
          <a:bodyPr spcFirstLastPara="1" vert="horz" wrap="square" lIns="0" tIns="0" rIns="0" bIns="121900" rtlCol="0" anchor="t" anchorCtr="0">
            <a:noAutofit/>
          </a:bodyPr>
          <a:lstStyle/>
          <a:p>
            <a:fld id="{00000000-1234-1234-1234-123412341234}" type="slidenum">
              <a:rPr lang="en"/>
              <a:pPr/>
              <a:t>39</a:t>
            </a:fld>
            <a:endParaRPr/>
          </a:p>
        </p:txBody>
      </p:sp>
      <p:sp>
        <p:nvSpPr>
          <p:cNvPr id="5981" name="Google Shape;5981;p393">
            <a:extLst>
              <a:ext uri="{FF2B5EF4-FFF2-40B4-BE49-F238E27FC236}">
                <a16:creationId xmlns:a16="http://schemas.microsoft.com/office/drawing/2014/main" id="{D6B746AF-E9F6-4DDA-2BD8-B0B8D1E5B158}"/>
              </a:ext>
            </a:extLst>
          </p:cNvPr>
          <p:cNvSpPr txBox="1">
            <a:spLocks noGrp="1"/>
          </p:cNvSpPr>
          <p:nvPr>
            <p:ph type="title" idx="2"/>
          </p:nvPr>
        </p:nvSpPr>
        <p:spPr>
          <a:xfrm>
            <a:off x="849087" y="1441021"/>
            <a:ext cx="11202114" cy="1465899"/>
          </a:xfrm>
          <a:prstGeom prst="rect">
            <a:avLst/>
          </a:prstGeom>
        </p:spPr>
        <p:txBody>
          <a:bodyPr spcFirstLastPara="1" vert="horz" wrap="square" lIns="3413733" tIns="0" rIns="609600" bIns="609600" rtlCol="0" anchor="t" anchorCtr="0">
            <a:noAutofit/>
          </a:bodyPr>
          <a:lstStyle/>
          <a:p>
            <a:pPr>
              <a:buClr>
                <a:schemeClr val="dk1"/>
              </a:buClr>
              <a:buSzPts val="1100"/>
            </a:pPr>
            <a:r>
              <a:rPr lang="en-US" sz="3067" b="1" dirty="0"/>
              <a:t>Instructor Demonstration</a:t>
            </a:r>
            <a:r>
              <a:rPr lang="en" sz="3067" b="1" dirty="0"/>
              <a:t>: </a:t>
            </a:r>
            <a:r>
              <a:rPr lang="en-US" sz="3067" b="1" dirty="0"/>
              <a:t>Easy Join </a:t>
            </a:r>
            <a:endParaRPr sz="3067" dirty="0">
              <a:latin typeface="Roboto Medium"/>
              <a:ea typeface="Roboto Medium"/>
              <a:cs typeface="Roboto Medium"/>
              <a:sym typeface="Roboto Medium"/>
            </a:endParaRPr>
          </a:p>
        </p:txBody>
      </p:sp>
      <p:sp>
        <p:nvSpPr>
          <p:cNvPr id="6" name="Rectangle 5">
            <a:extLst>
              <a:ext uri="{FF2B5EF4-FFF2-40B4-BE49-F238E27FC236}">
                <a16:creationId xmlns:a16="http://schemas.microsoft.com/office/drawing/2014/main" id="{C41AEA57-C659-84D5-FD3F-1B4CD7C643CD}"/>
              </a:ext>
            </a:extLst>
          </p:cNvPr>
          <p:cNvSpPr/>
          <p:nvPr/>
        </p:nvSpPr>
        <p:spPr>
          <a:xfrm>
            <a:off x="0" y="4684029"/>
            <a:ext cx="12192000" cy="1866837"/>
          </a:xfrm>
          <a:prstGeom prst="rect">
            <a:avLst/>
          </a:prstGeom>
          <a:solidFill>
            <a:srgbClr val="C09200">
              <a:alpha val="49804"/>
            </a:srgbClr>
          </a:solidFill>
          <a:ln>
            <a:solidFill>
              <a:srgbClr val="FFC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8" name="Picture 7" descr="A clock with a bell&#10;&#10;Description automatically generated">
            <a:extLst>
              <a:ext uri="{FF2B5EF4-FFF2-40B4-BE49-F238E27FC236}">
                <a16:creationId xmlns:a16="http://schemas.microsoft.com/office/drawing/2014/main" id="{7614EB14-4D24-8B75-5FC8-AB66899700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6776" y="4730288"/>
            <a:ext cx="1474424" cy="1474424"/>
          </a:xfrm>
          <a:prstGeom prst="rect">
            <a:avLst/>
          </a:prstGeom>
        </p:spPr>
      </p:pic>
      <p:sp>
        <p:nvSpPr>
          <p:cNvPr id="9" name="TextBox 8">
            <a:extLst>
              <a:ext uri="{FF2B5EF4-FFF2-40B4-BE49-F238E27FC236}">
                <a16:creationId xmlns:a16="http://schemas.microsoft.com/office/drawing/2014/main" id="{50685978-4C9D-4BBE-FC75-3D33638FCCE3}"/>
              </a:ext>
            </a:extLst>
          </p:cNvPr>
          <p:cNvSpPr txBox="1"/>
          <p:nvPr/>
        </p:nvSpPr>
        <p:spPr>
          <a:xfrm>
            <a:off x="7881257" y="5076100"/>
            <a:ext cx="2628119" cy="461665"/>
          </a:xfrm>
          <a:prstGeom prst="rect">
            <a:avLst/>
          </a:prstGeom>
          <a:noFill/>
        </p:spPr>
        <p:txBody>
          <a:bodyPr wrap="square" rtlCol="0">
            <a:spAutoFit/>
          </a:bodyPr>
          <a:lstStyle/>
          <a:p>
            <a:r>
              <a:rPr lang="en-US" sz="2400" b="1" dirty="0"/>
              <a:t>Suggested Time:</a:t>
            </a:r>
          </a:p>
        </p:txBody>
      </p:sp>
      <p:sp>
        <p:nvSpPr>
          <p:cNvPr id="10" name="TextBox 9">
            <a:extLst>
              <a:ext uri="{FF2B5EF4-FFF2-40B4-BE49-F238E27FC236}">
                <a16:creationId xmlns:a16="http://schemas.microsoft.com/office/drawing/2014/main" id="{9F222396-CE00-A0A6-D20E-03BA2DC39B7F}"/>
              </a:ext>
            </a:extLst>
          </p:cNvPr>
          <p:cNvSpPr txBox="1"/>
          <p:nvPr/>
        </p:nvSpPr>
        <p:spPr>
          <a:xfrm>
            <a:off x="8666492" y="5567098"/>
            <a:ext cx="2597547" cy="400110"/>
          </a:xfrm>
          <a:prstGeom prst="rect">
            <a:avLst/>
          </a:prstGeom>
          <a:noFill/>
        </p:spPr>
        <p:txBody>
          <a:bodyPr wrap="square" rtlCol="0">
            <a:spAutoFit/>
          </a:bodyPr>
          <a:lstStyle/>
          <a:p>
            <a:r>
              <a:rPr lang="en-US" sz="2000" dirty="0"/>
              <a:t>5 minutes </a:t>
            </a:r>
          </a:p>
        </p:txBody>
      </p:sp>
      <p:pic>
        <p:nvPicPr>
          <p:cNvPr id="12" name="Picture 11" descr="A person standing in front of a board&#10;&#10;Description automatically generated">
            <a:extLst>
              <a:ext uri="{FF2B5EF4-FFF2-40B4-BE49-F238E27FC236}">
                <a16:creationId xmlns:a16="http://schemas.microsoft.com/office/drawing/2014/main" id="{C9285BC1-20B8-9FF4-12ED-B497138622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16991"/>
            <a:ext cx="3977456" cy="4067038"/>
          </a:xfrm>
          <a:prstGeom prst="rect">
            <a:avLst/>
          </a:prstGeom>
        </p:spPr>
      </p:pic>
    </p:spTree>
    <p:extLst>
      <p:ext uri="{BB962C8B-B14F-4D97-AF65-F5344CB8AC3E}">
        <p14:creationId xmlns:p14="http://schemas.microsoft.com/office/powerpoint/2010/main" val="36086493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178"/>
        <p:cNvGrpSpPr/>
        <p:nvPr/>
      </p:nvGrpSpPr>
      <p:grpSpPr>
        <a:xfrm>
          <a:off x="0" y="0"/>
          <a:ext cx="0" cy="0"/>
          <a:chOff x="0" y="0"/>
          <a:chExt cx="0" cy="0"/>
        </a:xfrm>
      </p:grpSpPr>
      <p:sp>
        <p:nvSpPr>
          <p:cNvPr id="6179" name="Google Shape;6179;p420"/>
          <p:cNvSpPr txBox="1">
            <a:spLocks noGrp="1"/>
          </p:cNvSpPr>
          <p:nvPr>
            <p:ph type="title"/>
          </p:nvPr>
        </p:nvSpPr>
        <p:spPr>
          <a:xfrm>
            <a:off x="-16400" y="0"/>
            <a:ext cx="12224800" cy="711600"/>
          </a:xfrm>
          <a:prstGeom prst="rect">
            <a:avLst/>
          </a:prstGeom>
        </p:spPr>
        <p:txBody>
          <a:bodyPr spcFirstLastPara="1" vert="horz" wrap="square" lIns="609600" tIns="243833" rIns="365733" bIns="121900" rtlCol="0" anchor="t" anchorCtr="0">
            <a:noAutofit/>
          </a:bodyPr>
          <a:lstStyle/>
          <a:p>
            <a:pPr>
              <a:buSzPts val="990"/>
            </a:pPr>
            <a:r>
              <a:rPr lang="en" sz="3253"/>
              <a:t>Instructor Do: Sizing, Coloring, and Labels</a:t>
            </a:r>
            <a:endParaRPr sz="3253" b="1">
              <a:latin typeface="Roboto"/>
              <a:ea typeface="Roboto"/>
              <a:cs typeface="Roboto"/>
              <a:sym typeface="Roboto"/>
            </a:endParaRPr>
          </a:p>
          <a:p>
            <a:pPr>
              <a:buSzPts val="990"/>
            </a:pPr>
            <a:endParaRPr sz="3253"/>
          </a:p>
        </p:txBody>
      </p:sp>
      <p:sp>
        <p:nvSpPr>
          <p:cNvPr id="6180" name="Google Shape;6180;p420"/>
          <p:cNvSpPr/>
          <p:nvPr/>
        </p:nvSpPr>
        <p:spPr>
          <a:xfrm>
            <a:off x="5030967" y="1705933"/>
            <a:ext cx="6744400" cy="4330800"/>
          </a:xfrm>
          <a:prstGeom prst="rect">
            <a:avLst/>
          </a:prstGeom>
          <a:noFill/>
          <a:ln w="2857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1219170">
              <a:lnSpc>
                <a:spcPct val="115000"/>
              </a:lnSpc>
            </a:pPr>
            <a:endParaRPr sz="2000" dirty="0"/>
          </a:p>
          <a:p>
            <a:pPr marL="609585" indent="-423323">
              <a:lnSpc>
                <a:spcPct val="115000"/>
              </a:lnSpc>
              <a:spcBef>
                <a:spcPts val="1333"/>
              </a:spcBef>
              <a:buSzPts val="1400"/>
              <a:buChar char="●"/>
            </a:pPr>
            <a:r>
              <a:rPr lang="en" sz="2000" dirty="0"/>
              <a:t>Color lets users modify the color of chart elements.</a:t>
            </a:r>
            <a:endParaRPr sz="2000" dirty="0"/>
          </a:p>
          <a:p>
            <a:pPr marL="609585" indent="-423323">
              <a:lnSpc>
                <a:spcPct val="115000"/>
              </a:lnSpc>
              <a:spcBef>
                <a:spcPts val="1333"/>
              </a:spcBef>
              <a:buSzPts val="1400"/>
              <a:buChar char="●"/>
            </a:pPr>
            <a:r>
              <a:rPr lang="en" sz="2000" dirty="0"/>
              <a:t>Size lets users modify the size of chart elements.</a:t>
            </a:r>
            <a:endParaRPr sz="2000" dirty="0"/>
          </a:p>
          <a:p>
            <a:pPr marL="609585" indent="-423323">
              <a:lnSpc>
                <a:spcPct val="115000"/>
              </a:lnSpc>
              <a:spcBef>
                <a:spcPts val="1333"/>
              </a:spcBef>
              <a:buSzPts val="1400"/>
              <a:buChar char="●"/>
            </a:pPr>
            <a:r>
              <a:rPr lang="en" sz="2000" dirty="0"/>
              <a:t>Label lets users position text next to points on the chart.</a:t>
            </a:r>
            <a:endParaRPr sz="2000" dirty="0"/>
          </a:p>
          <a:p>
            <a:pPr marL="609585" indent="-423323">
              <a:lnSpc>
                <a:spcPct val="115000"/>
              </a:lnSpc>
              <a:spcBef>
                <a:spcPts val="1333"/>
              </a:spcBef>
              <a:buSzPts val="1400"/>
              <a:buChar char="●"/>
            </a:pPr>
            <a:r>
              <a:rPr lang="en" sz="2000" dirty="0"/>
              <a:t>Detail and Tooltip act like labels but only appear when the cursor hovers over the associated point or element on a chart.</a:t>
            </a:r>
            <a:endParaRPr sz="2000" dirty="0"/>
          </a:p>
          <a:p>
            <a:pPr marL="609585" indent="-423323">
              <a:lnSpc>
                <a:spcPct val="115000"/>
              </a:lnSpc>
              <a:spcBef>
                <a:spcPts val="1333"/>
              </a:spcBef>
              <a:buSzPts val="1400"/>
              <a:buChar char="●"/>
            </a:pPr>
            <a:r>
              <a:rPr lang="en" sz="2000" dirty="0"/>
              <a:t>Pills can be dragged to these marks to create visual effects.</a:t>
            </a:r>
            <a:endParaRPr sz="2000" dirty="0"/>
          </a:p>
          <a:p>
            <a:pPr>
              <a:lnSpc>
                <a:spcPct val="115000"/>
              </a:lnSpc>
              <a:spcBef>
                <a:spcPts val="1333"/>
              </a:spcBef>
              <a:spcAft>
                <a:spcPts val="1333"/>
              </a:spcAft>
            </a:pPr>
            <a:endParaRPr sz="2000" dirty="0"/>
          </a:p>
        </p:txBody>
      </p:sp>
      <p:sp>
        <p:nvSpPr>
          <p:cNvPr id="6181" name="Google Shape;6181;p420"/>
          <p:cNvSpPr txBox="1"/>
          <p:nvPr/>
        </p:nvSpPr>
        <p:spPr>
          <a:xfrm>
            <a:off x="720867" y="884068"/>
            <a:ext cx="11054400" cy="984845"/>
          </a:xfrm>
          <a:prstGeom prst="rect">
            <a:avLst/>
          </a:prstGeom>
          <a:noFill/>
          <a:ln>
            <a:noFill/>
          </a:ln>
        </p:spPr>
        <p:txBody>
          <a:bodyPr spcFirstLastPara="1" wrap="square" lIns="121900" tIns="121900" rIns="121900" bIns="121900" anchor="t" anchorCtr="0">
            <a:spAutoFit/>
          </a:bodyPr>
          <a:lstStyle/>
          <a:p>
            <a:r>
              <a:rPr lang="en" sz="2400"/>
              <a:t>Marks, on the left side of the workbook, can be used to differentiate or add details to a chart's visuals.</a:t>
            </a:r>
            <a:endParaRPr sz="2400"/>
          </a:p>
        </p:txBody>
      </p:sp>
      <p:pic>
        <p:nvPicPr>
          <p:cNvPr id="6182" name="Google Shape;6182;p420"/>
          <p:cNvPicPr preferRelativeResize="0"/>
          <p:nvPr/>
        </p:nvPicPr>
        <p:blipFill>
          <a:blip r:embed="rId3">
            <a:alphaModFix/>
          </a:blip>
          <a:stretch>
            <a:fillRect/>
          </a:stretch>
        </p:blipFill>
        <p:spPr>
          <a:xfrm>
            <a:off x="643334" y="1417667"/>
            <a:ext cx="3800127" cy="5033933"/>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977"/>
        <p:cNvGrpSpPr/>
        <p:nvPr/>
      </p:nvGrpSpPr>
      <p:grpSpPr>
        <a:xfrm>
          <a:off x="0" y="0"/>
          <a:ext cx="0" cy="0"/>
          <a:chOff x="0" y="0"/>
          <a:chExt cx="0" cy="0"/>
        </a:xfrm>
      </p:grpSpPr>
      <p:sp>
        <p:nvSpPr>
          <p:cNvPr id="5978" name="Google Shape;5978;p393"/>
          <p:cNvSpPr txBox="1">
            <a:spLocks noGrp="1"/>
          </p:cNvSpPr>
          <p:nvPr>
            <p:ph type="title"/>
          </p:nvPr>
        </p:nvSpPr>
        <p:spPr>
          <a:prstGeom prst="rect">
            <a:avLst/>
          </a:prstGeom>
        </p:spPr>
        <p:txBody>
          <a:bodyPr spcFirstLastPara="1" vert="horz" wrap="square" lIns="609600" tIns="12167" rIns="1341100" bIns="0" rtlCol="0" anchor="t" anchorCtr="0">
            <a:noAutofit/>
          </a:bodyPr>
          <a:lstStyle/>
          <a:p>
            <a:r>
              <a:rPr lang="en" dirty="0"/>
              <a:t>  10 Minutes</a:t>
            </a:r>
            <a:endParaRPr dirty="0"/>
          </a:p>
        </p:txBody>
      </p:sp>
      <p:sp>
        <p:nvSpPr>
          <p:cNvPr id="5979" name="Google Shape;5979;p393"/>
          <p:cNvSpPr txBox="1">
            <a:spLocks noGrp="1"/>
          </p:cNvSpPr>
          <p:nvPr>
            <p:ph type="sldNum" idx="12"/>
          </p:nvPr>
        </p:nvSpPr>
        <p:spPr>
          <a:prstGeom prst="rect">
            <a:avLst/>
          </a:prstGeom>
        </p:spPr>
        <p:txBody>
          <a:bodyPr spcFirstLastPara="1" vert="horz" wrap="square" lIns="0" tIns="0" rIns="0" bIns="121900" rtlCol="0" anchor="t" anchorCtr="0">
            <a:noAutofit/>
          </a:bodyPr>
          <a:lstStyle/>
          <a:p>
            <a:fld id="{00000000-1234-1234-1234-123412341234}" type="slidenum">
              <a:rPr lang="en"/>
              <a:pPr/>
              <a:t>41</a:t>
            </a:fld>
            <a:endParaRPr/>
          </a:p>
        </p:txBody>
      </p:sp>
      <p:sp>
        <p:nvSpPr>
          <p:cNvPr id="5981" name="Google Shape;5981;p393"/>
          <p:cNvSpPr txBox="1">
            <a:spLocks noGrp="1"/>
          </p:cNvSpPr>
          <p:nvPr>
            <p:ph type="title" idx="2"/>
          </p:nvPr>
        </p:nvSpPr>
        <p:spPr>
          <a:xfrm>
            <a:off x="365200" y="1390500"/>
            <a:ext cx="11686000" cy="3685600"/>
          </a:xfrm>
          <a:prstGeom prst="rect">
            <a:avLst/>
          </a:prstGeom>
        </p:spPr>
        <p:txBody>
          <a:bodyPr spcFirstLastPara="1" vert="horz" wrap="square" lIns="3413733" tIns="0" rIns="609600" bIns="609600" rtlCol="0" anchor="t" anchorCtr="0">
            <a:noAutofit/>
          </a:bodyPr>
          <a:lstStyle/>
          <a:p>
            <a:pPr>
              <a:buClr>
                <a:schemeClr val="dk1"/>
              </a:buClr>
              <a:buSzPts val="1100"/>
            </a:pPr>
            <a:r>
              <a:rPr lang="en" sz="3067" b="1" dirty="0"/>
              <a:t>Student  Do: </a:t>
            </a:r>
            <a:r>
              <a:rPr lang="en-US" sz="3067" b="1" dirty="0" err="1"/>
              <a:t>UltimateCandy</a:t>
            </a:r>
            <a:r>
              <a:rPr lang="en-US" sz="3067" b="1" dirty="0"/>
              <a:t> visualization</a:t>
            </a:r>
            <a:endParaRPr sz="3067" b="1" dirty="0"/>
          </a:p>
          <a:p>
            <a:pPr>
              <a:buClr>
                <a:schemeClr val="dk1"/>
              </a:buClr>
              <a:buSzPts val="1100"/>
            </a:pPr>
            <a:endParaRPr sz="3067" dirty="0">
              <a:latin typeface="Roboto Medium"/>
              <a:ea typeface="Roboto Medium"/>
              <a:cs typeface="Roboto Medium"/>
              <a:sym typeface="Roboto Medium"/>
            </a:endParaRPr>
          </a:p>
          <a:p>
            <a:pPr marL="0" lvl="0" indent="0" algn="l" rtl="0">
              <a:spcBef>
                <a:spcPts val="0"/>
              </a:spcBef>
              <a:spcAft>
                <a:spcPts val="0"/>
              </a:spcAft>
              <a:buClr>
                <a:schemeClr val="dk1"/>
              </a:buClr>
              <a:buSzPts val="1100"/>
              <a:buFont typeface="Arial"/>
              <a:buNone/>
            </a:pPr>
            <a:r>
              <a:rPr lang="en-US" sz="2800" dirty="0">
                <a:latin typeface="Roboto Light"/>
                <a:ea typeface="Roboto Light"/>
                <a:cs typeface="Roboto Light"/>
                <a:sym typeface="Roboto Light"/>
              </a:rPr>
              <a:t>In this activity, you will be given visualizations that you will attempt to recreate using </a:t>
            </a:r>
            <a:r>
              <a:rPr lang="en-US" sz="2800" dirty="0"/>
              <a:t>Tableau</a:t>
            </a:r>
            <a:r>
              <a:rPr lang="en-US" sz="2800" dirty="0">
                <a:latin typeface="Roboto Light"/>
                <a:ea typeface="Roboto Light"/>
                <a:cs typeface="Roboto Light"/>
                <a:sym typeface="Roboto Light"/>
              </a:rPr>
              <a:t>.</a:t>
            </a:r>
            <a:endParaRPr lang="en-US" sz="2800" dirty="0"/>
          </a:p>
        </p:txBody>
      </p:sp>
      <p:pic>
        <p:nvPicPr>
          <p:cNvPr id="5" name="Picture 4" descr="A pen and pencil with a black background&#10;&#10;Description automatically generated">
            <a:extLst>
              <a:ext uri="{FF2B5EF4-FFF2-40B4-BE49-F238E27FC236}">
                <a16:creationId xmlns:a16="http://schemas.microsoft.com/office/drawing/2014/main" id="{3D4352F9-81A4-3797-0CFF-9F8D6E7473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800" y="428610"/>
            <a:ext cx="4133943" cy="4133943"/>
          </a:xfrm>
          <a:prstGeom prst="rect">
            <a:avLst/>
          </a:prstGeom>
        </p:spPr>
      </p:pic>
      <p:sp>
        <p:nvSpPr>
          <p:cNvPr id="6" name="Rectangle 5">
            <a:extLst>
              <a:ext uri="{FF2B5EF4-FFF2-40B4-BE49-F238E27FC236}">
                <a16:creationId xmlns:a16="http://schemas.microsoft.com/office/drawing/2014/main" id="{7E26E8FB-5CDF-A9C2-62AB-B8EF12F5377E}"/>
              </a:ext>
            </a:extLst>
          </p:cNvPr>
          <p:cNvSpPr/>
          <p:nvPr/>
        </p:nvSpPr>
        <p:spPr>
          <a:xfrm>
            <a:off x="0" y="4684029"/>
            <a:ext cx="12192000" cy="1866837"/>
          </a:xfrm>
          <a:prstGeom prst="rect">
            <a:avLst/>
          </a:prstGeom>
          <a:solidFill>
            <a:srgbClr val="FFC000">
              <a:alpha val="50000"/>
            </a:srgbClr>
          </a:solidFill>
          <a:ln>
            <a:solidFill>
              <a:srgbClr val="FFC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8" name="Picture 7" descr="A clock with a bell&#10;&#10;Description automatically generated">
            <a:extLst>
              <a:ext uri="{FF2B5EF4-FFF2-40B4-BE49-F238E27FC236}">
                <a16:creationId xmlns:a16="http://schemas.microsoft.com/office/drawing/2014/main" id="{88A25E8B-E337-29D4-2624-D9E613FFDA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76776" y="4730288"/>
            <a:ext cx="1474424" cy="1474424"/>
          </a:xfrm>
          <a:prstGeom prst="rect">
            <a:avLst/>
          </a:prstGeom>
        </p:spPr>
      </p:pic>
      <p:sp>
        <p:nvSpPr>
          <p:cNvPr id="9" name="TextBox 8">
            <a:extLst>
              <a:ext uri="{FF2B5EF4-FFF2-40B4-BE49-F238E27FC236}">
                <a16:creationId xmlns:a16="http://schemas.microsoft.com/office/drawing/2014/main" id="{78A1C98C-CBF1-4DF3-3F11-519189FD83DE}"/>
              </a:ext>
            </a:extLst>
          </p:cNvPr>
          <p:cNvSpPr txBox="1"/>
          <p:nvPr/>
        </p:nvSpPr>
        <p:spPr>
          <a:xfrm>
            <a:off x="7881257" y="5076100"/>
            <a:ext cx="2628119" cy="461665"/>
          </a:xfrm>
          <a:prstGeom prst="rect">
            <a:avLst/>
          </a:prstGeom>
          <a:noFill/>
        </p:spPr>
        <p:txBody>
          <a:bodyPr wrap="square" rtlCol="0">
            <a:spAutoFit/>
          </a:bodyPr>
          <a:lstStyle/>
          <a:p>
            <a:r>
              <a:rPr lang="en-US" sz="2400" b="1" dirty="0"/>
              <a:t>Suggested Time:</a:t>
            </a:r>
          </a:p>
        </p:txBody>
      </p:sp>
      <p:sp>
        <p:nvSpPr>
          <p:cNvPr id="10" name="TextBox 9">
            <a:extLst>
              <a:ext uri="{FF2B5EF4-FFF2-40B4-BE49-F238E27FC236}">
                <a16:creationId xmlns:a16="http://schemas.microsoft.com/office/drawing/2014/main" id="{AB896F87-EB2A-AA3D-0D4B-F4A66B100DCD}"/>
              </a:ext>
            </a:extLst>
          </p:cNvPr>
          <p:cNvSpPr txBox="1"/>
          <p:nvPr/>
        </p:nvSpPr>
        <p:spPr>
          <a:xfrm>
            <a:off x="8666492" y="5567098"/>
            <a:ext cx="2597547" cy="400110"/>
          </a:xfrm>
          <a:prstGeom prst="rect">
            <a:avLst/>
          </a:prstGeom>
          <a:noFill/>
        </p:spPr>
        <p:txBody>
          <a:bodyPr wrap="square" rtlCol="0">
            <a:spAutoFit/>
          </a:bodyPr>
          <a:lstStyle/>
          <a:p>
            <a:r>
              <a:rPr lang="en-US" sz="2000" dirty="0"/>
              <a:t>15 minutes </a:t>
            </a:r>
          </a:p>
        </p:txBody>
      </p:sp>
    </p:spTree>
    <p:extLst>
      <p:ext uri="{BB962C8B-B14F-4D97-AF65-F5344CB8AC3E}">
        <p14:creationId xmlns:p14="http://schemas.microsoft.com/office/powerpoint/2010/main" val="30141977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078"/>
        <p:cNvGrpSpPr/>
        <p:nvPr/>
      </p:nvGrpSpPr>
      <p:grpSpPr>
        <a:xfrm>
          <a:off x="0" y="0"/>
          <a:ext cx="0" cy="0"/>
          <a:chOff x="0" y="0"/>
          <a:chExt cx="0" cy="0"/>
        </a:xfrm>
      </p:grpSpPr>
      <p:sp>
        <p:nvSpPr>
          <p:cNvPr id="6080" name="Google Shape;6080;p407"/>
          <p:cNvSpPr txBox="1">
            <a:spLocks noGrp="1"/>
          </p:cNvSpPr>
          <p:nvPr>
            <p:ph type="title"/>
          </p:nvPr>
        </p:nvSpPr>
        <p:spPr>
          <a:xfrm>
            <a:off x="-16400" y="0"/>
            <a:ext cx="12224800" cy="711600"/>
          </a:xfrm>
          <a:prstGeom prst="rect">
            <a:avLst/>
          </a:prstGeom>
        </p:spPr>
        <p:txBody>
          <a:bodyPr spcFirstLastPara="1" vert="horz" wrap="square" lIns="609600" tIns="243833" rIns="365733" bIns="121900" rtlCol="0" anchor="t" anchorCtr="0">
            <a:noAutofit/>
          </a:bodyPr>
          <a:lstStyle/>
          <a:p>
            <a:pPr>
              <a:buSzPts val="990"/>
            </a:pPr>
            <a:r>
              <a:rPr lang="en" sz="3253" dirty="0"/>
              <a:t>Activity: Explore Data</a:t>
            </a:r>
            <a:endParaRPr sz="3253" b="1" dirty="0">
              <a:latin typeface="Roboto"/>
              <a:ea typeface="Roboto"/>
              <a:cs typeface="Roboto"/>
              <a:sym typeface="Roboto"/>
            </a:endParaRPr>
          </a:p>
        </p:txBody>
      </p:sp>
      <p:sp>
        <p:nvSpPr>
          <p:cNvPr id="6081" name="Google Shape;6081;p407"/>
          <p:cNvSpPr txBox="1">
            <a:spLocks noGrp="1"/>
          </p:cNvSpPr>
          <p:nvPr>
            <p:ph type="sldNum" idx="12"/>
          </p:nvPr>
        </p:nvSpPr>
        <p:spPr>
          <a:xfrm>
            <a:off x="11477033" y="6609600"/>
            <a:ext cx="349200" cy="140800"/>
          </a:xfrm>
          <a:prstGeom prst="rect">
            <a:avLst/>
          </a:prstGeom>
        </p:spPr>
        <p:txBody>
          <a:bodyPr spcFirstLastPara="1" vert="horz" wrap="square" lIns="0" tIns="0" rIns="0" bIns="121900" rtlCol="0" anchor="t" anchorCtr="0">
            <a:normAutofit fontScale="25000" lnSpcReduction="20000"/>
          </a:bodyPr>
          <a:lstStyle/>
          <a:p>
            <a:fld id="{00000000-1234-1234-1234-123412341234}" type="slidenum">
              <a:rPr lang="en"/>
              <a:pPr/>
              <a:t>42</a:t>
            </a:fld>
            <a:endParaRPr/>
          </a:p>
        </p:txBody>
      </p:sp>
      <p:sp>
        <p:nvSpPr>
          <p:cNvPr id="6082" name="Google Shape;6082;p407"/>
          <p:cNvSpPr/>
          <p:nvPr/>
        </p:nvSpPr>
        <p:spPr>
          <a:xfrm>
            <a:off x="751100" y="1353300"/>
            <a:ext cx="10722400" cy="2075600"/>
          </a:xfrm>
          <a:prstGeom prst="rect">
            <a:avLst/>
          </a:prstGeom>
          <a:noFill/>
          <a:ln w="2857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083" name="Google Shape;6083;p407"/>
          <p:cNvSpPr txBox="1"/>
          <p:nvPr/>
        </p:nvSpPr>
        <p:spPr>
          <a:xfrm>
            <a:off x="710767" y="3526161"/>
            <a:ext cx="10605200" cy="1354176"/>
          </a:xfrm>
          <a:prstGeom prst="rect">
            <a:avLst/>
          </a:prstGeom>
          <a:noFill/>
          <a:ln>
            <a:noFill/>
          </a:ln>
        </p:spPr>
        <p:txBody>
          <a:bodyPr spcFirstLastPara="1" wrap="square" lIns="121900" tIns="121900" rIns="121900" bIns="121900" anchor="t" anchorCtr="0">
            <a:spAutoFit/>
          </a:bodyPr>
          <a:lstStyle/>
          <a:p>
            <a:pPr marL="609585" indent="-423323">
              <a:buSzPts val="1400"/>
              <a:buFont typeface="Roboto"/>
              <a:buChar char="●"/>
            </a:pPr>
            <a:r>
              <a:rPr lang="en" sz="2400" b="1" dirty="0">
                <a:latin typeface="Roboto"/>
                <a:ea typeface="Roboto"/>
                <a:cs typeface="Roboto"/>
                <a:sym typeface="Roboto"/>
              </a:rPr>
              <a:t>Bonus:</a:t>
            </a:r>
            <a:endParaRPr sz="2400" b="1" dirty="0">
              <a:latin typeface="Roboto"/>
              <a:ea typeface="Roboto"/>
              <a:cs typeface="Roboto"/>
              <a:sym typeface="Roboto"/>
            </a:endParaRPr>
          </a:p>
          <a:p>
            <a:pPr marL="1219170" lvl="1" indent="-423323">
              <a:buSzPts val="1400"/>
              <a:buFont typeface="Roboto"/>
              <a:buChar char="○"/>
            </a:pPr>
            <a:r>
              <a:rPr lang="en" sz="2400" dirty="0">
                <a:latin typeface="Roboto"/>
                <a:ea typeface="Roboto"/>
                <a:cs typeface="Roboto"/>
                <a:sym typeface="Roboto"/>
              </a:rPr>
              <a:t>If you finish early, try experimenting with other possible visualization!</a:t>
            </a:r>
            <a:endParaRPr sz="2400" dirty="0">
              <a:latin typeface="Roboto"/>
              <a:ea typeface="Roboto"/>
              <a:cs typeface="Roboto"/>
              <a:sym typeface="Roboto"/>
            </a:endParaRPr>
          </a:p>
        </p:txBody>
      </p:sp>
      <p:sp>
        <p:nvSpPr>
          <p:cNvPr id="6084" name="Google Shape;6084;p407"/>
          <p:cNvSpPr/>
          <p:nvPr/>
        </p:nvSpPr>
        <p:spPr>
          <a:xfrm>
            <a:off x="743567" y="3551667"/>
            <a:ext cx="10775600" cy="1200820"/>
          </a:xfrm>
          <a:prstGeom prst="rect">
            <a:avLst/>
          </a:prstGeom>
          <a:noFill/>
          <a:ln w="28575" cap="flat" cmpd="sng">
            <a:solidFill>
              <a:srgbClr val="0000FF"/>
            </a:solidFill>
            <a:prstDash val="solid"/>
            <a:round/>
            <a:headEnd type="none" w="sm" len="sm"/>
            <a:tailEnd type="none" w="sm" len="sm"/>
          </a:ln>
        </p:spPr>
        <p:txBody>
          <a:bodyPr spcFirstLastPara="1" wrap="square" lIns="121900" tIns="121900" rIns="121900" bIns="121900" anchor="ctr" anchorCtr="0">
            <a:noAutofit/>
          </a:bodyPr>
          <a:lstStyle/>
          <a:p>
            <a:pPr indent="609585"/>
            <a:r>
              <a:rPr lang="en" sz="2400"/>
              <a:t>	</a:t>
            </a:r>
            <a:endParaRPr sz="2400"/>
          </a:p>
        </p:txBody>
      </p:sp>
      <p:sp>
        <p:nvSpPr>
          <p:cNvPr id="6086" name="Google Shape;6086;p407"/>
          <p:cNvSpPr/>
          <p:nvPr/>
        </p:nvSpPr>
        <p:spPr>
          <a:xfrm>
            <a:off x="738533" y="4809203"/>
            <a:ext cx="10722400" cy="1281600"/>
          </a:xfrm>
          <a:prstGeom prst="rect">
            <a:avLst/>
          </a:prstGeom>
          <a:noFill/>
          <a:ln w="2857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marL="609585"/>
            <a:endParaRPr sz="2400"/>
          </a:p>
          <a:p>
            <a:pPr marL="609585"/>
            <a:endParaRPr sz="2400"/>
          </a:p>
          <a:p>
            <a:pPr marL="609585"/>
            <a:endParaRPr sz="2400"/>
          </a:p>
          <a:p>
            <a:pPr marL="609585"/>
            <a:r>
              <a:rPr lang="en" sz="2400"/>
              <a:t>	</a:t>
            </a:r>
            <a:endParaRPr sz="2400"/>
          </a:p>
        </p:txBody>
      </p:sp>
      <p:pic>
        <p:nvPicPr>
          <p:cNvPr id="6087" name="Google Shape;6087;p407"/>
          <p:cNvPicPr preferRelativeResize="0"/>
          <p:nvPr/>
        </p:nvPicPr>
        <p:blipFill>
          <a:blip r:embed="rId3">
            <a:alphaModFix/>
          </a:blip>
          <a:stretch>
            <a:fillRect/>
          </a:stretch>
        </p:blipFill>
        <p:spPr>
          <a:xfrm rot="-1782531" flipH="1">
            <a:off x="914507" y="5160004"/>
            <a:ext cx="835436" cy="835401"/>
          </a:xfrm>
          <a:prstGeom prst="rect">
            <a:avLst/>
          </a:prstGeom>
          <a:noFill/>
          <a:ln>
            <a:noFill/>
          </a:ln>
        </p:spPr>
      </p:pic>
      <p:sp>
        <p:nvSpPr>
          <p:cNvPr id="6088" name="Google Shape;6088;p407"/>
          <p:cNvSpPr txBox="1"/>
          <p:nvPr/>
        </p:nvSpPr>
        <p:spPr>
          <a:xfrm>
            <a:off x="711652" y="4753669"/>
            <a:ext cx="10775600" cy="1040244"/>
          </a:xfrm>
          <a:prstGeom prst="rect">
            <a:avLst/>
          </a:prstGeom>
          <a:noFill/>
          <a:ln>
            <a:noFill/>
          </a:ln>
        </p:spPr>
        <p:txBody>
          <a:bodyPr spcFirstLastPara="1" wrap="square" lIns="121900" tIns="121900" rIns="121900" bIns="121900" anchor="t" anchorCtr="0">
            <a:spAutoFit/>
          </a:bodyPr>
          <a:lstStyle/>
          <a:p>
            <a:pPr marL="609585" indent="-423323">
              <a:buSzPts val="1400"/>
              <a:buFont typeface="Roboto"/>
              <a:buChar char="●"/>
            </a:pPr>
            <a:r>
              <a:rPr lang="en" sz="2400" b="1" dirty="0">
                <a:latin typeface="Roboto"/>
                <a:ea typeface="Roboto"/>
                <a:cs typeface="Roboto"/>
                <a:sym typeface="Roboto"/>
              </a:rPr>
              <a:t>Hint:</a:t>
            </a:r>
            <a:endParaRPr sz="2400" b="1" dirty="0">
              <a:latin typeface="Roboto"/>
              <a:ea typeface="Roboto"/>
              <a:cs typeface="Roboto"/>
              <a:sym typeface="Roboto"/>
            </a:endParaRPr>
          </a:p>
          <a:p>
            <a:pPr marL="1219170" lvl="1" indent="-423323">
              <a:lnSpc>
                <a:spcPct val="115000"/>
              </a:lnSpc>
              <a:buClr>
                <a:srgbClr val="24292E"/>
              </a:buClr>
              <a:buSzPts val="1400"/>
              <a:buChar char="○"/>
            </a:pPr>
            <a:r>
              <a:rPr lang="en" sz="2400" dirty="0">
                <a:solidFill>
                  <a:srgbClr val="24292E"/>
                </a:solidFill>
                <a:highlight>
                  <a:srgbClr val="FFFFFF"/>
                </a:highlight>
                <a:latin typeface="Roboto"/>
                <a:ea typeface="Roboto"/>
                <a:cs typeface="Roboto"/>
                <a:sym typeface="Roboto"/>
              </a:rPr>
              <a:t>Don’t forget to save the file once finished. </a:t>
            </a:r>
            <a:endParaRPr sz="2400" dirty="0">
              <a:latin typeface="Roboto"/>
              <a:ea typeface="Roboto"/>
              <a:cs typeface="Roboto"/>
              <a:sym typeface="Roboto"/>
            </a:endParaRPr>
          </a:p>
        </p:txBody>
      </p:sp>
      <p:sp>
        <p:nvSpPr>
          <p:cNvPr id="2" name="TextBox 1">
            <a:extLst>
              <a:ext uri="{FF2B5EF4-FFF2-40B4-BE49-F238E27FC236}">
                <a16:creationId xmlns:a16="http://schemas.microsoft.com/office/drawing/2014/main" id="{B9A3C5DE-9241-99DC-2D61-EE684BB0BFB9}"/>
              </a:ext>
            </a:extLst>
          </p:cNvPr>
          <p:cNvSpPr txBox="1"/>
          <p:nvPr/>
        </p:nvSpPr>
        <p:spPr>
          <a:xfrm>
            <a:off x="957957" y="1154061"/>
            <a:ext cx="10482944" cy="1938992"/>
          </a:xfrm>
          <a:prstGeom prst="rect">
            <a:avLst/>
          </a:prstGeom>
          <a:noFill/>
        </p:spPr>
        <p:txBody>
          <a:bodyPr wrap="square" rtlCol="0">
            <a:spAutoFit/>
          </a:bodyPr>
          <a:lstStyle/>
          <a:p>
            <a:pPr marL="342900" indent="-342900">
              <a:buFont typeface="Arial" panose="020B0604020202020204" pitchFamily="34" charset="0"/>
              <a:buChar char="•"/>
            </a:pPr>
            <a:endParaRPr lang="en-US" sz="2400" dirty="0">
              <a:latin typeface="Roboto" panose="02000000000000000000" pitchFamily="2" charset="0"/>
              <a:ea typeface="Roboto" panose="02000000000000000000" pitchFamily="2" charset="0"/>
              <a:cs typeface="Roboto" panose="02000000000000000000" pitchFamily="2" charset="0"/>
            </a:endParaRPr>
          </a:p>
          <a:p>
            <a:r>
              <a:rPr lang="en-US" sz="2400" dirty="0">
                <a:solidFill>
                  <a:srgbClr val="24292E"/>
                </a:solidFill>
                <a:latin typeface="Roboto"/>
                <a:ea typeface="Roboto"/>
                <a:cs typeface="Roboto"/>
                <a:sym typeface="Roboto"/>
              </a:rPr>
              <a:t>Using UltimateCandy.xlsx, visualize the following data:</a:t>
            </a:r>
            <a:endParaRPr lang="en-US" sz="2400" dirty="0">
              <a:latin typeface="Roboto" panose="02000000000000000000" pitchFamily="2" charset="0"/>
              <a:ea typeface="Roboto" panose="02000000000000000000" pitchFamily="2" charset="0"/>
              <a:cs typeface="Roboto" panose="02000000000000000000" pitchFamily="2" charset="0"/>
            </a:endParaRPr>
          </a:p>
          <a:p>
            <a:pPr marL="342900" indent="-342900">
              <a:buFont typeface="Arial" panose="020B0604020202020204" pitchFamily="34" charset="0"/>
              <a:buChar char="•"/>
            </a:pPr>
            <a:r>
              <a:rPr lang="en-US" sz="2400" dirty="0">
                <a:latin typeface="Roboto" panose="02000000000000000000" pitchFamily="2" charset="0"/>
                <a:ea typeface="Roboto" panose="02000000000000000000" pitchFamily="2" charset="0"/>
                <a:cs typeface="Roboto" panose="02000000000000000000" pitchFamily="2" charset="0"/>
              </a:rPr>
              <a:t>Create a pair of bar graphs that chart the win percentage of each candy.</a:t>
            </a:r>
          </a:p>
          <a:p>
            <a:pPr marL="342900" indent="-342900">
              <a:buFont typeface="Arial" panose="020B0604020202020204" pitchFamily="34" charset="0"/>
              <a:buChar char="•"/>
            </a:pPr>
            <a:r>
              <a:rPr lang="en-US" sz="2400" dirty="0">
                <a:latin typeface="Roboto" panose="02000000000000000000" pitchFamily="2" charset="0"/>
                <a:ea typeface="Roboto" panose="02000000000000000000" pitchFamily="2" charset="0"/>
                <a:cs typeface="Roboto" panose="02000000000000000000" pitchFamily="2" charset="0"/>
              </a:rPr>
              <a:t>Create a scatter plot comparing the sugar percentage against the win percentage</a:t>
            </a:r>
          </a:p>
        </p:txBody>
      </p:sp>
    </p:spTree>
    <p:extLst>
      <p:ext uri="{BB962C8B-B14F-4D97-AF65-F5344CB8AC3E}">
        <p14:creationId xmlns:p14="http://schemas.microsoft.com/office/powerpoint/2010/main" val="14875457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stopwatch with a red ribbon&#10;&#10;Description automatically generated">
            <a:extLst>
              <a:ext uri="{FF2B5EF4-FFF2-40B4-BE49-F238E27FC236}">
                <a16:creationId xmlns:a16="http://schemas.microsoft.com/office/drawing/2014/main" id="{DDB0DF0C-8F35-45FA-48E7-21E8F1DDEC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9889" y="643466"/>
            <a:ext cx="6632221" cy="5571067"/>
          </a:xfrm>
          <a:prstGeom prst="rect">
            <a:avLst/>
          </a:prstGeom>
        </p:spPr>
      </p:pic>
    </p:spTree>
    <p:extLst>
      <p:ext uri="{BB962C8B-B14F-4D97-AF65-F5344CB8AC3E}">
        <p14:creationId xmlns:p14="http://schemas.microsoft.com/office/powerpoint/2010/main" val="26708581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artoon of a sand clock&#10;&#10;Description automatically generated">
            <a:extLst>
              <a:ext uri="{FF2B5EF4-FFF2-40B4-BE49-F238E27FC236}">
                <a16:creationId xmlns:a16="http://schemas.microsoft.com/office/drawing/2014/main" id="{E3920EF5-8A4A-9D80-D036-7833250159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1171" y="338861"/>
            <a:ext cx="6226629" cy="6180277"/>
          </a:xfrm>
          <a:prstGeom prst="rect">
            <a:avLst/>
          </a:prstGeom>
        </p:spPr>
      </p:pic>
    </p:spTree>
    <p:extLst>
      <p:ext uri="{BB962C8B-B14F-4D97-AF65-F5344CB8AC3E}">
        <p14:creationId xmlns:p14="http://schemas.microsoft.com/office/powerpoint/2010/main" val="1887859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2157</TotalTime>
  <Words>1898</Words>
  <Application>Microsoft Office PowerPoint</Application>
  <PresentationFormat>Widescreen</PresentationFormat>
  <Paragraphs>543</Paragraphs>
  <Slides>44</Slides>
  <Notes>23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44</vt:i4>
      </vt:variant>
    </vt:vector>
  </HeadingPairs>
  <TitlesOfParts>
    <vt:vector size="56" baseType="lpstr">
      <vt:lpstr>Aptos</vt:lpstr>
      <vt:lpstr>Aptos Display</vt:lpstr>
      <vt:lpstr>Arial</vt:lpstr>
      <vt:lpstr>Benton Sans Book</vt:lpstr>
      <vt:lpstr>Calibri</vt:lpstr>
      <vt:lpstr>Merriweather</vt:lpstr>
      <vt:lpstr>Roboto</vt:lpstr>
      <vt:lpstr>Roboto Light</vt:lpstr>
      <vt:lpstr>Roboto Medium</vt:lpstr>
      <vt:lpstr>Segoe UI</vt:lpstr>
      <vt:lpstr>Times New Roman</vt:lpstr>
      <vt:lpstr>Office Theme</vt:lpstr>
      <vt:lpstr>TABLEAU DESKTOP</vt:lpstr>
      <vt:lpstr>Class Objectives </vt:lpstr>
      <vt:lpstr>PowerPoint Presentation</vt:lpstr>
      <vt:lpstr>  10 Minutes</vt:lpstr>
      <vt:lpstr>Tableau Features</vt:lpstr>
      <vt:lpstr>  10 Minutes</vt:lpstr>
      <vt:lpstr>PowerPoint Presentation</vt:lpstr>
      <vt:lpstr>  10 Minutes</vt:lpstr>
      <vt:lpstr>PowerPoint Presentation</vt:lpstr>
      <vt:lpstr>PowerPoint Presentation</vt:lpstr>
      <vt:lpstr>PowerPoint Presentation</vt:lpstr>
      <vt:lpstr>PowerPoint Presentation</vt:lpstr>
      <vt:lpstr>PowerPoint Presentation</vt:lpstr>
      <vt:lpstr>Instructor Do: Building Basic Visuals</vt:lpstr>
      <vt:lpstr>PowerPoint Presentation</vt:lpstr>
      <vt:lpstr>  10 Minutes</vt:lpstr>
      <vt:lpstr>Instructor Do: Building Basic Visuals</vt:lpstr>
      <vt:lpstr>Instructor Do: Building Basic Visuals</vt:lpstr>
      <vt:lpstr>Instructor Do: Building Basic Visuals</vt:lpstr>
      <vt:lpstr>Instructor Do: Building Basic Visuals</vt:lpstr>
      <vt:lpstr>PowerPoint Presentation</vt:lpstr>
      <vt:lpstr>  10 Minutes</vt:lpstr>
      <vt:lpstr>Activity: Explore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10 Minutes</vt:lpstr>
      <vt:lpstr>Activity: Explore Data</vt:lpstr>
      <vt:lpstr>PowerPoint Presentation</vt:lpstr>
      <vt:lpstr>Instructor Do: Joins and Splitting Made Easy</vt:lpstr>
      <vt:lpstr>Instructor Do: Joins and Splitting Made Easy </vt:lpstr>
      <vt:lpstr>  10 Minutes</vt:lpstr>
      <vt:lpstr>Instructor Do: Sizing, Coloring, and Labels </vt:lpstr>
      <vt:lpstr>  10 Minutes</vt:lpstr>
      <vt:lpstr>Activity: Explore Data</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Ahmad Mousa</dc:creator>
  <cp:lastModifiedBy>Ahmad Mousa</cp:lastModifiedBy>
  <cp:revision>13</cp:revision>
  <dcterms:created xsi:type="dcterms:W3CDTF">2024-11-06T17:37:33Z</dcterms:created>
  <dcterms:modified xsi:type="dcterms:W3CDTF">2024-12-14T01:22:43Z</dcterms:modified>
</cp:coreProperties>
</file>