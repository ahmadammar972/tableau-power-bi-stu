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38"/>
  </p:notesMasterIdLst>
  <p:sldIdLst>
    <p:sldId id="256" r:id="rId2"/>
    <p:sldId id="268" r:id="rId3"/>
    <p:sldId id="259" r:id="rId4"/>
    <p:sldId id="329" r:id="rId5"/>
    <p:sldId id="311" r:id="rId6"/>
    <p:sldId id="316" r:id="rId7"/>
    <p:sldId id="287" r:id="rId8"/>
    <p:sldId id="288" r:id="rId9"/>
    <p:sldId id="289" r:id="rId10"/>
    <p:sldId id="312" r:id="rId11"/>
    <p:sldId id="313" r:id="rId12"/>
    <p:sldId id="314" r:id="rId13"/>
    <p:sldId id="267" r:id="rId14"/>
    <p:sldId id="290" r:id="rId15"/>
    <p:sldId id="266" r:id="rId16"/>
    <p:sldId id="298" r:id="rId17"/>
    <p:sldId id="292" r:id="rId18"/>
    <p:sldId id="328" r:id="rId19"/>
    <p:sldId id="317" r:id="rId20"/>
    <p:sldId id="318" r:id="rId21"/>
    <p:sldId id="319" r:id="rId22"/>
    <p:sldId id="320" r:id="rId23"/>
    <p:sldId id="321" r:id="rId24"/>
    <p:sldId id="323" r:id="rId25"/>
    <p:sldId id="324" r:id="rId26"/>
    <p:sldId id="326" r:id="rId27"/>
    <p:sldId id="330" r:id="rId28"/>
    <p:sldId id="331" r:id="rId29"/>
    <p:sldId id="333" r:id="rId30"/>
    <p:sldId id="327" r:id="rId31"/>
    <p:sldId id="339" r:id="rId32"/>
    <p:sldId id="334" r:id="rId33"/>
    <p:sldId id="335" r:id="rId34"/>
    <p:sldId id="338" r:id="rId35"/>
    <p:sldId id="337" r:id="rId36"/>
    <p:sldId id="2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9141D-405F-4B53-9ED9-F5E6B9ACF4CF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C8F5E-759F-436F-8A80-239E61BF6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gc69d1e7c39_0_4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8" name="Google Shape;5938;gc69d1e7c39_0_4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" name="Google Shape;5954;g20c38ac82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5" name="Google Shape;5955;g20c38ac825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1.1 - temp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40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gc69d1e7c39_0_11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7" name="Google Shape;6077;gc69d1e7c39_0_11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2.2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710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76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494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26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635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65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1" name="Google Shape;5061;g20e20d4a274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2" name="Google Shape;5062;g20e20d4a274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2.2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244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C8F5E-759F-436F-8A80-239E61BF6BD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0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2207-0DD0-C04A-23F2-31B966895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C8647-D2A8-8859-6BB8-CEA2CF25B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C962A-5657-8484-FACA-AE91D79A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98C5-4066-11AA-44FB-CBAD8C68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9AB9-2876-FBDF-9F41-87B064A5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7EB0-1132-B4C4-1655-24B4C9CB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02F8-8E9E-5F56-7EF1-71A0C32F2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2479-5337-499F-926A-722CD755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A19F5-C9EB-7020-B29E-D3A58BFF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D131-2BA5-C17C-ED46-503D17BF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5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FF1A-7406-4165-D046-D3205570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02563-9083-14EC-D927-450E933C2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39AD-09B6-3D25-FF16-6C337B8D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DD71-A4DD-B17E-1E25-25589CFD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3066-1151-9816-871E-E1898B93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6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7789-975A-C27C-64DA-FEA479CA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7AC5-4F63-B59E-E9A3-15E103C3C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C7B8D-8BF9-9018-79F7-961AA4109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8E0B5-2BC8-C92F-99E7-1E970176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AEBB-F3D7-ECB0-2E8E-75D604EE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286FE-16EA-EC2A-CBFE-E8105E5D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1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2128-9982-E49C-D08A-52AE1DB2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4836-45AF-0817-D783-4B44ABFB0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9C14-442D-539A-4EF0-1E79ECC34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CAA6A-53BA-6A43-D62E-0D6C44BF0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739A2-C2A8-1050-DA44-C6939FA28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F49F5-F0A0-8307-1B3B-18CB9513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75015-E2B0-48F3-6948-28EA4926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73380-BD1B-A52B-CCE5-7B33A5AF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B755-113E-6B7D-A4B0-720E56C5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4A1AF-188A-4DC8-4C79-8E2B07B1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4270A-548E-B654-E00B-FF7C9DC1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96945-55D4-9914-D02C-81F139A5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9CEC58-D582-F40F-DD9D-E9A3F2D0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73278-AF60-691D-A4FB-4F40C994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AD2B1-CA62-EBD6-0DE9-C7E14233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50E1-F4E3-037F-C250-3A40BB32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277B-FD87-E925-1896-85036520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EC01-31F9-145F-E2CC-C5B17FD2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E4C42-F673-BE08-8E5F-1BA584C9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69E6-9EA8-64CB-B141-99954A84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260DA-F011-91DD-DDF4-3F8F4DE9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F0D5-7CAA-766D-C0AA-2702B29D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99069-586A-8737-0637-0B68264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30584-AC19-EF27-FE16-69CAD34F2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83F4E-10CB-80E7-3A7C-CB923819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48EE-DF3F-C185-15A6-203C0B48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76B75-6E64-C2B0-B971-D6243143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5A89-3495-3AC3-F37B-CAFE858C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5B39F-6154-9A2A-EA23-B9CEAE91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9C89-7099-40AB-50A6-1A1D7927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8F98-3AF8-DE88-B8C6-6098E614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432A8-95E7-18F6-16E1-E693CCA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3C0AA-D680-2408-27CA-A81A887A1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E5BD7-345A-3101-5690-5C72ADDC9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4ABA-D266-3CBA-DD7B-F8BD58A2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0431-5BF9-8585-B5A5-33BF72E5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AFA9B-BA66-7AE6-B01D-6603F8C1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6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Only">
  <p:cSld name="9. Text Only">
    <p:spTree>
      <p:nvGrpSpPr>
        <p:cNvPr id="1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p246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246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3" name="Google Shape;3593;p246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95" name="Google Shape;3595;p246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46"/>
          <p:cNvSpPr txBox="1">
            <a:spLocks noGrp="1"/>
          </p:cNvSpPr>
          <p:nvPr>
            <p:ph type="body" idx="3"/>
          </p:nvPr>
        </p:nvSpPr>
        <p:spPr>
          <a:xfrm>
            <a:off x="233" y="1712333"/>
            <a:ext cx="12192000" cy="4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457200" bIns="914400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 rtl="0">
              <a:spcBef>
                <a:spcPts val="1067"/>
              </a:spcBef>
              <a:spcAft>
                <a:spcPts val="1067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2397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Activity">
  <p:cSld name="12. Activity"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249"/>
          <p:cNvSpPr txBox="1">
            <a:spLocks noGrp="1"/>
          </p:cNvSpPr>
          <p:nvPr>
            <p:ph type="title"/>
          </p:nvPr>
        </p:nvSpPr>
        <p:spPr>
          <a:xfrm>
            <a:off x="-134800" y="5646133"/>
            <a:ext cx="11960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25" rIns="10058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19" name="Google Shape;3619;p24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621" name="Google Shape;3621;p249"/>
          <p:cNvSpPr txBox="1">
            <a:spLocks noGrp="1"/>
          </p:cNvSpPr>
          <p:nvPr>
            <p:ph type="subTitle" idx="1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22" name="Google Shape;3622;p249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460400" cy="36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300" tIns="0" rIns="457200" bIns="4572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239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. Bullets 1–4 (Yellow/Green)">
  <p:cSld name="26. Bullets 1–4 (Yellow/Green)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209"/>
          <p:cNvSpPr/>
          <p:nvPr/>
        </p:nvSpPr>
        <p:spPr>
          <a:xfrm>
            <a:off x="1803400" y="1838433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4" name="Google Shape;2924;p209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25" name="Google Shape;2925;p209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2926" name="Google Shape;2926;p209"/>
          <p:cNvCxnSpPr/>
          <p:nvPr/>
        </p:nvCxnSpPr>
        <p:spPr>
          <a:xfrm>
            <a:off x="365833" y="8534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7" name="Google Shape;2927;p20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928" name="Google Shape;2928;p209"/>
          <p:cNvCxnSpPr/>
          <p:nvPr/>
        </p:nvCxnSpPr>
        <p:spPr>
          <a:xfrm>
            <a:off x="365760" y="65419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9" name="Google Shape;2929;p209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0" name="Google Shape;2930;p209"/>
          <p:cNvSpPr txBox="1">
            <a:spLocks noGrp="1"/>
          </p:cNvSpPr>
          <p:nvPr>
            <p:ph type="subTitle" idx="3"/>
          </p:nvPr>
        </p:nvSpPr>
        <p:spPr>
          <a:xfrm>
            <a:off x="16300" y="1864000"/>
            <a:ext cx="121920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1" name="Google Shape;2931;p209"/>
          <p:cNvSpPr/>
          <p:nvPr/>
        </p:nvSpPr>
        <p:spPr>
          <a:xfrm>
            <a:off x="1803400" y="2974848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2" name="Google Shape;2932;p209"/>
          <p:cNvSpPr/>
          <p:nvPr/>
        </p:nvSpPr>
        <p:spPr>
          <a:xfrm>
            <a:off x="1803400" y="4098467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3" name="Google Shape;2933;p209"/>
          <p:cNvSpPr/>
          <p:nvPr/>
        </p:nvSpPr>
        <p:spPr>
          <a:xfrm>
            <a:off x="1803400" y="5225300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4" name="Google Shape;2934;p209"/>
          <p:cNvSpPr txBox="1">
            <a:spLocks noGrp="1"/>
          </p:cNvSpPr>
          <p:nvPr>
            <p:ph type="subTitle" idx="4"/>
          </p:nvPr>
        </p:nvSpPr>
        <p:spPr>
          <a:xfrm>
            <a:off x="-16300" y="2978067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5" name="Google Shape;2935;p209"/>
          <p:cNvSpPr txBox="1">
            <a:spLocks noGrp="1"/>
          </p:cNvSpPr>
          <p:nvPr>
            <p:ph type="subTitle" idx="5"/>
          </p:nvPr>
        </p:nvSpPr>
        <p:spPr>
          <a:xfrm>
            <a:off x="0" y="41017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6" name="Google Shape;2936;p209"/>
          <p:cNvSpPr txBox="1">
            <a:spLocks noGrp="1"/>
          </p:cNvSpPr>
          <p:nvPr>
            <p:ph type="subTitle" idx="6"/>
          </p:nvPr>
        </p:nvSpPr>
        <p:spPr>
          <a:xfrm>
            <a:off x="-16400" y="52253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37" name="Google Shape;2937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1870415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2969464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6409" y="5222097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4109681"/>
            <a:ext cx="1047423" cy="80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60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66CCE-7051-D813-F46E-D1431981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6B23E-43C2-CFB0-71BE-ADAD573D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6007-6AC2-AB21-A487-80F7F9223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AB6AB-B19C-4A18-B35D-F02BE370A671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E16FA-3667-276A-432B-C94778CB9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A165-1336-DA6B-4342-368466A5D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9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70" r:id="rId12"/>
    <p:sldLayoutId id="2147483871" r:id="rId13"/>
    <p:sldLayoutId id="21474838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5E2C-E9D4-5293-77D7-487B946CC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186057" cy="2387600"/>
          </a:xfrm>
        </p:spPr>
        <p:txBody>
          <a:bodyPr/>
          <a:lstStyle/>
          <a:p>
            <a:pPr algn="ctr"/>
            <a:r>
              <a:rPr lang="en-US" dirty="0"/>
              <a:t>DATA MODELING IN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4649-2DA0-59F0-EC18-EC8378299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Ahmad Mousa </a:t>
            </a:r>
          </a:p>
        </p:txBody>
      </p:sp>
    </p:spTree>
    <p:extLst>
      <p:ext uri="{BB962C8B-B14F-4D97-AF65-F5344CB8AC3E}">
        <p14:creationId xmlns:p14="http://schemas.microsoft.com/office/powerpoint/2010/main" val="74843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" name="Google Shape;5940;p388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/>
              <a:t>Class Objectives</a:t>
            </a:r>
            <a:endParaRPr>
              <a:solidFill>
                <a:schemeClr val="dk1"/>
              </a:solidFill>
            </a:endParaRPr>
          </a:p>
          <a:p>
            <a:endParaRPr>
              <a:solidFill>
                <a:schemeClr val="dk1"/>
              </a:solidFill>
            </a:endParaRPr>
          </a:p>
        </p:txBody>
      </p:sp>
      <p:sp>
        <p:nvSpPr>
          <p:cNvPr id="5941" name="Google Shape;5941;p388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5942" name="Google Shape;5942;p388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vert="horz" wrap="square" lIns="609600" tIns="121900" rIns="609600" bIns="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>
                <a:solidFill>
                  <a:schemeClr val="dk1"/>
                </a:solidFill>
              </a:rPr>
              <a:t>By the end of this lesson, you will be able to:</a:t>
            </a:r>
            <a:endParaRPr/>
          </a:p>
        </p:txBody>
      </p:sp>
      <p:sp>
        <p:nvSpPr>
          <p:cNvPr id="5943" name="Google Shape;5943;p388"/>
          <p:cNvSpPr txBox="1">
            <a:spLocks noGrp="1"/>
          </p:cNvSpPr>
          <p:nvPr>
            <p:ph type="subTitle" idx="3"/>
          </p:nvPr>
        </p:nvSpPr>
        <p:spPr>
          <a:xfrm>
            <a:off x="16300" y="2025339"/>
            <a:ext cx="121920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Understand Data model</a:t>
            </a:r>
          </a:p>
        </p:txBody>
      </p:sp>
      <p:sp>
        <p:nvSpPr>
          <p:cNvPr id="5944" name="Google Shape;5944;p388"/>
          <p:cNvSpPr txBox="1">
            <a:spLocks noGrp="1"/>
          </p:cNvSpPr>
          <p:nvPr>
            <p:ph type="subTitle" idx="4"/>
          </p:nvPr>
        </p:nvSpPr>
        <p:spPr>
          <a:xfrm>
            <a:off x="-16400" y="3148560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2000" dirty="0"/>
              <a:t>Perform Data Different type of data filter </a:t>
            </a:r>
          </a:p>
        </p:txBody>
      </p:sp>
      <p:sp>
        <p:nvSpPr>
          <p:cNvPr id="5945" name="Google Shape;5945;p388"/>
          <p:cNvSpPr txBox="1">
            <a:spLocks noGrp="1"/>
          </p:cNvSpPr>
          <p:nvPr>
            <p:ph type="subTitle" idx="5"/>
          </p:nvPr>
        </p:nvSpPr>
        <p:spPr>
          <a:xfrm>
            <a:off x="0" y="4266092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Create Measure and Calculated columns</a:t>
            </a:r>
          </a:p>
        </p:txBody>
      </p:sp>
      <p:sp>
        <p:nvSpPr>
          <p:cNvPr id="5946" name="Google Shape;5946;p388"/>
          <p:cNvSpPr txBox="1">
            <a:spLocks noGrp="1"/>
          </p:cNvSpPr>
          <p:nvPr>
            <p:ph type="subTitle" idx="6"/>
          </p:nvPr>
        </p:nvSpPr>
        <p:spPr>
          <a:xfrm>
            <a:off x="-16400" y="5400156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Utilize Dax (Data Analysis Expressions)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39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pic>
        <p:nvPicPr>
          <p:cNvPr id="5958" name="Google Shape;5958;p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4386450" y="1062335"/>
            <a:ext cx="39198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Data Model </a:t>
            </a:r>
          </a:p>
        </p:txBody>
      </p:sp>
    </p:spTree>
    <p:extLst>
      <p:ext uri="{BB962C8B-B14F-4D97-AF65-F5344CB8AC3E}">
        <p14:creationId xmlns:p14="http://schemas.microsoft.com/office/powerpoint/2010/main" val="212359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1">
            <a:extLst>
              <a:ext uri="{FF2B5EF4-FFF2-40B4-BE49-F238E27FC236}">
                <a16:creationId xmlns:a16="http://schemas.microsoft.com/office/drawing/2014/main" id="{27F58216-E4F6-C4EE-4B04-1DE4ECF370E5}"/>
              </a:ext>
            </a:extLst>
          </p:cNvPr>
          <p:cNvSpPr/>
          <p:nvPr/>
        </p:nvSpPr>
        <p:spPr>
          <a:xfrm>
            <a:off x="3058886" y="4778828"/>
            <a:ext cx="6074228" cy="957943"/>
          </a:xfrm>
          <a:prstGeom prst="trapezoi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Data Modeling </a:t>
            </a:r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6C2CE7A0-A606-AF5D-96A1-524E9C6CE64E}"/>
              </a:ext>
            </a:extLst>
          </p:cNvPr>
          <p:cNvSpPr/>
          <p:nvPr/>
        </p:nvSpPr>
        <p:spPr>
          <a:xfrm>
            <a:off x="3951514" y="3722914"/>
            <a:ext cx="4561116" cy="827315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Power Query</a:t>
            </a:r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C19919B4-C169-94FC-1BB9-B32B0D3DCE3D}"/>
              </a:ext>
            </a:extLst>
          </p:cNvPr>
          <p:cNvSpPr/>
          <p:nvPr/>
        </p:nvSpPr>
        <p:spPr>
          <a:xfrm>
            <a:off x="4746171" y="2710543"/>
            <a:ext cx="2884715" cy="718457"/>
          </a:xfrm>
          <a:prstGeom prst="trapezoi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Relationships 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77BCDDE9-4C5D-22B3-C9E4-CFA1E0DAD646}"/>
              </a:ext>
            </a:extLst>
          </p:cNvPr>
          <p:cNvSpPr/>
          <p:nvPr/>
        </p:nvSpPr>
        <p:spPr>
          <a:xfrm>
            <a:off x="5464629" y="1845129"/>
            <a:ext cx="1349828" cy="571500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DAX</a:t>
            </a:r>
          </a:p>
        </p:txBody>
      </p:sp>
      <p:pic>
        <p:nvPicPr>
          <p:cNvPr id="7" name="Picture 6" descr="A computer screen with graphics and a pie chart&#10;&#10;Description automatically generated">
            <a:extLst>
              <a:ext uri="{FF2B5EF4-FFF2-40B4-BE49-F238E27FC236}">
                <a16:creationId xmlns:a16="http://schemas.microsoft.com/office/drawing/2014/main" id="{3B66B138-6F1D-4E53-D2A7-C390026F9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811" y="753751"/>
            <a:ext cx="797464" cy="797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4B04BB-D005-888E-B427-A292E692731A}"/>
              </a:ext>
            </a:extLst>
          </p:cNvPr>
          <p:cNvSpPr txBox="1"/>
          <p:nvPr/>
        </p:nvSpPr>
        <p:spPr>
          <a:xfrm>
            <a:off x="6538275" y="936563"/>
            <a:ext cx="1582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420815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duct&#10;&#10;Description automatically generated">
            <a:extLst>
              <a:ext uri="{FF2B5EF4-FFF2-40B4-BE49-F238E27FC236}">
                <a16:creationId xmlns:a16="http://schemas.microsoft.com/office/drawing/2014/main" id="{8098DB1C-4D0F-9084-4FF2-BC574A156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48208"/>
            <a:ext cx="10905066" cy="55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9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7CE6BE3-03F4-F7DE-9E30-3915D355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276" y="643466"/>
            <a:ext cx="850544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55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C9F2C-B809-4C03-73A4-B46EFF1F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506" y="2878312"/>
            <a:ext cx="2481944" cy="757517"/>
          </a:xfrm>
        </p:spPr>
        <p:txBody>
          <a:bodyPr anchor="b">
            <a:normAutofit fontScale="90000"/>
          </a:bodyPr>
          <a:lstStyle/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Data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97FA5-1930-1E14-9D0E-138B1728028B}"/>
              </a:ext>
            </a:extLst>
          </p:cNvPr>
          <p:cNvSpPr txBox="1"/>
          <p:nvPr/>
        </p:nvSpPr>
        <p:spPr>
          <a:xfrm>
            <a:off x="4484915" y="2644170"/>
            <a:ext cx="6803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Data modeling is the process of analyzing and defining all the different data types your business collects and produces, as well as the relationships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0246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4B8D2C5-CA3B-4971-31DD-1C03F73BD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4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2E3AC4B-6D3B-64BE-5FD9-3DF6C67F5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2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9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DD5B777-126F-B1A6-2B8B-78A50ABEF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" r="463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1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CF799EA-2371-5182-9819-371BC2226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" r="28646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75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1142999" y="1441021"/>
            <a:ext cx="11477715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Modeling customer data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4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C84FB9-686D-9B7B-7BE0-5D4BF259CB49}"/>
              </a:ext>
            </a:extLst>
          </p:cNvPr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pic>
        <p:nvPicPr>
          <p:cNvPr id="8" name="Picture 7" descr="A group of hands with their hands raised&#10;&#10;Description automatically generated">
            <a:extLst>
              <a:ext uri="{FF2B5EF4-FFF2-40B4-BE49-F238E27FC236}">
                <a16:creationId xmlns:a16="http://schemas.microsoft.com/office/drawing/2014/main" id="{EFB8A6E5-CB28-2BCB-2F87-E70727998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7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Students Do: </a:t>
            </a:r>
            <a:r>
              <a:rPr lang="en-US" sz="3067" b="1" dirty="0"/>
              <a:t>Film data Modeling 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>
              <a:buClr>
                <a:schemeClr val="dk1"/>
              </a:buClr>
              <a:buSzPts val="1100"/>
            </a:pP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407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SzPts val="990"/>
            </a:pPr>
            <a:r>
              <a:rPr lang="en" sz="3253" dirty="0"/>
              <a:t>Activity: Explore Data</a:t>
            </a:r>
            <a:endParaRPr sz="3253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1" name="Google Shape;6081;p407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rmAutofit fontScale="25000" lnSpcReduction="20000"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sp>
        <p:nvSpPr>
          <p:cNvPr id="6082" name="Google Shape;6082;p407"/>
          <p:cNvSpPr/>
          <p:nvPr/>
        </p:nvSpPr>
        <p:spPr>
          <a:xfrm>
            <a:off x="751100" y="1353299"/>
            <a:ext cx="10722400" cy="334365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86" name="Google Shape;6086;p407"/>
          <p:cNvSpPr/>
          <p:nvPr/>
        </p:nvSpPr>
        <p:spPr>
          <a:xfrm>
            <a:off x="738533" y="4809203"/>
            <a:ext cx="10722400" cy="128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r>
              <a:rPr lang="en" sz="2400"/>
              <a:t>	</a:t>
            </a:r>
            <a:endParaRPr sz="2400"/>
          </a:p>
        </p:txBody>
      </p:sp>
      <p:pic>
        <p:nvPicPr>
          <p:cNvPr id="6087" name="Google Shape;6087;p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82531" flipH="1">
            <a:off x="914507" y="5160004"/>
            <a:ext cx="835436" cy="8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88" name="Google Shape;6088;p407"/>
          <p:cNvSpPr txBox="1"/>
          <p:nvPr/>
        </p:nvSpPr>
        <p:spPr>
          <a:xfrm>
            <a:off x="711652" y="4753669"/>
            <a:ext cx="10775600" cy="104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Hint: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Char char="○"/>
            </a:pPr>
            <a:r>
              <a:rPr lang="en" sz="2400" dirty="0">
                <a:solidFill>
                  <a:srgbClr val="24292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Don’t forget to save the file once finished. 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1FDDDB-6D3D-CC61-74C4-1FC34A3E5F34}"/>
              </a:ext>
            </a:extLst>
          </p:cNvPr>
          <p:cNvSpPr txBox="1"/>
          <p:nvPr/>
        </p:nvSpPr>
        <p:spPr>
          <a:xfrm>
            <a:off x="1153886" y="1469571"/>
            <a:ext cx="100039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Film data Modeling: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Film 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Rental </a:t>
            </a:r>
          </a:p>
          <a:p>
            <a:endParaRPr lang="en-US" sz="18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680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0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4546302" y="1062335"/>
            <a:ext cx="3600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Data Filter </a:t>
            </a:r>
          </a:p>
        </p:txBody>
      </p:sp>
    </p:spTree>
    <p:extLst>
      <p:ext uri="{BB962C8B-B14F-4D97-AF65-F5344CB8AC3E}">
        <p14:creationId xmlns:p14="http://schemas.microsoft.com/office/powerpoint/2010/main" val="1959989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table&#10;&#10;Description automatically generated">
            <a:extLst>
              <a:ext uri="{FF2B5EF4-FFF2-40B4-BE49-F238E27FC236}">
                <a16:creationId xmlns:a16="http://schemas.microsoft.com/office/drawing/2014/main" id="{E8950903-CA9B-F1CE-7DC8-6FF39190B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39" y="643466"/>
            <a:ext cx="97311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81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E912E96-AAD2-2453-7538-1DE3D5529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18" y="643466"/>
            <a:ext cx="1003796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74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825B23C-9E43-FC22-3730-8185C5745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18" y="643466"/>
            <a:ext cx="1003796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56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6F208F7-D575-E2EC-071B-7847A1E9B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37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D2E6471-BB7D-67B1-09C8-E752E97FD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27" y="643466"/>
            <a:ext cx="999294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78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Data filter on the store data 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42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</a:t>
            </a:r>
            <a:r>
              <a:rPr lang="en-US" sz="3067" b="1" dirty="0"/>
              <a:t>Data filter store dataset </a:t>
            </a: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 minutes </a:t>
            </a:r>
          </a:p>
        </p:txBody>
      </p:sp>
    </p:spTree>
    <p:extLst>
      <p:ext uri="{BB962C8B-B14F-4D97-AF65-F5344CB8AC3E}">
        <p14:creationId xmlns:p14="http://schemas.microsoft.com/office/powerpoint/2010/main" val="1918344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26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671AC11-90E8-0D14-ED74-FCEC875E9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2" b="230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7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35A8B74-0891-256C-04B9-46457F9C2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15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Calculated column and Measure </a:t>
            </a:r>
            <a:br>
              <a:rPr lang="en-US" sz="3067" b="1" dirty="0"/>
            </a:b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00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5591233" y="1062335"/>
            <a:ext cx="1510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DAX</a:t>
            </a:r>
          </a:p>
        </p:txBody>
      </p:sp>
    </p:spTree>
    <p:extLst>
      <p:ext uri="{BB962C8B-B14F-4D97-AF65-F5344CB8AC3E}">
        <p14:creationId xmlns:p14="http://schemas.microsoft.com/office/powerpoint/2010/main" val="1465395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E1C5EE44-4B9D-9A1F-F60B-A65ED5CE9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17" y="1380537"/>
            <a:ext cx="7069987" cy="4312692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41121A8-26F3-BFC9-3F70-E5AF16BD6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3" r="43223" b="-3"/>
          <a:stretch/>
        </p:blipFill>
        <p:spPr>
          <a:xfrm>
            <a:off x="7534655" y="484632"/>
            <a:ext cx="3439199" cy="588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64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Dax logic 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49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33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</a:t>
            </a:r>
            <a:r>
              <a:rPr lang="en-US" sz="3067" b="1" dirty="0"/>
              <a:t>Dax traffic data </a:t>
            </a: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</p:spTree>
    <p:extLst>
      <p:ext uri="{BB962C8B-B14F-4D97-AF65-F5344CB8AC3E}">
        <p14:creationId xmlns:p14="http://schemas.microsoft.com/office/powerpoint/2010/main" val="2534880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4" name="Google Shape;5064;p353"/>
          <p:cNvSpPr txBox="1">
            <a:spLocks noGrp="1"/>
          </p:cNvSpPr>
          <p:nvPr>
            <p:ph type="body" idx="3"/>
          </p:nvPr>
        </p:nvSpPr>
        <p:spPr>
          <a:xfrm>
            <a:off x="305767" y="930713"/>
            <a:ext cx="11462400" cy="302400"/>
          </a:xfrm>
          <a:prstGeom prst="rect">
            <a:avLst/>
          </a:prstGeom>
        </p:spPr>
        <p:txBody>
          <a:bodyPr spcFirstLastPara="1" vert="horz" wrap="square" lIns="609600" tIns="0" rIns="609600" bIns="1219200" rtlCol="0" anchor="t" anchorCtr="0">
            <a:noAutofit/>
          </a:bodyPr>
          <a:lstStyle/>
          <a:p>
            <a:pPr marL="0" indent="0">
              <a:spcAft>
                <a:spcPts val="2133"/>
              </a:spcAft>
              <a:buClr>
                <a:schemeClr val="dk1"/>
              </a:buClr>
              <a:buSzPts val="1100"/>
              <a:buNone/>
            </a:pPr>
            <a:r>
              <a:rPr lang="en" dirty="0">
                <a:latin typeface="Roboto Medium"/>
                <a:ea typeface="Roboto Medium"/>
                <a:cs typeface="Roboto Medium"/>
                <a:sym typeface="Roboto Medium"/>
              </a:rPr>
              <a:t>Instructions:</a:t>
            </a:r>
            <a:endParaRPr b="1" dirty="0"/>
          </a:p>
        </p:txBody>
      </p:sp>
      <p:sp>
        <p:nvSpPr>
          <p:cNvPr id="5066" name="Google Shape;5066;p353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rmAutofit fontScale="25000" lnSpcReduction="20000"/>
          </a:bodyPr>
          <a:lstStyle/>
          <a:p>
            <a:fld id="{00000000-1234-1234-1234-123412341234}" type="slidenum">
              <a:rPr lang="en"/>
              <a:pPr/>
              <a:t>34</a:t>
            </a:fld>
            <a:endParaRPr/>
          </a:p>
        </p:txBody>
      </p:sp>
      <p:sp>
        <p:nvSpPr>
          <p:cNvPr id="5067" name="Google Shape;5067;p353"/>
          <p:cNvSpPr/>
          <p:nvPr/>
        </p:nvSpPr>
        <p:spPr>
          <a:xfrm>
            <a:off x="566800" y="1452200"/>
            <a:ext cx="11259600" cy="500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068" name="Google Shape;5068;p353"/>
          <p:cNvSpPr txBox="1"/>
          <p:nvPr/>
        </p:nvSpPr>
        <p:spPr>
          <a:xfrm>
            <a:off x="762400" y="1506600"/>
            <a:ext cx="10942400" cy="427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Try to create visualizations for the following questions: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spcBef>
                <a:spcPts val="1600"/>
              </a:spcBef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What are the most dangerous hours that produce casualties?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What are the most dangerous months that produce casualties?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What speed limit is the most common for accidents to occur in?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Does the speed limit impact the average number of casualties?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What are the most common weather conditions for accidents?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Do light conditions have any impact on accidents?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Are there any possible problems or issues with these visualizations?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Use calculations and logical statements to enhance your visualizations, 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71562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05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a sand clock&#10;&#10;Description automatically generated">
            <a:extLst>
              <a:ext uri="{FF2B5EF4-FFF2-40B4-BE49-F238E27FC236}">
                <a16:creationId xmlns:a16="http://schemas.microsoft.com/office/drawing/2014/main" id="{E3920EF5-8A4A-9D80-D036-783325015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71" y="338861"/>
            <a:ext cx="6226629" cy="61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10985</TotalTime>
  <Words>343</Words>
  <Application>Microsoft Office PowerPoint</Application>
  <PresentationFormat>Widescreen</PresentationFormat>
  <Paragraphs>167</Paragraphs>
  <Slides>36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Aptos Display</vt:lpstr>
      <vt:lpstr>Arial</vt:lpstr>
      <vt:lpstr>Roboto</vt:lpstr>
      <vt:lpstr>Roboto Light</vt:lpstr>
      <vt:lpstr>Roboto Medium</vt:lpstr>
      <vt:lpstr>Segoe UI</vt:lpstr>
      <vt:lpstr>Office Theme</vt:lpstr>
      <vt:lpstr>DATA MODELING IN POWER BI</vt:lpstr>
      <vt:lpstr>Class Objectives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Modeling</vt:lpstr>
      <vt:lpstr>PowerPoint Presentation</vt:lpstr>
      <vt:lpstr>PowerPoint Presentation</vt:lpstr>
      <vt:lpstr>PowerPoint Presentation</vt:lpstr>
      <vt:lpstr>PowerPoint Presentation</vt:lpstr>
      <vt:lpstr>  10 Minutes</vt:lpstr>
      <vt:lpstr>PowerPoint Presentation</vt:lpstr>
      <vt:lpstr>  10 Minutes</vt:lpstr>
      <vt:lpstr>Activity: Explore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10 Minutes</vt:lpstr>
      <vt:lpstr>  10 Minutes</vt:lpstr>
      <vt:lpstr>PowerPoint Presentation</vt:lpstr>
      <vt:lpstr>PowerPoint Presentation</vt:lpstr>
      <vt:lpstr>PowerPoint Presentation</vt:lpstr>
      <vt:lpstr>  10 Minutes</vt:lpstr>
      <vt:lpstr>PowerPoint Presentation</vt:lpstr>
      <vt:lpstr>PowerPoint Presentation</vt:lpstr>
      <vt:lpstr>  10 Minutes</vt:lpstr>
      <vt:lpstr>  10 Minutes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Mousa</dc:creator>
  <cp:lastModifiedBy>Ahmad Mousa</cp:lastModifiedBy>
  <cp:revision>17</cp:revision>
  <dcterms:created xsi:type="dcterms:W3CDTF">2024-11-06T17:37:33Z</dcterms:created>
  <dcterms:modified xsi:type="dcterms:W3CDTF">2024-11-29T02:44:22Z</dcterms:modified>
</cp:coreProperties>
</file>