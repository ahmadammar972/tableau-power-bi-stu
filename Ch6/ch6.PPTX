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7" r:id="rId1"/>
  </p:sldMasterIdLst>
  <p:notesMasterIdLst>
    <p:notesMasterId r:id="rId25"/>
  </p:notesMasterIdLst>
  <p:sldIdLst>
    <p:sldId id="256" r:id="rId2"/>
    <p:sldId id="268" r:id="rId3"/>
    <p:sldId id="259" r:id="rId4"/>
    <p:sldId id="267" r:id="rId5"/>
    <p:sldId id="263" r:id="rId6"/>
    <p:sldId id="261" r:id="rId7"/>
    <p:sldId id="266" r:id="rId8"/>
    <p:sldId id="271" r:id="rId9"/>
    <p:sldId id="272" r:id="rId10"/>
    <p:sldId id="269" r:id="rId11"/>
    <p:sldId id="273" r:id="rId12"/>
    <p:sldId id="274" r:id="rId13"/>
    <p:sldId id="275" r:id="rId14"/>
    <p:sldId id="276" r:id="rId15"/>
    <p:sldId id="277" r:id="rId16"/>
    <p:sldId id="278" r:id="rId17"/>
    <p:sldId id="280" r:id="rId18"/>
    <p:sldId id="282" r:id="rId19"/>
    <p:sldId id="279" r:id="rId20"/>
    <p:sldId id="283" r:id="rId21"/>
    <p:sldId id="284" r:id="rId22"/>
    <p:sldId id="285" r:id="rId23"/>
    <p:sldId id="28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9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87C88D-AE67-4138-BAA2-E7F53EAD555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AC5E073-DA35-47CE-B34C-C6A9EF744885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Power BI Desktop</a:t>
          </a:r>
        </a:p>
      </dgm:t>
    </dgm:pt>
    <dgm:pt modelId="{09D464A1-2D9D-4757-8817-4658A5124719}" type="parTrans" cxnId="{EA5E58BF-D692-4875-BE5B-E7C7E908EF12}">
      <dgm:prSet/>
      <dgm:spPr/>
      <dgm:t>
        <a:bodyPr/>
        <a:lstStyle/>
        <a:p>
          <a:endParaRPr lang="en-US"/>
        </a:p>
      </dgm:t>
    </dgm:pt>
    <dgm:pt modelId="{3FC45E03-4789-404D-8310-C8F86C3BCC00}" type="sibTrans" cxnId="{EA5E58BF-D692-4875-BE5B-E7C7E908EF12}">
      <dgm:prSet/>
      <dgm:spPr/>
      <dgm:t>
        <a:bodyPr/>
        <a:lstStyle/>
        <a:p>
          <a:endParaRPr lang="en-US"/>
        </a:p>
      </dgm:t>
    </dgm:pt>
    <dgm:pt modelId="{ABBC49A2-BA34-40B0-AFFC-3EA5CB79640C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Power BI Service</a:t>
          </a:r>
          <a:endParaRPr lang="en-US" dirty="0"/>
        </a:p>
      </dgm:t>
    </dgm:pt>
    <dgm:pt modelId="{52E4B9AF-C2CA-4BF2-A33A-710FB5E9C680}" type="parTrans" cxnId="{0D399D09-75D8-4F47-A7E7-88A5FAE7FB8B}">
      <dgm:prSet/>
      <dgm:spPr/>
      <dgm:t>
        <a:bodyPr/>
        <a:lstStyle/>
        <a:p>
          <a:endParaRPr lang="en-US"/>
        </a:p>
      </dgm:t>
    </dgm:pt>
    <dgm:pt modelId="{1848403A-98EC-4F8B-B91A-6C7CD541CD58}" type="sibTrans" cxnId="{0D399D09-75D8-4F47-A7E7-88A5FAE7FB8B}">
      <dgm:prSet/>
      <dgm:spPr/>
      <dgm:t>
        <a:bodyPr/>
        <a:lstStyle/>
        <a:p>
          <a:endParaRPr lang="en-US"/>
        </a:p>
      </dgm:t>
    </dgm:pt>
    <dgm:pt modelId="{8A31C4A9-57D8-4627-B7EB-75DAA5F71C00}" type="pres">
      <dgm:prSet presAssocID="{1B87C88D-AE67-4138-BAA2-E7F53EAD555A}" presName="root" presStyleCnt="0">
        <dgm:presLayoutVars>
          <dgm:dir/>
          <dgm:resizeHandles val="exact"/>
        </dgm:presLayoutVars>
      </dgm:prSet>
      <dgm:spPr/>
    </dgm:pt>
    <dgm:pt modelId="{84B687AE-606F-4DCF-AF4A-E9A1EF81E747}" type="pres">
      <dgm:prSet presAssocID="{9AC5E073-DA35-47CE-B34C-C6A9EF744885}" presName="compNode" presStyleCnt="0"/>
      <dgm:spPr/>
    </dgm:pt>
    <dgm:pt modelId="{043E5956-4B56-4CD5-8133-C6FA2815B2E2}" type="pres">
      <dgm:prSet presAssocID="{9AC5E073-DA35-47CE-B34C-C6A9EF74488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97396B31-B7F8-4858-8241-3B8B642DE646}" type="pres">
      <dgm:prSet presAssocID="{9AC5E073-DA35-47CE-B34C-C6A9EF744885}" presName="spaceRect" presStyleCnt="0"/>
      <dgm:spPr/>
    </dgm:pt>
    <dgm:pt modelId="{2E73491C-C4C4-45D2-AA41-6DE9B67A4E48}" type="pres">
      <dgm:prSet presAssocID="{9AC5E073-DA35-47CE-B34C-C6A9EF744885}" presName="textRect" presStyleLbl="revTx" presStyleIdx="0" presStyleCnt="2">
        <dgm:presLayoutVars>
          <dgm:chMax val="1"/>
          <dgm:chPref val="1"/>
        </dgm:presLayoutVars>
      </dgm:prSet>
      <dgm:spPr/>
    </dgm:pt>
    <dgm:pt modelId="{ECEC8FDD-AED4-470E-B5E5-6DE26C780D14}" type="pres">
      <dgm:prSet presAssocID="{3FC45E03-4789-404D-8310-C8F86C3BCC00}" presName="sibTrans" presStyleCnt="0"/>
      <dgm:spPr/>
    </dgm:pt>
    <dgm:pt modelId="{610E171E-7D2C-41C0-89A3-C95EEC297EDA}" type="pres">
      <dgm:prSet presAssocID="{ABBC49A2-BA34-40B0-AFFC-3EA5CB79640C}" presName="compNode" presStyleCnt="0"/>
      <dgm:spPr/>
    </dgm:pt>
    <dgm:pt modelId="{755BB8EB-A797-4329-95D9-9B22C0B89000}" type="pres">
      <dgm:prSet presAssocID="{ABBC49A2-BA34-40B0-AFFC-3EA5CB79640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C6C458C-3819-4769-AD1E-67F1CDB508ED}" type="pres">
      <dgm:prSet presAssocID="{ABBC49A2-BA34-40B0-AFFC-3EA5CB79640C}" presName="spaceRect" presStyleCnt="0"/>
      <dgm:spPr/>
    </dgm:pt>
    <dgm:pt modelId="{941943CA-FE3C-4003-8785-A887AFB9D505}" type="pres">
      <dgm:prSet presAssocID="{ABBC49A2-BA34-40B0-AFFC-3EA5CB79640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D399D09-75D8-4F47-A7E7-88A5FAE7FB8B}" srcId="{1B87C88D-AE67-4138-BAA2-E7F53EAD555A}" destId="{ABBC49A2-BA34-40B0-AFFC-3EA5CB79640C}" srcOrd="1" destOrd="0" parTransId="{52E4B9AF-C2CA-4BF2-A33A-710FB5E9C680}" sibTransId="{1848403A-98EC-4F8B-B91A-6C7CD541CD58}"/>
    <dgm:cxn modelId="{39E2E431-395E-4D8F-86D6-4991BFC340B9}" type="presOf" srcId="{1B87C88D-AE67-4138-BAA2-E7F53EAD555A}" destId="{8A31C4A9-57D8-4627-B7EB-75DAA5F71C00}" srcOrd="0" destOrd="0" presId="urn:microsoft.com/office/officeart/2018/2/layout/IconLabelList"/>
    <dgm:cxn modelId="{8EFC7859-9EAC-4449-84C2-6236C14D1383}" type="presOf" srcId="{9AC5E073-DA35-47CE-B34C-C6A9EF744885}" destId="{2E73491C-C4C4-45D2-AA41-6DE9B67A4E48}" srcOrd="0" destOrd="0" presId="urn:microsoft.com/office/officeart/2018/2/layout/IconLabelList"/>
    <dgm:cxn modelId="{E4B85DA6-D4C1-4AA2-AE92-9C7CA1CB03B9}" type="presOf" srcId="{ABBC49A2-BA34-40B0-AFFC-3EA5CB79640C}" destId="{941943CA-FE3C-4003-8785-A887AFB9D505}" srcOrd="0" destOrd="0" presId="urn:microsoft.com/office/officeart/2018/2/layout/IconLabelList"/>
    <dgm:cxn modelId="{EA5E58BF-D692-4875-BE5B-E7C7E908EF12}" srcId="{1B87C88D-AE67-4138-BAA2-E7F53EAD555A}" destId="{9AC5E073-DA35-47CE-B34C-C6A9EF744885}" srcOrd="0" destOrd="0" parTransId="{09D464A1-2D9D-4757-8817-4658A5124719}" sibTransId="{3FC45E03-4789-404D-8310-C8F86C3BCC00}"/>
    <dgm:cxn modelId="{8AF425C7-C10E-4840-84E2-E6869C792804}" type="presParOf" srcId="{8A31C4A9-57D8-4627-B7EB-75DAA5F71C00}" destId="{84B687AE-606F-4DCF-AF4A-E9A1EF81E747}" srcOrd="0" destOrd="0" presId="urn:microsoft.com/office/officeart/2018/2/layout/IconLabelList"/>
    <dgm:cxn modelId="{107C9614-AC56-4AE8-AD3A-8E6452A4E12A}" type="presParOf" srcId="{84B687AE-606F-4DCF-AF4A-E9A1EF81E747}" destId="{043E5956-4B56-4CD5-8133-C6FA2815B2E2}" srcOrd="0" destOrd="0" presId="urn:microsoft.com/office/officeart/2018/2/layout/IconLabelList"/>
    <dgm:cxn modelId="{3ED04567-63B8-4538-8480-17E6E85CD6FB}" type="presParOf" srcId="{84B687AE-606F-4DCF-AF4A-E9A1EF81E747}" destId="{97396B31-B7F8-4858-8241-3B8B642DE646}" srcOrd="1" destOrd="0" presId="urn:microsoft.com/office/officeart/2018/2/layout/IconLabelList"/>
    <dgm:cxn modelId="{14D7AC3C-E9AC-45EF-87C4-3812B23CDE02}" type="presParOf" srcId="{84B687AE-606F-4DCF-AF4A-E9A1EF81E747}" destId="{2E73491C-C4C4-45D2-AA41-6DE9B67A4E48}" srcOrd="2" destOrd="0" presId="urn:microsoft.com/office/officeart/2018/2/layout/IconLabelList"/>
    <dgm:cxn modelId="{9E86FDC6-5F05-47A8-B9CE-9A9576C6F2DA}" type="presParOf" srcId="{8A31C4A9-57D8-4627-B7EB-75DAA5F71C00}" destId="{ECEC8FDD-AED4-470E-B5E5-6DE26C780D14}" srcOrd="1" destOrd="0" presId="urn:microsoft.com/office/officeart/2018/2/layout/IconLabelList"/>
    <dgm:cxn modelId="{79FA9BA4-18AB-44B3-8B52-803B66CB176F}" type="presParOf" srcId="{8A31C4A9-57D8-4627-B7EB-75DAA5F71C00}" destId="{610E171E-7D2C-41C0-89A3-C95EEC297EDA}" srcOrd="2" destOrd="0" presId="urn:microsoft.com/office/officeart/2018/2/layout/IconLabelList"/>
    <dgm:cxn modelId="{399C5CF5-3073-4501-8C2E-FA0BCE9A2D6A}" type="presParOf" srcId="{610E171E-7D2C-41C0-89A3-C95EEC297EDA}" destId="{755BB8EB-A797-4329-95D9-9B22C0B89000}" srcOrd="0" destOrd="0" presId="urn:microsoft.com/office/officeart/2018/2/layout/IconLabelList"/>
    <dgm:cxn modelId="{9450DB3F-D66E-40A7-81E7-2EF9855D5AFC}" type="presParOf" srcId="{610E171E-7D2C-41C0-89A3-C95EEC297EDA}" destId="{2C6C458C-3819-4769-AD1E-67F1CDB508ED}" srcOrd="1" destOrd="0" presId="urn:microsoft.com/office/officeart/2018/2/layout/IconLabelList"/>
    <dgm:cxn modelId="{DFCCF8B3-9CB6-418C-BCC0-668251C7766C}" type="presParOf" srcId="{610E171E-7D2C-41C0-89A3-C95EEC297EDA}" destId="{941943CA-FE3C-4003-8785-A887AFB9D50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3E5956-4B56-4CD5-8133-C6FA2815B2E2}">
      <dsp:nvSpPr>
        <dsp:cNvPr id="0" name=""/>
        <dsp:cNvSpPr/>
      </dsp:nvSpPr>
      <dsp:spPr>
        <a:xfrm>
          <a:off x="2449928" y="1230562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73491C-C4C4-45D2-AA41-6DE9B67A4E48}">
      <dsp:nvSpPr>
        <dsp:cNvPr id="0" name=""/>
        <dsp:cNvSpPr/>
      </dsp:nvSpPr>
      <dsp:spPr>
        <a:xfrm>
          <a:off x="1261928" y="3644694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000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/>
            <a:t>Power BI Desktop</a:t>
          </a:r>
        </a:p>
      </dsp:txBody>
      <dsp:txXfrm>
        <a:off x="1261928" y="3644694"/>
        <a:ext cx="4320000" cy="720000"/>
      </dsp:txXfrm>
    </dsp:sp>
    <dsp:sp modelId="{755BB8EB-A797-4329-95D9-9B22C0B89000}">
      <dsp:nvSpPr>
        <dsp:cNvPr id="0" name=""/>
        <dsp:cNvSpPr/>
      </dsp:nvSpPr>
      <dsp:spPr>
        <a:xfrm>
          <a:off x="7525928" y="1230562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1943CA-FE3C-4003-8785-A887AFB9D505}">
      <dsp:nvSpPr>
        <dsp:cNvPr id="0" name=""/>
        <dsp:cNvSpPr/>
      </dsp:nvSpPr>
      <dsp:spPr>
        <a:xfrm>
          <a:off x="6337928" y="3644694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000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Power BI Service</a:t>
          </a:r>
          <a:endParaRPr lang="en-US" sz="4500" kern="1200" dirty="0"/>
        </a:p>
      </dsp:txBody>
      <dsp:txXfrm>
        <a:off x="6337928" y="3644694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9141D-405F-4B53-9ED9-F5E6B9ACF4CF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7C8F5E-759F-436F-8A80-239E61BF6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32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7" name="Google Shape;5937;gc69d1e7c39_0_47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8" name="Google Shape;5938;gc69d1e7c39_0_47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4" name="Google Shape;5954;g20c38ac825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5" name="Google Shape;5955;g20c38ac825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1.1 - temp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solidFill>
                  <a:schemeClr val="dk1"/>
                </a:solidFill>
              </a:rPr>
              <a:t>https://learn.microsoft.com/en-us/power-bi/</a:t>
            </a:r>
            <a:endParaRPr lang="en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FF0000"/>
                </a:solidFill>
              </a:rPr>
              <a:t> </a:t>
            </a:r>
            <a:endParaRPr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740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1.2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9" name="Google Shape;5989;gc6c127308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0" name="Google Shape;5990;gc6c127308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4292E"/>
                </a:solidFill>
              </a:rPr>
              <a:t>2.1</a:t>
            </a:r>
            <a:endParaRPr b="1">
              <a:solidFill>
                <a:srgbClr val="24292E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4292E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24292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>
              <a:solidFill>
                <a:srgbClr val="24292E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7C8F5E-759F-436F-8A80-239E61BF6BD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55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1.2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18616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1.2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853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1.2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0880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6" name="Google Shape;6076;gc69d1e7c39_0_110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7" name="Google Shape;6077;gc69d1e7c39_0_110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4292E"/>
                </a:solidFill>
              </a:rPr>
              <a:t>2.2</a:t>
            </a:r>
            <a:endParaRPr b="1">
              <a:solidFill>
                <a:srgbClr val="24292E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4292E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24292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>
              <a:solidFill>
                <a:srgbClr val="24292E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1.2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47362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6" name="Google Shape;6076;gc69d1e7c39_0_110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7" name="Google Shape;6077;gc69d1e7c39_0_110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4292E"/>
                </a:solidFill>
              </a:rPr>
              <a:t>2.2</a:t>
            </a:r>
            <a:endParaRPr b="1">
              <a:solidFill>
                <a:srgbClr val="24292E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4292E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24292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>
              <a:solidFill>
                <a:srgbClr val="24292E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369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62207-0DD0-C04A-23F2-31B966895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7C8647-D2A8-8859-6BB8-CEA2CF25B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C962A-5657-8484-FACA-AE91D79A5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E98C5-4066-11AA-44FB-CBAD8C686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E9AB9-2876-FBDF-9F41-87B064A5E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933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77EB0-1132-B4C4-1655-24B4C9CBC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902F8-8E9E-5F56-7EF1-71A0C32F2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2479-5337-499F-926A-722CD7554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A19F5-C9EB-7020-B29E-D3A58BFF1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AD131-2BA5-C17C-ED46-503D17BF1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856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5FF1A-7406-4165-D046-D32055706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02563-9083-14EC-D927-450E933C2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639AD-09B6-3D25-FF16-6C337B8D9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CDD71-A4DD-B17E-1E25-25589CFD4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3066-1151-9816-871E-E1898B934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64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7789-975A-C27C-64DA-FEA479CA0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7AC5-4F63-B59E-E9A3-15E103C3C5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7C7B8D-8BF9-9018-79F7-961AA4109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8E0B5-2BC8-C92F-99E7-1E9701765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7AEBB-F3D7-ECB0-2E8E-75D604EED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B286FE-16EA-EC2A-CBFE-E8105E5DD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816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D2128-9982-E49C-D08A-52AE1DB27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84836-45AF-0817-D783-4B44ABFB0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69C14-442D-539A-4EF0-1E79ECC34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7CAA6A-53BA-6A43-D62E-0D6C44BF01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9739A2-C2A8-1050-DA44-C6939FA289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CF49F5-F0A0-8307-1B3B-18CB9513B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B75015-E2B0-48F3-6948-28EA49267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D73380-BD1B-A52B-CCE5-7B33A5AF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35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DB755-113E-6B7D-A4B0-720E56C58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04A1AF-188A-4DC8-4C79-8E2B07B17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64270A-548E-B654-E00B-FF7C9DC1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C96945-55D4-9914-D02C-81F139A5D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573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9CEC58-D582-F40F-DD9D-E9A3F2D07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A73278-AF60-691D-A4FB-4F40C9943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AD2B1-CA62-EBD6-0DE9-C7E142335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016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850E1-F4E3-037F-C250-3A40BB323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E277B-FD87-E925-1896-850365207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7EC01-31F9-145F-E2CC-C5B17FD22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9E4C42-F673-BE08-8E5F-1BA584C95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C69E6-9EA8-64CB-B141-99954A848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260DA-F011-91DD-DDF4-3F8F4DE9B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75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1F0D5-7CAA-766D-C0AA-2702B29DF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99069-586A-8737-0637-0B682642A2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130584-AC19-EF27-FE16-69CAD34F2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F83F4E-10CB-80E7-3A7C-CB9238191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148EE-DF3F-C185-15A6-203C0B485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76B75-6E64-C2B0-B971-D62431432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407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15A89-3495-3AC3-F37B-CAFE858C5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85B39F-6154-9A2A-EA23-B9CEAE91C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F9C89-7099-40AB-50A6-1A1D79275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38F98-3AF8-DE88-B8C6-6098E6144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432A8-95E7-18F6-16E1-E693CCA2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68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C3C0AA-D680-2408-27CA-A81A887A1A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0E5BD7-345A-3101-5690-5C72ADDC9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94ABA-D266-3CBA-DD7B-F8BD58A2E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20431-5BF9-8585-B5A5-33BF72E56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AFA9B-BA66-7AE6-B01D-6603F8C12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63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 Text Only">
  <p:cSld name="9. Text Only">
    <p:spTree>
      <p:nvGrpSpPr>
        <p:cNvPr id="1" name="Shape 3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0" name="Google Shape;3590;p246"/>
          <p:cNvSpPr txBox="1">
            <a:spLocks noGrp="1"/>
          </p:cNvSpPr>
          <p:nvPr>
            <p:ph type="title"/>
          </p:nvPr>
        </p:nvSpPr>
        <p:spPr>
          <a:xfrm>
            <a:off x="-16400" y="0"/>
            <a:ext cx="12224800" cy="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182875" rIns="274300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591" name="Google Shape;3591;p246"/>
          <p:cNvSpPr txBox="1">
            <a:spLocks noGrp="1"/>
          </p:cNvSpPr>
          <p:nvPr>
            <p:ph type="subTitle" idx="1"/>
          </p:nvPr>
        </p:nvSpPr>
        <p:spPr>
          <a:xfrm>
            <a:off x="0" y="901300"/>
            <a:ext cx="12192000" cy="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91425" rIns="45720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593" name="Google Shape;3593;p246"/>
          <p:cNvSpPr txBox="1">
            <a:spLocks noGrp="1"/>
          </p:cNvSpPr>
          <p:nvPr>
            <p:ph type="sldNum" idx="12"/>
          </p:nvPr>
        </p:nvSpPr>
        <p:spPr>
          <a:xfrm>
            <a:off x="11477033" y="6609600"/>
            <a:ext cx="349200" cy="1408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Autofit/>
          </a:bodyPr>
          <a:lstStyle>
            <a:lvl1pPr lvl="0" rtl="0">
              <a:buNone/>
              <a:defRPr sz="800">
                <a:solidFill>
                  <a:srgbClr val="000000"/>
                </a:solidFill>
              </a:defRPr>
            </a:lvl1pPr>
            <a:lvl2pPr lvl="1" rtl="0">
              <a:buNone/>
              <a:defRPr sz="800">
                <a:solidFill>
                  <a:srgbClr val="000000"/>
                </a:solidFill>
              </a:defRPr>
            </a:lvl2pPr>
            <a:lvl3pPr lvl="2" rtl="0">
              <a:buNone/>
              <a:defRPr sz="800">
                <a:solidFill>
                  <a:srgbClr val="000000"/>
                </a:solidFill>
              </a:defRPr>
            </a:lvl3pPr>
            <a:lvl4pPr lvl="3" rtl="0">
              <a:buNone/>
              <a:defRPr sz="800">
                <a:solidFill>
                  <a:srgbClr val="000000"/>
                </a:solidFill>
              </a:defRPr>
            </a:lvl4pPr>
            <a:lvl5pPr lvl="4" rtl="0">
              <a:buNone/>
              <a:defRPr sz="800">
                <a:solidFill>
                  <a:srgbClr val="000000"/>
                </a:solidFill>
              </a:defRPr>
            </a:lvl5pPr>
            <a:lvl6pPr lvl="5" rtl="0">
              <a:buNone/>
              <a:defRPr sz="800">
                <a:solidFill>
                  <a:srgbClr val="000000"/>
                </a:solidFill>
              </a:defRPr>
            </a:lvl6pPr>
            <a:lvl7pPr lvl="6" rtl="0">
              <a:buNone/>
              <a:defRPr sz="800">
                <a:solidFill>
                  <a:srgbClr val="000000"/>
                </a:solidFill>
              </a:defRPr>
            </a:lvl7pPr>
            <a:lvl8pPr lvl="7" rtl="0">
              <a:buNone/>
              <a:defRPr sz="800">
                <a:solidFill>
                  <a:srgbClr val="000000"/>
                </a:solidFill>
              </a:defRPr>
            </a:lvl8pPr>
            <a:lvl9pPr lvl="8" rtl="0">
              <a:buNone/>
              <a:defRPr sz="800">
                <a:solidFill>
                  <a:srgbClr val="000000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595" name="Google Shape;3595;p246"/>
          <p:cNvSpPr txBox="1">
            <a:spLocks noGrp="1"/>
          </p:cNvSpPr>
          <p:nvPr>
            <p:ph type="subTitle" idx="2"/>
          </p:nvPr>
        </p:nvSpPr>
        <p:spPr>
          <a:xfrm>
            <a:off x="-16400" y="6555533"/>
            <a:ext cx="106292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457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33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596" name="Google Shape;3596;p246"/>
          <p:cNvSpPr txBox="1">
            <a:spLocks noGrp="1"/>
          </p:cNvSpPr>
          <p:nvPr>
            <p:ph type="body" idx="3"/>
          </p:nvPr>
        </p:nvSpPr>
        <p:spPr>
          <a:xfrm>
            <a:off x="233" y="1712333"/>
            <a:ext cx="12192000" cy="48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0" rIns="457200" bIns="914400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1219170" lvl="1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828754" lvl="2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2438339" lvl="3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3047924" lvl="4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3657509" lvl="5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4267093" lvl="6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4876678" lvl="7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5486263" lvl="8" indent="-423323" rtl="0">
              <a:spcBef>
                <a:spcPts val="1067"/>
              </a:spcBef>
              <a:spcAft>
                <a:spcPts val="1067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23978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. Activity">
  <p:cSld name="12. Activity">
    <p:spTree>
      <p:nvGrpSpPr>
        <p:cNvPr id="1" name="Shape 3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6" name="Google Shape;3616;p249"/>
          <p:cNvSpPr txBox="1">
            <a:spLocks noGrp="1"/>
          </p:cNvSpPr>
          <p:nvPr>
            <p:ph type="title"/>
          </p:nvPr>
        </p:nvSpPr>
        <p:spPr>
          <a:xfrm>
            <a:off x="-134800" y="5646133"/>
            <a:ext cx="119604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9125" rIns="10058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619" name="Google Shape;3619;p249"/>
          <p:cNvSpPr txBox="1">
            <a:spLocks noGrp="1"/>
          </p:cNvSpPr>
          <p:nvPr>
            <p:ph type="sldNum" idx="12"/>
          </p:nvPr>
        </p:nvSpPr>
        <p:spPr>
          <a:xfrm>
            <a:off x="11477033" y="6609600"/>
            <a:ext cx="349200" cy="1408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Autofit/>
          </a:bodyPr>
          <a:lstStyle>
            <a:lvl1pPr lvl="0" rtl="0">
              <a:buNone/>
              <a:defRPr sz="800">
                <a:solidFill>
                  <a:srgbClr val="000000"/>
                </a:solidFill>
              </a:defRPr>
            </a:lvl1pPr>
            <a:lvl2pPr lvl="1" rtl="0">
              <a:buNone/>
              <a:defRPr sz="800">
                <a:solidFill>
                  <a:srgbClr val="000000"/>
                </a:solidFill>
              </a:defRPr>
            </a:lvl2pPr>
            <a:lvl3pPr lvl="2" rtl="0">
              <a:buNone/>
              <a:defRPr sz="800">
                <a:solidFill>
                  <a:srgbClr val="000000"/>
                </a:solidFill>
              </a:defRPr>
            </a:lvl3pPr>
            <a:lvl4pPr lvl="3" rtl="0">
              <a:buNone/>
              <a:defRPr sz="800">
                <a:solidFill>
                  <a:srgbClr val="000000"/>
                </a:solidFill>
              </a:defRPr>
            </a:lvl4pPr>
            <a:lvl5pPr lvl="4" rtl="0">
              <a:buNone/>
              <a:defRPr sz="800">
                <a:solidFill>
                  <a:srgbClr val="000000"/>
                </a:solidFill>
              </a:defRPr>
            </a:lvl5pPr>
            <a:lvl6pPr lvl="5" rtl="0">
              <a:buNone/>
              <a:defRPr sz="800">
                <a:solidFill>
                  <a:srgbClr val="000000"/>
                </a:solidFill>
              </a:defRPr>
            </a:lvl6pPr>
            <a:lvl7pPr lvl="6" rtl="0">
              <a:buNone/>
              <a:defRPr sz="800">
                <a:solidFill>
                  <a:srgbClr val="000000"/>
                </a:solidFill>
              </a:defRPr>
            </a:lvl7pPr>
            <a:lvl8pPr lvl="7" rtl="0">
              <a:buNone/>
              <a:defRPr sz="800">
                <a:solidFill>
                  <a:srgbClr val="000000"/>
                </a:solidFill>
              </a:defRPr>
            </a:lvl8pPr>
            <a:lvl9pPr lvl="8" rtl="0">
              <a:buNone/>
              <a:defRPr sz="800">
                <a:solidFill>
                  <a:srgbClr val="000000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621" name="Google Shape;3621;p249"/>
          <p:cNvSpPr txBox="1">
            <a:spLocks noGrp="1"/>
          </p:cNvSpPr>
          <p:nvPr>
            <p:ph type="subTitle" idx="1"/>
          </p:nvPr>
        </p:nvSpPr>
        <p:spPr>
          <a:xfrm>
            <a:off x="-16400" y="6555533"/>
            <a:ext cx="106292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457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33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622" name="Google Shape;3622;p249"/>
          <p:cNvSpPr txBox="1">
            <a:spLocks noGrp="1"/>
          </p:cNvSpPr>
          <p:nvPr>
            <p:ph type="title" idx="2"/>
          </p:nvPr>
        </p:nvSpPr>
        <p:spPr>
          <a:xfrm>
            <a:off x="365200" y="1390500"/>
            <a:ext cx="11460400" cy="36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60300" tIns="0" rIns="457200" bIns="4572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2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7239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. Bullets 1–4 (Yellow/Green)">
  <p:cSld name="26. Bullets 1–4 (Yellow/Green)">
    <p:spTree>
      <p:nvGrpSpPr>
        <p:cNvPr id="1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3" name="Google Shape;2923;p209"/>
          <p:cNvSpPr/>
          <p:nvPr/>
        </p:nvSpPr>
        <p:spPr>
          <a:xfrm>
            <a:off x="1803400" y="1838433"/>
            <a:ext cx="10022800" cy="828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24" name="Google Shape;2924;p209"/>
          <p:cNvSpPr txBox="1">
            <a:spLocks noGrp="1"/>
          </p:cNvSpPr>
          <p:nvPr>
            <p:ph type="title"/>
          </p:nvPr>
        </p:nvSpPr>
        <p:spPr>
          <a:xfrm>
            <a:off x="-16400" y="0"/>
            <a:ext cx="12224800" cy="711600"/>
          </a:xfrm>
          <a:prstGeom prst="rect">
            <a:avLst/>
          </a:prstGeom>
        </p:spPr>
        <p:txBody>
          <a:bodyPr spcFirstLastPara="1" wrap="square" lIns="457200" tIns="182875" rIns="274300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25" name="Google Shape;2925;p209"/>
          <p:cNvSpPr txBox="1">
            <a:spLocks noGrp="1"/>
          </p:cNvSpPr>
          <p:nvPr>
            <p:ph type="subTitle" idx="1"/>
          </p:nvPr>
        </p:nvSpPr>
        <p:spPr>
          <a:xfrm>
            <a:off x="0" y="901300"/>
            <a:ext cx="12192000" cy="486400"/>
          </a:xfrm>
          <a:prstGeom prst="rect">
            <a:avLst/>
          </a:prstGeom>
        </p:spPr>
        <p:txBody>
          <a:bodyPr spcFirstLastPara="1" wrap="square" lIns="457200" tIns="91425" rIns="45720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2926" name="Google Shape;2926;p209"/>
          <p:cNvCxnSpPr/>
          <p:nvPr/>
        </p:nvCxnSpPr>
        <p:spPr>
          <a:xfrm>
            <a:off x="365833" y="853440"/>
            <a:ext cx="11460800" cy="1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27" name="Google Shape;2927;p209"/>
          <p:cNvSpPr txBox="1">
            <a:spLocks noGrp="1"/>
          </p:cNvSpPr>
          <p:nvPr>
            <p:ph type="sldNum" idx="12"/>
          </p:nvPr>
        </p:nvSpPr>
        <p:spPr>
          <a:xfrm>
            <a:off x="11477033" y="6609600"/>
            <a:ext cx="349200" cy="1408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Autofit/>
          </a:bodyPr>
          <a:lstStyle>
            <a:lvl1pPr lvl="0" rtl="0">
              <a:buNone/>
              <a:defRPr sz="800">
                <a:solidFill>
                  <a:srgbClr val="000000"/>
                </a:solidFill>
              </a:defRPr>
            </a:lvl1pPr>
            <a:lvl2pPr lvl="1" rtl="0">
              <a:buNone/>
              <a:defRPr sz="800">
                <a:solidFill>
                  <a:srgbClr val="000000"/>
                </a:solidFill>
              </a:defRPr>
            </a:lvl2pPr>
            <a:lvl3pPr lvl="2" rtl="0">
              <a:buNone/>
              <a:defRPr sz="800">
                <a:solidFill>
                  <a:srgbClr val="000000"/>
                </a:solidFill>
              </a:defRPr>
            </a:lvl3pPr>
            <a:lvl4pPr lvl="3" rtl="0">
              <a:buNone/>
              <a:defRPr sz="800">
                <a:solidFill>
                  <a:srgbClr val="000000"/>
                </a:solidFill>
              </a:defRPr>
            </a:lvl4pPr>
            <a:lvl5pPr lvl="4" rtl="0">
              <a:buNone/>
              <a:defRPr sz="800">
                <a:solidFill>
                  <a:srgbClr val="000000"/>
                </a:solidFill>
              </a:defRPr>
            </a:lvl5pPr>
            <a:lvl6pPr lvl="5" rtl="0">
              <a:buNone/>
              <a:defRPr sz="800">
                <a:solidFill>
                  <a:srgbClr val="000000"/>
                </a:solidFill>
              </a:defRPr>
            </a:lvl6pPr>
            <a:lvl7pPr lvl="6" rtl="0">
              <a:buNone/>
              <a:defRPr sz="800">
                <a:solidFill>
                  <a:srgbClr val="000000"/>
                </a:solidFill>
              </a:defRPr>
            </a:lvl7pPr>
            <a:lvl8pPr lvl="7" rtl="0">
              <a:buNone/>
              <a:defRPr sz="800">
                <a:solidFill>
                  <a:srgbClr val="000000"/>
                </a:solidFill>
              </a:defRPr>
            </a:lvl8pPr>
            <a:lvl9pPr lvl="8" rtl="0">
              <a:buNone/>
              <a:defRPr sz="800">
                <a:solidFill>
                  <a:srgbClr val="000000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2928" name="Google Shape;2928;p209"/>
          <p:cNvCxnSpPr/>
          <p:nvPr/>
        </p:nvCxnSpPr>
        <p:spPr>
          <a:xfrm>
            <a:off x="365760" y="6541940"/>
            <a:ext cx="11460800" cy="13600"/>
          </a:xfrm>
          <a:prstGeom prst="straightConnector1">
            <a:avLst/>
          </a:prstGeom>
          <a:noFill/>
          <a:ln w="9525" cap="flat" cmpd="sng">
            <a:solidFill>
              <a:srgbClr val="A9B7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29" name="Google Shape;2929;p209"/>
          <p:cNvSpPr txBox="1">
            <a:spLocks noGrp="1"/>
          </p:cNvSpPr>
          <p:nvPr>
            <p:ph type="subTitle" idx="2"/>
          </p:nvPr>
        </p:nvSpPr>
        <p:spPr>
          <a:xfrm>
            <a:off x="-16400" y="6555533"/>
            <a:ext cx="10629200" cy="302400"/>
          </a:xfrm>
          <a:prstGeom prst="rect">
            <a:avLst/>
          </a:prstGeom>
        </p:spPr>
        <p:txBody>
          <a:bodyPr spcFirstLastPara="1" wrap="square" lIns="274300" tIns="457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33"/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30" name="Google Shape;2930;p209"/>
          <p:cNvSpPr txBox="1">
            <a:spLocks noGrp="1"/>
          </p:cNvSpPr>
          <p:nvPr>
            <p:ph type="subTitle" idx="3"/>
          </p:nvPr>
        </p:nvSpPr>
        <p:spPr>
          <a:xfrm>
            <a:off x="16300" y="1864000"/>
            <a:ext cx="12192000" cy="809200"/>
          </a:xfrm>
          <a:prstGeom prst="rect">
            <a:avLst/>
          </a:prstGeom>
        </p:spPr>
        <p:txBody>
          <a:bodyPr spcFirstLastPara="1" wrap="square" lIns="1554475" tIns="0" rIns="45720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31" name="Google Shape;2931;p209"/>
          <p:cNvSpPr/>
          <p:nvPr/>
        </p:nvSpPr>
        <p:spPr>
          <a:xfrm>
            <a:off x="1803400" y="2974848"/>
            <a:ext cx="10022800" cy="828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32" name="Google Shape;2932;p209"/>
          <p:cNvSpPr/>
          <p:nvPr/>
        </p:nvSpPr>
        <p:spPr>
          <a:xfrm>
            <a:off x="1803400" y="4098467"/>
            <a:ext cx="10022800" cy="828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33" name="Google Shape;2933;p209"/>
          <p:cNvSpPr/>
          <p:nvPr/>
        </p:nvSpPr>
        <p:spPr>
          <a:xfrm>
            <a:off x="1803400" y="5225300"/>
            <a:ext cx="10022800" cy="828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34" name="Google Shape;2934;p209"/>
          <p:cNvSpPr txBox="1">
            <a:spLocks noGrp="1"/>
          </p:cNvSpPr>
          <p:nvPr>
            <p:ph type="subTitle" idx="4"/>
          </p:nvPr>
        </p:nvSpPr>
        <p:spPr>
          <a:xfrm>
            <a:off x="-16300" y="2978067"/>
            <a:ext cx="12224800" cy="809200"/>
          </a:xfrm>
          <a:prstGeom prst="rect">
            <a:avLst/>
          </a:prstGeom>
        </p:spPr>
        <p:txBody>
          <a:bodyPr spcFirstLastPara="1" wrap="square" lIns="1554475" tIns="0" rIns="45720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35" name="Google Shape;2935;p209"/>
          <p:cNvSpPr txBox="1">
            <a:spLocks noGrp="1"/>
          </p:cNvSpPr>
          <p:nvPr>
            <p:ph type="subTitle" idx="5"/>
          </p:nvPr>
        </p:nvSpPr>
        <p:spPr>
          <a:xfrm>
            <a:off x="0" y="4101700"/>
            <a:ext cx="12224800" cy="809200"/>
          </a:xfrm>
          <a:prstGeom prst="rect">
            <a:avLst/>
          </a:prstGeom>
        </p:spPr>
        <p:txBody>
          <a:bodyPr spcFirstLastPara="1" wrap="square" lIns="1554475" tIns="0" rIns="45720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36" name="Google Shape;2936;p209"/>
          <p:cNvSpPr txBox="1">
            <a:spLocks noGrp="1"/>
          </p:cNvSpPr>
          <p:nvPr>
            <p:ph type="subTitle" idx="6"/>
          </p:nvPr>
        </p:nvSpPr>
        <p:spPr>
          <a:xfrm>
            <a:off x="-16400" y="5225300"/>
            <a:ext cx="12224800" cy="809200"/>
          </a:xfrm>
          <a:prstGeom prst="rect">
            <a:avLst/>
          </a:prstGeom>
        </p:spPr>
        <p:txBody>
          <a:bodyPr spcFirstLastPara="1" wrap="square" lIns="1554475" tIns="0" rIns="45720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2937" name="Google Shape;2937;p209"/>
          <p:cNvPicPr preferRelativeResize="0"/>
          <p:nvPr/>
        </p:nvPicPr>
        <p:blipFill rotWithShape="1">
          <a:blip r:embed="rId2">
            <a:alphaModFix/>
          </a:blip>
          <a:srcRect t="1830" b="1830"/>
          <a:stretch/>
        </p:blipFill>
        <p:spPr>
          <a:xfrm>
            <a:off x="573025" y="1870415"/>
            <a:ext cx="1047423" cy="80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8" name="Google Shape;2938;p209"/>
          <p:cNvPicPr preferRelativeResize="0"/>
          <p:nvPr/>
        </p:nvPicPr>
        <p:blipFill rotWithShape="1">
          <a:blip r:embed="rId2">
            <a:alphaModFix/>
          </a:blip>
          <a:srcRect t="1830" b="1830"/>
          <a:stretch/>
        </p:blipFill>
        <p:spPr>
          <a:xfrm>
            <a:off x="573025" y="2969464"/>
            <a:ext cx="1047423" cy="80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9" name="Google Shape;2939;p209"/>
          <p:cNvPicPr preferRelativeResize="0"/>
          <p:nvPr/>
        </p:nvPicPr>
        <p:blipFill rotWithShape="1">
          <a:blip r:embed="rId2">
            <a:alphaModFix/>
          </a:blip>
          <a:srcRect t="1830" b="1830"/>
          <a:stretch/>
        </p:blipFill>
        <p:spPr>
          <a:xfrm>
            <a:off x="576409" y="5222097"/>
            <a:ext cx="1047423" cy="80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0" name="Google Shape;2940;p209"/>
          <p:cNvPicPr preferRelativeResize="0"/>
          <p:nvPr/>
        </p:nvPicPr>
        <p:blipFill rotWithShape="1">
          <a:blip r:embed="rId2">
            <a:alphaModFix/>
          </a:blip>
          <a:srcRect t="1830" b="1830"/>
          <a:stretch/>
        </p:blipFill>
        <p:spPr>
          <a:xfrm>
            <a:off x="573025" y="4109681"/>
            <a:ext cx="1047423" cy="809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9608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9AD4C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66CCE-7051-D813-F46E-D14319817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6B23E-43C2-CFB0-71BE-ADAD573D7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76007-6AC2-AB21-A487-80F7F92230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6AB6AB-B19C-4A18-B35D-F02BE370A671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E16FA-3667-276A-432B-C94778CB94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2A165-1336-DA6B-4342-368466A5D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991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  <p:sldLayoutId id="2147483870" r:id="rId12"/>
    <p:sldLayoutId id="2147483871" r:id="rId13"/>
    <p:sldLayoutId id="214748387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5E2C-E9D4-5293-77D7-487B946CCE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Introduction to Power BI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BD4649-2DA0-59F0-EC18-EC83782992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By Ahmad Mousa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437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0" name="Google Shape;5940;p388"/>
          <p:cNvSpPr txBox="1">
            <a:spLocks noGrp="1"/>
          </p:cNvSpPr>
          <p:nvPr>
            <p:ph type="title"/>
          </p:nvPr>
        </p:nvSpPr>
        <p:spPr>
          <a:xfrm>
            <a:off x="-16400" y="0"/>
            <a:ext cx="12224800" cy="711600"/>
          </a:xfrm>
          <a:prstGeom prst="rect">
            <a:avLst/>
          </a:prstGeom>
        </p:spPr>
        <p:txBody>
          <a:bodyPr spcFirstLastPara="1" vert="horz" wrap="square" lIns="609600" tIns="243833" rIns="365733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/>
              <a:t>Class Objectives</a:t>
            </a:r>
            <a:endParaRPr>
              <a:solidFill>
                <a:schemeClr val="dk1"/>
              </a:solidFill>
            </a:endParaRPr>
          </a:p>
          <a:p>
            <a:endParaRPr>
              <a:solidFill>
                <a:schemeClr val="dk1"/>
              </a:solidFill>
            </a:endParaRPr>
          </a:p>
        </p:txBody>
      </p:sp>
      <p:sp>
        <p:nvSpPr>
          <p:cNvPr id="5941" name="Google Shape;5941;p388"/>
          <p:cNvSpPr txBox="1">
            <a:spLocks noGrp="1"/>
          </p:cNvSpPr>
          <p:nvPr>
            <p:ph type="sldNum" idx="12"/>
          </p:nvPr>
        </p:nvSpPr>
        <p:spPr>
          <a:xfrm>
            <a:off x="11477033" y="6609600"/>
            <a:ext cx="349200" cy="140800"/>
          </a:xfrm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2</a:t>
            </a:fld>
            <a:endParaRPr/>
          </a:p>
        </p:txBody>
      </p:sp>
      <p:sp>
        <p:nvSpPr>
          <p:cNvPr id="5942" name="Google Shape;5942;p388"/>
          <p:cNvSpPr txBox="1">
            <a:spLocks noGrp="1"/>
          </p:cNvSpPr>
          <p:nvPr>
            <p:ph type="subTitle" idx="1"/>
          </p:nvPr>
        </p:nvSpPr>
        <p:spPr>
          <a:xfrm>
            <a:off x="0" y="901300"/>
            <a:ext cx="12192000" cy="486400"/>
          </a:xfrm>
          <a:prstGeom prst="rect">
            <a:avLst/>
          </a:prstGeom>
        </p:spPr>
        <p:txBody>
          <a:bodyPr spcFirstLastPara="1" vert="horz" wrap="square" lIns="609600" tIns="121900" rIns="609600" bIns="0" rtlCol="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">
                <a:solidFill>
                  <a:schemeClr val="dk1"/>
                </a:solidFill>
              </a:rPr>
              <a:t>By the end of this lesson, you will be able to:</a:t>
            </a:r>
            <a:endParaRPr/>
          </a:p>
        </p:txBody>
      </p:sp>
      <p:sp>
        <p:nvSpPr>
          <p:cNvPr id="5943" name="Google Shape;5943;p388"/>
          <p:cNvSpPr txBox="1">
            <a:spLocks noGrp="1"/>
          </p:cNvSpPr>
          <p:nvPr>
            <p:ph type="subTitle" idx="3"/>
          </p:nvPr>
        </p:nvSpPr>
        <p:spPr>
          <a:xfrm>
            <a:off x="16300" y="2025339"/>
            <a:ext cx="12192000" cy="809200"/>
          </a:xfrm>
          <a:prstGeom prst="rect">
            <a:avLst/>
          </a:prstGeom>
        </p:spPr>
        <p:txBody>
          <a:bodyPr spcFirstLastPara="1" vert="horz" wrap="square" lIns="2072633" tIns="0" rIns="609600" bIns="0" rtlCol="0" anchor="ctr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-US" sz="1867" dirty="0"/>
              <a:t>Exploring the Power BI Desktop Interface</a:t>
            </a:r>
          </a:p>
        </p:txBody>
      </p:sp>
      <p:sp>
        <p:nvSpPr>
          <p:cNvPr id="5944" name="Google Shape;5944;p388"/>
          <p:cNvSpPr txBox="1">
            <a:spLocks noGrp="1"/>
          </p:cNvSpPr>
          <p:nvPr>
            <p:ph type="subTitle" idx="4"/>
          </p:nvPr>
        </p:nvSpPr>
        <p:spPr>
          <a:xfrm>
            <a:off x="-16400" y="3148560"/>
            <a:ext cx="12224800" cy="809200"/>
          </a:xfrm>
          <a:prstGeom prst="rect">
            <a:avLst/>
          </a:prstGeom>
        </p:spPr>
        <p:txBody>
          <a:bodyPr spcFirstLastPara="1" vert="horz" wrap="square" lIns="2072633" tIns="0" rIns="609600" bIns="0" rtlCol="0" anchor="ctr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-US" sz="2000" dirty="0"/>
              <a:t>Connecting to various data source</a:t>
            </a:r>
          </a:p>
        </p:txBody>
      </p:sp>
      <p:sp>
        <p:nvSpPr>
          <p:cNvPr id="5945" name="Google Shape;5945;p388"/>
          <p:cNvSpPr txBox="1">
            <a:spLocks noGrp="1"/>
          </p:cNvSpPr>
          <p:nvPr>
            <p:ph type="subTitle" idx="5"/>
          </p:nvPr>
        </p:nvSpPr>
        <p:spPr>
          <a:xfrm>
            <a:off x="0" y="4266092"/>
            <a:ext cx="12224800" cy="809200"/>
          </a:xfrm>
          <a:prstGeom prst="rect">
            <a:avLst/>
          </a:prstGeom>
        </p:spPr>
        <p:txBody>
          <a:bodyPr spcFirstLastPara="1" vert="horz" wrap="square" lIns="2072633" tIns="0" rIns="609600" bIns="0" rtlCol="0" anchor="ctr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-US" sz="1867" dirty="0"/>
              <a:t>Import and join data within </a:t>
            </a:r>
            <a:r>
              <a:rPr lang="en-US" sz="2000" dirty="0"/>
              <a:t>Power BI </a:t>
            </a:r>
            <a:endParaRPr lang="en-US" sz="1867" dirty="0"/>
          </a:p>
        </p:txBody>
      </p:sp>
      <p:sp>
        <p:nvSpPr>
          <p:cNvPr id="5946" name="Google Shape;5946;p388"/>
          <p:cNvSpPr txBox="1">
            <a:spLocks noGrp="1"/>
          </p:cNvSpPr>
          <p:nvPr>
            <p:ph type="subTitle" idx="6"/>
          </p:nvPr>
        </p:nvSpPr>
        <p:spPr>
          <a:xfrm>
            <a:off x="-16400" y="5400156"/>
            <a:ext cx="12224800" cy="809200"/>
          </a:xfrm>
          <a:prstGeom prst="rect">
            <a:avLst/>
          </a:prstGeom>
        </p:spPr>
        <p:txBody>
          <a:bodyPr spcFirstLastPara="1" vert="horz" wrap="square" lIns="2072633" tIns="0" rIns="609600" bIns="0" rtlCol="0" anchor="ctr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-US" sz="1867" dirty="0"/>
              <a:t>Create and style worksheets and stories in </a:t>
            </a:r>
            <a:r>
              <a:rPr lang="en-US" sz="2000" dirty="0"/>
              <a:t>Power BI </a:t>
            </a:r>
            <a:endParaRPr lang="en-US" sz="186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7" name="Google Shape;5957;p39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3</a:t>
            </a:fld>
            <a:endParaRPr/>
          </a:p>
        </p:txBody>
      </p:sp>
      <p:pic>
        <p:nvPicPr>
          <p:cNvPr id="5958" name="Google Shape;5958;p3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12192000" cy="6857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4</a:t>
            </a:fld>
            <a:endParaRPr/>
          </a:p>
        </p:txBody>
      </p:sp>
      <p:sp>
        <p:nvSpPr>
          <p:cNvPr id="5981" name="Google Shape;5981;p393"/>
          <p:cNvSpPr txBox="1">
            <a:spLocks noGrp="1"/>
          </p:cNvSpPr>
          <p:nvPr>
            <p:ph type="title" idx="2"/>
          </p:nvPr>
        </p:nvSpPr>
        <p:spPr>
          <a:xfrm>
            <a:off x="1142999" y="1441021"/>
            <a:ext cx="11477715" cy="1465899"/>
          </a:xfrm>
          <a:prstGeom prst="rect">
            <a:avLst/>
          </a:prstGeom>
        </p:spPr>
        <p:txBody>
          <a:bodyPr spcFirstLastPara="1" vert="horz" wrap="square" lIns="3413733" tIns="0" rIns="609600" bIns="6096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3067" b="1" dirty="0"/>
              <a:t>Instructor Demonstration</a:t>
            </a:r>
            <a:r>
              <a:rPr lang="en" sz="3067" b="1" dirty="0"/>
              <a:t>: Power BI Exploration </a:t>
            </a:r>
            <a:endParaRPr sz="3067" b="1" dirty="0"/>
          </a:p>
          <a:p>
            <a:pPr>
              <a:buClr>
                <a:schemeClr val="dk1"/>
              </a:buClr>
              <a:buSzPts val="1100"/>
            </a:pPr>
            <a:endParaRPr sz="3067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C09200">
              <a:alpha val="49804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5 minutes </a:t>
            </a:r>
          </a:p>
        </p:txBody>
      </p:sp>
      <p:pic>
        <p:nvPicPr>
          <p:cNvPr id="12" name="Picture 11" descr="A person standing in front of a board&#10;&#10;Description automatically generated">
            <a:extLst>
              <a:ext uri="{FF2B5EF4-FFF2-40B4-BE49-F238E27FC236}">
                <a16:creationId xmlns:a16="http://schemas.microsoft.com/office/drawing/2014/main" id="{BDD304A6-4CD0-33A5-D245-AA55A57929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6991"/>
            <a:ext cx="3977456" cy="406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646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3A33D-545B-E31A-E6C3-58A59F77B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 need BI</a:t>
            </a:r>
          </a:p>
        </p:txBody>
      </p:sp>
      <p:sp>
        <p:nvSpPr>
          <p:cNvPr id="4" name="사다리꼴 1645">
            <a:extLst>
              <a:ext uri="{FF2B5EF4-FFF2-40B4-BE49-F238E27FC236}">
                <a16:creationId xmlns:a16="http://schemas.microsoft.com/office/drawing/2014/main" id="{646486A2-63B4-5033-F760-FB8CCF225C7B}"/>
              </a:ext>
            </a:extLst>
          </p:cNvPr>
          <p:cNvSpPr/>
          <p:nvPr/>
        </p:nvSpPr>
        <p:spPr>
          <a:xfrm rot="14400000">
            <a:off x="3469964" y="3881334"/>
            <a:ext cx="2102370" cy="585779"/>
          </a:xfrm>
          <a:prstGeom prst="trapezoid">
            <a:avLst>
              <a:gd name="adj" fmla="val 5642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Group 13">
            <a:extLst>
              <a:ext uri="{FF2B5EF4-FFF2-40B4-BE49-F238E27FC236}">
                <a16:creationId xmlns:a16="http://schemas.microsoft.com/office/drawing/2014/main" id="{D7EEFB30-A845-5520-D26E-D13D0D5258C7}"/>
              </a:ext>
            </a:extLst>
          </p:cNvPr>
          <p:cNvGrpSpPr/>
          <p:nvPr/>
        </p:nvGrpSpPr>
        <p:grpSpPr>
          <a:xfrm>
            <a:off x="9182410" y="3539197"/>
            <a:ext cx="2207354" cy="893296"/>
            <a:chOff x="9023213" y="2973444"/>
            <a:chExt cx="2207354" cy="893296"/>
          </a:xfrm>
        </p:grpSpPr>
        <p:grpSp>
          <p:nvGrpSpPr>
            <p:cNvPr id="6" name="Group 66">
              <a:extLst>
                <a:ext uri="{FF2B5EF4-FFF2-40B4-BE49-F238E27FC236}">
                  <a16:creationId xmlns:a16="http://schemas.microsoft.com/office/drawing/2014/main" id="{568663FC-D5A5-A18E-CD16-058A79F1A1A9}"/>
                </a:ext>
              </a:extLst>
            </p:cNvPr>
            <p:cNvGrpSpPr/>
            <p:nvPr/>
          </p:nvGrpSpPr>
          <p:grpSpPr>
            <a:xfrm>
              <a:off x="9023213" y="2996321"/>
              <a:ext cx="276999" cy="276999"/>
              <a:chOff x="2411760" y="3606832"/>
              <a:chExt cx="206152" cy="206152"/>
            </a:xfrm>
          </p:grpSpPr>
          <p:sp>
            <p:nvSpPr>
              <p:cNvPr id="11" name="Oval 72">
                <a:extLst>
                  <a:ext uri="{FF2B5EF4-FFF2-40B4-BE49-F238E27FC236}">
                    <a16:creationId xmlns:a16="http://schemas.microsoft.com/office/drawing/2014/main" id="{D59A8A5C-6FDE-83D5-5F22-B2A8ED45DBFE}"/>
                  </a:ext>
                </a:extLst>
              </p:cNvPr>
              <p:cNvSpPr/>
              <p:nvPr/>
            </p:nvSpPr>
            <p:spPr>
              <a:xfrm>
                <a:off x="2411760" y="3606832"/>
                <a:ext cx="206152" cy="20615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endParaRPr>
              </a:p>
            </p:txBody>
          </p:sp>
          <p:sp>
            <p:nvSpPr>
              <p:cNvPr id="12" name="Chevron 60">
                <a:extLst>
                  <a:ext uri="{FF2B5EF4-FFF2-40B4-BE49-F238E27FC236}">
                    <a16:creationId xmlns:a16="http://schemas.microsoft.com/office/drawing/2014/main" id="{DDE3C015-D02D-2861-E0B9-96A96633C0D6}"/>
                  </a:ext>
                </a:extLst>
              </p:cNvPr>
              <p:cNvSpPr/>
              <p:nvPr/>
            </p:nvSpPr>
            <p:spPr>
              <a:xfrm>
                <a:off x="2473351" y="3645566"/>
                <a:ext cx="106415" cy="128684"/>
              </a:xfrm>
              <a:prstGeom prst="chevron">
                <a:avLst>
                  <a:gd name="adj" fmla="val 5286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endParaRPr>
              </a:p>
            </p:txBody>
          </p:sp>
        </p:grpSp>
        <p:grpSp>
          <p:nvGrpSpPr>
            <p:cNvPr id="7" name="Group 67">
              <a:extLst>
                <a:ext uri="{FF2B5EF4-FFF2-40B4-BE49-F238E27FC236}">
                  <a16:creationId xmlns:a16="http://schemas.microsoft.com/office/drawing/2014/main" id="{BD15B512-BCF1-0ADA-F6B8-7425C2786DC8}"/>
                </a:ext>
              </a:extLst>
            </p:cNvPr>
            <p:cNvGrpSpPr/>
            <p:nvPr/>
          </p:nvGrpSpPr>
          <p:grpSpPr>
            <a:xfrm>
              <a:off x="9300212" y="2973444"/>
              <a:ext cx="1930355" cy="893296"/>
              <a:chOff x="2140088" y="4456378"/>
              <a:chExt cx="1930355" cy="893296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3852025-6070-CF59-CF1F-906D128E2242}"/>
                  </a:ext>
                </a:extLst>
              </p:cNvPr>
              <p:cNvSpPr txBox="1"/>
              <p:nvPr/>
            </p:nvSpPr>
            <p:spPr>
              <a:xfrm>
                <a:off x="2140088" y="4456378"/>
                <a:ext cx="1930354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endPara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6E6056-5D90-F66E-7643-F28CA7312DC2}"/>
                  </a:ext>
                </a:extLst>
              </p:cNvPr>
              <p:cNvSpPr txBox="1"/>
              <p:nvPr/>
            </p:nvSpPr>
            <p:spPr>
              <a:xfrm>
                <a:off x="2140088" y="4517934"/>
                <a:ext cx="1930355" cy="76944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Fast answer to any business Query</a:t>
                </a:r>
                <a:endPara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endParaRPr>
              </a:p>
              <a:p>
                <a:endPara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E1F78A-C68E-2350-E671-E141D20A1CC5}"/>
                  </a:ext>
                </a:extLst>
              </p:cNvPr>
              <p:cNvSpPr txBox="1"/>
              <p:nvPr/>
            </p:nvSpPr>
            <p:spPr>
              <a:xfrm>
                <a:off x="2140088" y="5072675"/>
                <a:ext cx="1930355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endPara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grpSp>
        <p:nvGrpSpPr>
          <p:cNvPr id="13" name="Group 74">
            <a:extLst>
              <a:ext uri="{FF2B5EF4-FFF2-40B4-BE49-F238E27FC236}">
                <a16:creationId xmlns:a16="http://schemas.microsoft.com/office/drawing/2014/main" id="{7373AAF2-17B7-CE4C-34F2-81923D936FEF}"/>
              </a:ext>
            </a:extLst>
          </p:cNvPr>
          <p:cNvGrpSpPr/>
          <p:nvPr/>
        </p:nvGrpSpPr>
        <p:grpSpPr>
          <a:xfrm>
            <a:off x="8078734" y="1799855"/>
            <a:ext cx="2207354" cy="738664"/>
            <a:chOff x="9023213" y="2973444"/>
            <a:chExt cx="2207354" cy="738664"/>
          </a:xfrm>
        </p:grpSpPr>
        <p:grpSp>
          <p:nvGrpSpPr>
            <p:cNvPr id="14" name="Group 75">
              <a:extLst>
                <a:ext uri="{FF2B5EF4-FFF2-40B4-BE49-F238E27FC236}">
                  <a16:creationId xmlns:a16="http://schemas.microsoft.com/office/drawing/2014/main" id="{C304F0F6-2D6E-6956-C1B0-C27A90B33A8B}"/>
                </a:ext>
              </a:extLst>
            </p:cNvPr>
            <p:cNvGrpSpPr/>
            <p:nvPr/>
          </p:nvGrpSpPr>
          <p:grpSpPr>
            <a:xfrm>
              <a:off x="9023213" y="2996321"/>
              <a:ext cx="276999" cy="276999"/>
              <a:chOff x="2411760" y="3606832"/>
              <a:chExt cx="206152" cy="206152"/>
            </a:xfrm>
          </p:grpSpPr>
          <p:sp>
            <p:nvSpPr>
              <p:cNvPr id="19" name="Oval 80">
                <a:extLst>
                  <a:ext uri="{FF2B5EF4-FFF2-40B4-BE49-F238E27FC236}">
                    <a16:creationId xmlns:a16="http://schemas.microsoft.com/office/drawing/2014/main" id="{B6C4F49D-4956-91DC-2AAF-DA780E75EA2A}"/>
                  </a:ext>
                </a:extLst>
              </p:cNvPr>
              <p:cNvSpPr/>
              <p:nvPr/>
            </p:nvSpPr>
            <p:spPr>
              <a:xfrm>
                <a:off x="2411760" y="3606832"/>
                <a:ext cx="206152" cy="20615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endParaRPr>
              </a:p>
            </p:txBody>
          </p:sp>
          <p:sp>
            <p:nvSpPr>
              <p:cNvPr id="20" name="Chevron 60">
                <a:extLst>
                  <a:ext uri="{FF2B5EF4-FFF2-40B4-BE49-F238E27FC236}">
                    <a16:creationId xmlns:a16="http://schemas.microsoft.com/office/drawing/2014/main" id="{34CE2926-DD47-1810-C5DD-5D5F7C5C3BE3}"/>
                  </a:ext>
                </a:extLst>
              </p:cNvPr>
              <p:cNvSpPr/>
              <p:nvPr/>
            </p:nvSpPr>
            <p:spPr>
              <a:xfrm>
                <a:off x="2473351" y="3645566"/>
                <a:ext cx="106415" cy="128684"/>
              </a:xfrm>
              <a:prstGeom prst="chevron">
                <a:avLst>
                  <a:gd name="adj" fmla="val 5286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endParaRPr>
              </a:p>
            </p:txBody>
          </p:sp>
        </p:grpSp>
        <p:grpSp>
          <p:nvGrpSpPr>
            <p:cNvPr id="15" name="Group 76">
              <a:extLst>
                <a:ext uri="{FF2B5EF4-FFF2-40B4-BE49-F238E27FC236}">
                  <a16:creationId xmlns:a16="http://schemas.microsoft.com/office/drawing/2014/main" id="{4B876263-34A2-0753-17BE-B94EB73CC275}"/>
                </a:ext>
              </a:extLst>
            </p:cNvPr>
            <p:cNvGrpSpPr/>
            <p:nvPr/>
          </p:nvGrpSpPr>
          <p:grpSpPr>
            <a:xfrm>
              <a:off x="9300212" y="2973444"/>
              <a:ext cx="1930355" cy="738664"/>
              <a:chOff x="2140088" y="4456378"/>
              <a:chExt cx="1930355" cy="738664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236AA72-432B-75D8-5D1B-E11A58435F54}"/>
                  </a:ext>
                </a:extLst>
              </p:cNvPr>
              <p:cNvSpPr txBox="1"/>
              <p:nvPr/>
            </p:nvSpPr>
            <p:spPr>
              <a:xfrm>
                <a:off x="2140088" y="4456378"/>
                <a:ext cx="1930354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endPara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C7DCEDC-2488-D478-980B-873B113E5912}"/>
                  </a:ext>
                </a:extLst>
              </p:cNvPr>
              <p:cNvSpPr txBox="1"/>
              <p:nvPr/>
            </p:nvSpPr>
            <p:spPr>
              <a:xfrm>
                <a:off x="2140088" y="4610267"/>
                <a:ext cx="1930355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a typeface="+mj-ea"/>
                  </a:rPr>
                  <a:t>Support decision making </a:t>
                </a:r>
              </a:p>
            </p:txBody>
          </p:sp>
        </p:grpSp>
      </p:grpSp>
      <p:grpSp>
        <p:nvGrpSpPr>
          <p:cNvPr id="21" name="Group 82">
            <a:extLst>
              <a:ext uri="{FF2B5EF4-FFF2-40B4-BE49-F238E27FC236}">
                <a16:creationId xmlns:a16="http://schemas.microsoft.com/office/drawing/2014/main" id="{8A881363-22AF-CD06-7190-648D189CA3DF}"/>
              </a:ext>
            </a:extLst>
          </p:cNvPr>
          <p:cNvGrpSpPr/>
          <p:nvPr/>
        </p:nvGrpSpPr>
        <p:grpSpPr>
          <a:xfrm>
            <a:off x="8078734" y="5278538"/>
            <a:ext cx="2207354" cy="893296"/>
            <a:chOff x="9023213" y="2973444"/>
            <a:chExt cx="2207354" cy="893296"/>
          </a:xfrm>
        </p:grpSpPr>
        <p:grpSp>
          <p:nvGrpSpPr>
            <p:cNvPr id="22" name="Group 83">
              <a:extLst>
                <a:ext uri="{FF2B5EF4-FFF2-40B4-BE49-F238E27FC236}">
                  <a16:creationId xmlns:a16="http://schemas.microsoft.com/office/drawing/2014/main" id="{FD57312C-E3D1-58F8-B84E-21C1CBD352A2}"/>
                </a:ext>
              </a:extLst>
            </p:cNvPr>
            <p:cNvGrpSpPr/>
            <p:nvPr/>
          </p:nvGrpSpPr>
          <p:grpSpPr>
            <a:xfrm>
              <a:off x="9023213" y="2996321"/>
              <a:ext cx="276999" cy="276999"/>
              <a:chOff x="2411760" y="3606832"/>
              <a:chExt cx="206152" cy="206152"/>
            </a:xfrm>
          </p:grpSpPr>
          <p:sp>
            <p:nvSpPr>
              <p:cNvPr id="27" name="Oval 88">
                <a:extLst>
                  <a:ext uri="{FF2B5EF4-FFF2-40B4-BE49-F238E27FC236}">
                    <a16:creationId xmlns:a16="http://schemas.microsoft.com/office/drawing/2014/main" id="{2E4FA89F-D64A-F49D-2DE7-E178BD6F2F37}"/>
                  </a:ext>
                </a:extLst>
              </p:cNvPr>
              <p:cNvSpPr/>
              <p:nvPr/>
            </p:nvSpPr>
            <p:spPr>
              <a:xfrm>
                <a:off x="2411760" y="3606832"/>
                <a:ext cx="206152" cy="206152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endParaRPr>
              </a:p>
            </p:txBody>
          </p:sp>
          <p:sp>
            <p:nvSpPr>
              <p:cNvPr id="28" name="Chevron 60">
                <a:extLst>
                  <a:ext uri="{FF2B5EF4-FFF2-40B4-BE49-F238E27FC236}">
                    <a16:creationId xmlns:a16="http://schemas.microsoft.com/office/drawing/2014/main" id="{A5FD566D-244A-D017-9931-6D3E725EE2D2}"/>
                  </a:ext>
                </a:extLst>
              </p:cNvPr>
              <p:cNvSpPr/>
              <p:nvPr/>
            </p:nvSpPr>
            <p:spPr>
              <a:xfrm>
                <a:off x="2473351" y="3645566"/>
                <a:ext cx="106415" cy="128684"/>
              </a:xfrm>
              <a:prstGeom prst="chevron">
                <a:avLst>
                  <a:gd name="adj" fmla="val 5286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endParaRPr>
              </a:p>
            </p:txBody>
          </p:sp>
        </p:grpSp>
        <p:grpSp>
          <p:nvGrpSpPr>
            <p:cNvPr id="23" name="Group 84">
              <a:extLst>
                <a:ext uri="{FF2B5EF4-FFF2-40B4-BE49-F238E27FC236}">
                  <a16:creationId xmlns:a16="http://schemas.microsoft.com/office/drawing/2014/main" id="{A72A2708-C333-5C98-BB40-471B85ADA69F}"/>
                </a:ext>
              </a:extLst>
            </p:cNvPr>
            <p:cNvGrpSpPr/>
            <p:nvPr/>
          </p:nvGrpSpPr>
          <p:grpSpPr>
            <a:xfrm>
              <a:off x="9300212" y="2973444"/>
              <a:ext cx="1930355" cy="893296"/>
              <a:chOff x="2140088" y="4456378"/>
              <a:chExt cx="1930355" cy="893296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FC506C1-0D14-0D14-E0EF-4044F52DF948}"/>
                  </a:ext>
                </a:extLst>
              </p:cNvPr>
              <p:cNvSpPr txBox="1"/>
              <p:nvPr/>
            </p:nvSpPr>
            <p:spPr>
              <a:xfrm>
                <a:off x="2140088" y="4456378"/>
                <a:ext cx="1930354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endPara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720652D-F722-DF49-2B61-D1047328DE34}"/>
                  </a:ext>
                </a:extLst>
              </p:cNvPr>
              <p:cNvSpPr txBox="1"/>
              <p:nvPr/>
            </p:nvSpPr>
            <p:spPr>
              <a:xfrm>
                <a:off x="2140088" y="4487156"/>
                <a:ext cx="1930355" cy="83099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Enables Real-Time Analysis with Quick Navigation </a:t>
                </a:r>
                <a:endPara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266DD0C-6426-9BC5-3D67-19EBBE97CF0C}"/>
                  </a:ext>
                </a:extLst>
              </p:cNvPr>
              <p:cNvSpPr txBox="1"/>
              <p:nvPr/>
            </p:nvSpPr>
            <p:spPr>
              <a:xfrm>
                <a:off x="2140088" y="5072675"/>
                <a:ext cx="1930355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endPara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grpSp>
        <p:nvGrpSpPr>
          <p:cNvPr id="29" name="Group 91">
            <a:extLst>
              <a:ext uri="{FF2B5EF4-FFF2-40B4-BE49-F238E27FC236}">
                <a16:creationId xmlns:a16="http://schemas.microsoft.com/office/drawing/2014/main" id="{25C8C77B-DC33-832D-9A0D-F4D050693CB2}"/>
              </a:ext>
            </a:extLst>
          </p:cNvPr>
          <p:cNvGrpSpPr/>
          <p:nvPr/>
        </p:nvGrpSpPr>
        <p:grpSpPr>
          <a:xfrm flipH="1">
            <a:off x="359997" y="3539197"/>
            <a:ext cx="2649593" cy="893296"/>
            <a:chOff x="9023213" y="2973444"/>
            <a:chExt cx="2649593" cy="893296"/>
          </a:xfrm>
        </p:grpSpPr>
        <p:grpSp>
          <p:nvGrpSpPr>
            <p:cNvPr id="30" name="Group 108">
              <a:extLst>
                <a:ext uri="{FF2B5EF4-FFF2-40B4-BE49-F238E27FC236}">
                  <a16:creationId xmlns:a16="http://schemas.microsoft.com/office/drawing/2014/main" id="{8640BB45-A1D6-6C5B-1E1A-06F77A2D25AB}"/>
                </a:ext>
              </a:extLst>
            </p:cNvPr>
            <p:cNvGrpSpPr/>
            <p:nvPr/>
          </p:nvGrpSpPr>
          <p:grpSpPr>
            <a:xfrm>
              <a:off x="9023213" y="2996321"/>
              <a:ext cx="276999" cy="276999"/>
              <a:chOff x="2411760" y="3606832"/>
              <a:chExt cx="206152" cy="206152"/>
            </a:xfrm>
          </p:grpSpPr>
          <p:sp>
            <p:nvSpPr>
              <p:cNvPr id="35" name="Oval 113">
                <a:extLst>
                  <a:ext uri="{FF2B5EF4-FFF2-40B4-BE49-F238E27FC236}">
                    <a16:creationId xmlns:a16="http://schemas.microsoft.com/office/drawing/2014/main" id="{825CEC76-2628-1BAF-C5CC-F48B5B8AB4B0}"/>
                  </a:ext>
                </a:extLst>
              </p:cNvPr>
              <p:cNvSpPr/>
              <p:nvPr/>
            </p:nvSpPr>
            <p:spPr>
              <a:xfrm>
                <a:off x="2411760" y="3606832"/>
                <a:ext cx="206152" cy="20615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endParaRPr>
              </a:p>
            </p:txBody>
          </p:sp>
          <p:sp>
            <p:nvSpPr>
              <p:cNvPr id="36" name="Chevron 60">
                <a:extLst>
                  <a:ext uri="{FF2B5EF4-FFF2-40B4-BE49-F238E27FC236}">
                    <a16:creationId xmlns:a16="http://schemas.microsoft.com/office/drawing/2014/main" id="{BB113939-6895-877B-7F29-53FC8A25C2F0}"/>
                  </a:ext>
                </a:extLst>
              </p:cNvPr>
              <p:cNvSpPr/>
              <p:nvPr/>
            </p:nvSpPr>
            <p:spPr>
              <a:xfrm>
                <a:off x="2473351" y="3645566"/>
                <a:ext cx="106415" cy="128684"/>
              </a:xfrm>
              <a:prstGeom prst="chevron">
                <a:avLst>
                  <a:gd name="adj" fmla="val 5286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endParaRPr>
              </a:p>
            </p:txBody>
          </p:sp>
        </p:grpSp>
        <p:grpSp>
          <p:nvGrpSpPr>
            <p:cNvPr id="31" name="Group 109">
              <a:extLst>
                <a:ext uri="{FF2B5EF4-FFF2-40B4-BE49-F238E27FC236}">
                  <a16:creationId xmlns:a16="http://schemas.microsoft.com/office/drawing/2014/main" id="{2F4B01F3-B758-F7CD-C0B1-426233BF7064}"/>
                </a:ext>
              </a:extLst>
            </p:cNvPr>
            <p:cNvGrpSpPr/>
            <p:nvPr/>
          </p:nvGrpSpPr>
          <p:grpSpPr>
            <a:xfrm>
              <a:off x="9300212" y="2973444"/>
              <a:ext cx="2372594" cy="893296"/>
              <a:chOff x="2140088" y="4456378"/>
              <a:chExt cx="2372594" cy="893296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98CDA8B-DD39-17CA-A6CE-0243A9C60B20}"/>
                  </a:ext>
                </a:extLst>
              </p:cNvPr>
              <p:cNvSpPr txBox="1"/>
              <p:nvPr/>
            </p:nvSpPr>
            <p:spPr>
              <a:xfrm>
                <a:off x="2140088" y="4456378"/>
                <a:ext cx="1930354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r"/>
                <a:endPara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051C9C6-F1AC-3E44-5FFB-482F3A418D99}"/>
                  </a:ext>
                </a:extLst>
              </p:cNvPr>
              <p:cNvSpPr txBox="1"/>
              <p:nvPr/>
            </p:nvSpPr>
            <p:spPr>
              <a:xfrm>
                <a:off x="2140088" y="4610267"/>
                <a:ext cx="2372594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r"/>
                <a:r>
                  <a:rPr lang="en-US" altLang="ko-K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Understanding current and potential risks</a:t>
                </a:r>
                <a:endPara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5534DB4-FA5D-C458-3B9E-69580902B357}"/>
                  </a:ext>
                </a:extLst>
              </p:cNvPr>
              <p:cNvSpPr txBox="1"/>
              <p:nvPr/>
            </p:nvSpPr>
            <p:spPr>
              <a:xfrm>
                <a:off x="2140088" y="5072675"/>
                <a:ext cx="1930355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r"/>
                <a:endPara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grpSp>
        <p:nvGrpSpPr>
          <p:cNvPr id="37" name="Group 92">
            <a:extLst>
              <a:ext uri="{FF2B5EF4-FFF2-40B4-BE49-F238E27FC236}">
                <a16:creationId xmlns:a16="http://schemas.microsoft.com/office/drawing/2014/main" id="{FAE1C8E4-3D03-0768-207D-5991F6C887F2}"/>
              </a:ext>
            </a:extLst>
          </p:cNvPr>
          <p:cNvGrpSpPr/>
          <p:nvPr/>
        </p:nvGrpSpPr>
        <p:grpSpPr>
          <a:xfrm flipH="1">
            <a:off x="1110343" y="1799855"/>
            <a:ext cx="3002923" cy="893296"/>
            <a:chOff x="9023213" y="2973444"/>
            <a:chExt cx="3002923" cy="893296"/>
          </a:xfrm>
        </p:grpSpPr>
        <p:grpSp>
          <p:nvGrpSpPr>
            <p:cNvPr id="38" name="Group 101">
              <a:extLst>
                <a:ext uri="{FF2B5EF4-FFF2-40B4-BE49-F238E27FC236}">
                  <a16:creationId xmlns:a16="http://schemas.microsoft.com/office/drawing/2014/main" id="{5D920F17-A3E6-CA1F-2E22-AFF0E032FF8E}"/>
                </a:ext>
              </a:extLst>
            </p:cNvPr>
            <p:cNvGrpSpPr/>
            <p:nvPr/>
          </p:nvGrpSpPr>
          <p:grpSpPr>
            <a:xfrm>
              <a:off x="9023213" y="2996321"/>
              <a:ext cx="276999" cy="276999"/>
              <a:chOff x="2411760" y="3606832"/>
              <a:chExt cx="206152" cy="206152"/>
            </a:xfrm>
          </p:grpSpPr>
          <p:sp>
            <p:nvSpPr>
              <p:cNvPr id="43" name="Oval 106">
                <a:extLst>
                  <a:ext uri="{FF2B5EF4-FFF2-40B4-BE49-F238E27FC236}">
                    <a16:creationId xmlns:a16="http://schemas.microsoft.com/office/drawing/2014/main" id="{F33C8555-D17E-2019-7409-CBC1ED426304}"/>
                  </a:ext>
                </a:extLst>
              </p:cNvPr>
              <p:cNvSpPr/>
              <p:nvPr/>
            </p:nvSpPr>
            <p:spPr>
              <a:xfrm>
                <a:off x="2411760" y="3606832"/>
                <a:ext cx="206152" cy="20615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endParaRPr>
              </a:p>
            </p:txBody>
          </p:sp>
          <p:sp>
            <p:nvSpPr>
              <p:cNvPr id="44" name="Chevron 60">
                <a:extLst>
                  <a:ext uri="{FF2B5EF4-FFF2-40B4-BE49-F238E27FC236}">
                    <a16:creationId xmlns:a16="http://schemas.microsoft.com/office/drawing/2014/main" id="{048160BE-CEC6-3653-B330-CBD2DD2E0B97}"/>
                  </a:ext>
                </a:extLst>
              </p:cNvPr>
              <p:cNvSpPr/>
              <p:nvPr/>
            </p:nvSpPr>
            <p:spPr>
              <a:xfrm>
                <a:off x="2473351" y="3645566"/>
                <a:ext cx="106415" cy="128684"/>
              </a:xfrm>
              <a:prstGeom prst="chevron">
                <a:avLst>
                  <a:gd name="adj" fmla="val 5286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endParaRPr>
              </a:p>
            </p:txBody>
          </p:sp>
        </p:grpSp>
        <p:grpSp>
          <p:nvGrpSpPr>
            <p:cNvPr id="39" name="Group 102">
              <a:extLst>
                <a:ext uri="{FF2B5EF4-FFF2-40B4-BE49-F238E27FC236}">
                  <a16:creationId xmlns:a16="http://schemas.microsoft.com/office/drawing/2014/main" id="{FB304A01-D14A-A187-0BF5-357C40DEB89E}"/>
                </a:ext>
              </a:extLst>
            </p:cNvPr>
            <p:cNvGrpSpPr/>
            <p:nvPr/>
          </p:nvGrpSpPr>
          <p:grpSpPr>
            <a:xfrm>
              <a:off x="9300212" y="2973444"/>
              <a:ext cx="2725924" cy="893296"/>
              <a:chOff x="2140088" y="4456378"/>
              <a:chExt cx="2725924" cy="893296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16D184F-0018-34B4-3CE6-50C6393E2BBA}"/>
                  </a:ext>
                </a:extLst>
              </p:cNvPr>
              <p:cNvSpPr txBox="1"/>
              <p:nvPr/>
            </p:nvSpPr>
            <p:spPr>
              <a:xfrm>
                <a:off x="2140088" y="4456378"/>
                <a:ext cx="1930354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r"/>
                <a:endPara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3F5B7E5-74C5-2F99-A766-8E66CECCB5D9}"/>
                  </a:ext>
                </a:extLst>
              </p:cNvPr>
              <p:cNvSpPr txBox="1"/>
              <p:nvPr/>
            </p:nvSpPr>
            <p:spPr>
              <a:xfrm>
                <a:off x="2140088" y="4610267"/>
                <a:ext cx="2725924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r"/>
                <a:r>
                  <a:rPr lang="en-US" altLang="ko-K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Helps you Know your business better </a:t>
                </a:r>
                <a:endPara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CA8A766-892B-20BD-67C8-C62C0E3F15BF}"/>
                  </a:ext>
                </a:extLst>
              </p:cNvPr>
              <p:cNvSpPr txBox="1"/>
              <p:nvPr/>
            </p:nvSpPr>
            <p:spPr>
              <a:xfrm>
                <a:off x="2140088" y="5072675"/>
                <a:ext cx="1930355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r"/>
                <a:endPara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grpSp>
        <p:nvGrpSpPr>
          <p:cNvPr id="45" name="Group 93">
            <a:extLst>
              <a:ext uri="{FF2B5EF4-FFF2-40B4-BE49-F238E27FC236}">
                <a16:creationId xmlns:a16="http://schemas.microsoft.com/office/drawing/2014/main" id="{1F0C15B6-64C3-46DC-6285-861AF0C74E5B}"/>
              </a:ext>
            </a:extLst>
          </p:cNvPr>
          <p:cNvGrpSpPr/>
          <p:nvPr/>
        </p:nvGrpSpPr>
        <p:grpSpPr>
          <a:xfrm flipH="1">
            <a:off x="1905910" y="5278538"/>
            <a:ext cx="2207356" cy="893296"/>
            <a:chOff x="9023213" y="2973444"/>
            <a:chExt cx="2207356" cy="893296"/>
          </a:xfrm>
        </p:grpSpPr>
        <p:grpSp>
          <p:nvGrpSpPr>
            <p:cNvPr id="46" name="Group 94">
              <a:extLst>
                <a:ext uri="{FF2B5EF4-FFF2-40B4-BE49-F238E27FC236}">
                  <a16:creationId xmlns:a16="http://schemas.microsoft.com/office/drawing/2014/main" id="{4250A277-BE51-C119-FB98-6D0138523F86}"/>
                </a:ext>
              </a:extLst>
            </p:cNvPr>
            <p:cNvGrpSpPr/>
            <p:nvPr/>
          </p:nvGrpSpPr>
          <p:grpSpPr>
            <a:xfrm>
              <a:off x="9023213" y="2996321"/>
              <a:ext cx="276999" cy="276999"/>
              <a:chOff x="2411760" y="3606832"/>
              <a:chExt cx="206152" cy="206152"/>
            </a:xfrm>
          </p:grpSpPr>
          <p:sp>
            <p:nvSpPr>
              <p:cNvPr id="51" name="Oval 99">
                <a:extLst>
                  <a:ext uri="{FF2B5EF4-FFF2-40B4-BE49-F238E27FC236}">
                    <a16:creationId xmlns:a16="http://schemas.microsoft.com/office/drawing/2014/main" id="{7FC14443-DF46-3098-D59B-16D836DB0834}"/>
                  </a:ext>
                </a:extLst>
              </p:cNvPr>
              <p:cNvSpPr/>
              <p:nvPr/>
            </p:nvSpPr>
            <p:spPr>
              <a:xfrm>
                <a:off x="2411760" y="3606832"/>
                <a:ext cx="206152" cy="20615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endParaRPr>
              </a:p>
            </p:txBody>
          </p:sp>
          <p:sp>
            <p:nvSpPr>
              <p:cNvPr id="52" name="Chevron 60">
                <a:extLst>
                  <a:ext uri="{FF2B5EF4-FFF2-40B4-BE49-F238E27FC236}">
                    <a16:creationId xmlns:a16="http://schemas.microsoft.com/office/drawing/2014/main" id="{72D158A6-3915-A5FA-E6B1-8AC30654364B}"/>
                  </a:ext>
                </a:extLst>
              </p:cNvPr>
              <p:cNvSpPr/>
              <p:nvPr/>
            </p:nvSpPr>
            <p:spPr>
              <a:xfrm>
                <a:off x="2473351" y="3645566"/>
                <a:ext cx="106415" cy="128684"/>
              </a:xfrm>
              <a:prstGeom prst="chevron">
                <a:avLst>
                  <a:gd name="adj" fmla="val 5286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endParaRPr>
              </a:p>
            </p:txBody>
          </p:sp>
        </p:grpSp>
        <p:grpSp>
          <p:nvGrpSpPr>
            <p:cNvPr id="47" name="Group 95">
              <a:extLst>
                <a:ext uri="{FF2B5EF4-FFF2-40B4-BE49-F238E27FC236}">
                  <a16:creationId xmlns:a16="http://schemas.microsoft.com/office/drawing/2014/main" id="{42A32BBF-4068-9DAC-0736-ECC1FB5B43FF}"/>
                </a:ext>
              </a:extLst>
            </p:cNvPr>
            <p:cNvGrpSpPr/>
            <p:nvPr/>
          </p:nvGrpSpPr>
          <p:grpSpPr>
            <a:xfrm>
              <a:off x="9300212" y="2973444"/>
              <a:ext cx="1930357" cy="893296"/>
              <a:chOff x="2140088" y="4456378"/>
              <a:chExt cx="1930357" cy="893296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9F0323E-1A9A-881D-1F43-0B22681BE5CE}"/>
                  </a:ext>
                </a:extLst>
              </p:cNvPr>
              <p:cNvSpPr txBox="1"/>
              <p:nvPr/>
            </p:nvSpPr>
            <p:spPr>
              <a:xfrm>
                <a:off x="2140088" y="4456378"/>
                <a:ext cx="1930354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r"/>
                <a:endPara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7477EC1-E0EA-3517-2763-4CF75FAF04E8}"/>
                  </a:ext>
                </a:extLst>
              </p:cNvPr>
              <p:cNvSpPr txBox="1"/>
              <p:nvPr/>
            </p:nvSpPr>
            <p:spPr>
              <a:xfrm>
                <a:off x="2140089" y="4610267"/>
                <a:ext cx="1930356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Identify possible Opportunities</a:t>
                </a:r>
                <a:endPara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5A51B30-8C50-A1DF-8F01-D56C6EB3D169}"/>
                  </a:ext>
                </a:extLst>
              </p:cNvPr>
              <p:cNvSpPr txBox="1"/>
              <p:nvPr/>
            </p:nvSpPr>
            <p:spPr>
              <a:xfrm>
                <a:off x="2140088" y="5072675"/>
                <a:ext cx="1930355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r"/>
                <a:endPara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grpSp>
        <p:nvGrpSpPr>
          <p:cNvPr id="53" name="그룹 1694">
            <a:extLst>
              <a:ext uri="{FF2B5EF4-FFF2-40B4-BE49-F238E27FC236}">
                <a16:creationId xmlns:a16="http://schemas.microsoft.com/office/drawing/2014/main" id="{C4BC00EB-6097-31C0-0E03-CDDAD1DE89CA}"/>
              </a:ext>
            </a:extLst>
          </p:cNvPr>
          <p:cNvGrpSpPr/>
          <p:nvPr/>
        </p:nvGrpSpPr>
        <p:grpSpPr>
          <a:xfrm>
            <a:off x="4219853" y="1543388"/>
            <a:ext cx="4322706" cy="4469250"/>
            <a:chOff x="4201747" y="1434747"/>
            <a:chExt cx="4322706" cy="4469250"/>
          </a:xfrm>
        </p:grpSpPr>
        <p:sp>
          <p:nvSpPr>
            <p:cNvPr id="54" name="사다리꼴 1695">
              <a:extLst>
                <a:ext uri="{FF2B5EF4-FFF2-40B4-BE49-F238E27FC236}">
                  <a16:creationId xmlns:a16="http://schemas.microsoft.com/office/drawing/2014/main" id="{88413D78-1F62-F440-8986-37E84DED2E3F}"/>
                </a:ext>
              </a:extLst>
            </p:cNvPr>
            <p:cNvSpPr/>
            <p:nvPr/>
          </p:nvSpPr>
          <p:spPr>
            <a:xfrm>
              <a:off x="5490394" y="1735121"/>
              <a:ext cx="2562995" cy="641908"/>
            </a:xfrm>
            <a:prstGeom prst="trapezoid">
              <a:avLst>
                <a:gd name="adj" fmla="val 564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사다리꼴 1696">
              <a:extLst>
                <a:ext uri="{FF2B5EF4-FFF2-40B4-BE49-F238E27FC236}">
                  <a16:creationId xmlns:a16="http://schemas.microsoft.com/office/drawing/2014/main" id="{16EA2A93-38C1-77EA-80FA-9460B05B44A1}"/>
                </a:ext>
              </a:extLst>
            </p:cNvPr>
            <p:cNvSpPr/>
            <p:nvPr/>
          </p:nvSpPr>
          <p:spPr>
            <a:xfrm rot="3600000">
              <a:off x="7132935" y="2944755"/>
              <a:ext cx="2189080" cy="593956"/>
            </a:xfrm>
            <a:prstGeom prst="trapezoid">
              <a:avLst>
                <a:gd name="adj" fmla="val 56421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사다리꼴 1697">
              <a:extLst>
                <a:ext uri="{FF2B5EF4-FFF2-40B4-BE49-F238E27FC236}">
                  <a16:creationId xmlns:a16="http://schemas.microsoft.com/office/drawing/2014/main" id="{EC007A33-B254-28DB-9013-BFBCD3186308}"/>
                </a:ext>
              </a:extLst>
            </p:cNvPr>
            <p:cNvSpPr/>
            <p:nvPr/>
          </p:nvSpPr>
          <p:spPr>
            <a:xfrm rot="7200000">
              <a:off x="6679827" y="4428343"/>
              <a:ext cx="2216132" cy="735176"/>
            </a:xfrm>
            <a:prstGeom prst="trapezoid">
              <a:avLst>
                <a:gd name="adj" fmla="val 5642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사다리꼴 1698">
              <a:extLst>
                <a:ext uri="{FF2B5EF4-FFF2-40B4-BE49-F238E27FC236}">
                  <a16:creationId xmlns:a16="http://schemas.microsoft.com/office/drawing/2014/main" id="{76AD1AD1-23AF-1003-66DB-7284BE1E37FE}"/>
                </a:ext>
              </a:extLst>
            </p:cNvPr>
            <p:cNvSpPr/>
            <p:nvPr/>
          </p:nvSpPr>
          <p:spPr>
            <a:xfrm rot="10800000">
              <a:off x="4666450" y="4910954"/>
              <a:ext cx="2503465" cy="680003"/>
            </a:xfrm>
            <a:prstGeom prst="trapezoid">
              <a:avLst>
                <a:gd name="adj" fmla="val 564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사다리꼴 1699">
              <a:extLst>
                <a:ext uri="{FF2B5EF4-FFF2-40B4-BE49-F238E27FC236}">
                  <a16:creationId xmlns:a16="http://schemas.microsoft.com/office/drawing/2014/main" id="{D56FBC10-3EB3-8E12-569A-37DDC739C7EA}"/>
                </a:ext>
              </a:extLst>
            </p:cNvPr>
            <p:cNvSpPr/>
            <p:nvPr/>
          </p:nvSpPr>
          <p:spPr>
            <a:xfrm rot="17979950">
              <a:off x="3857013" y="2165667"/>
              <a:ext cx="2104384" cy="642543"/>
            </a:xfrm>
            <a:prstGeom prst="trapezoid">
              <a:avLst>
                <a:gd name="adj" fmla="val 56421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6679CEE-9EBE-7CF5-3D8C-BA5B97727042}"/>
                </a:ext>
              </a:extLst>
            </p:cNvPr>
            <p:cNvSpPr txBox="1"/>
            <p:nvPr/>
          </p:nvSpPr>
          <p:spPr>
            <a:xfrm>
              <a:off x="5777628" y="1735121"/>
              <a:ext cx="185499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bg1"/>
                  </a:solidFill>
                  <a:cs typeface="Arial" pitchFamily="34" charset="0"/>
                </a:rPr>
                <a:t>Improves Decision Making</a:t>
              </a:r>
              <a:endParaRPr lang="ko-KR" altLang="en-US" sz="1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097E7B3-F2F5-3F73-78E8-B98376D2CF19}"/>
                </a:ext>
              </a:extLst>
            </p:cNvPr>
            <p:cNvSpPr txBox="1"/>
            <p:nvPr/>
          </p:nvSpPr>
          <p:spPr>
            <a:xfrm rot="3600000">
              <a:off x="7541735" y="2838254"/>
              <a:ext cx="12546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bg1"/>
                  </a:solidFill>
                  <a:cs typeface="Arial" pitchFamily="34" charset="0"/>
                </a:rPr>
                <a:t>Business Query</a:t>
              </a:r>
              <a:endParaRPr lang="ko-KR" altLang="en-US" sz="1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706E692-7A61-A8FC-27CA-969FFFC97AA7}"/>
                </a:ext>
              </a:extLst>
            </p:cNvPr>
            <p:cNvSpPr txBox="1"/>
            <p:nvPr/>
          </p:nvSpPr>
          <p:spPr>
            <a:xfrm rot="7200000">
              <a:off x="7130449" y="4661325"/>
              <a:ext cx="12546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bg1"/>
                  </a:solidFill>
                  <a:cs typeface="Arial" pitchFamily="34" charset="0"/>
                </a:rPr>
                <a:t>Real Time </a:t>
              </a:r>
              <a:endParaRPr lang="ko-KR" altLang="en-US" sz="1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4A6E5A8-A2D8-6B5F-B6E1-D6A49598E575}"/>
                </a:ext>
              </a:extLst>
            </p:cNvPr>
            <p:cNvSpPr txBox="1"/>
            <p:nvPr/>
          </p:nvSpPr>
          <p:spPr>
            <a:xfrm>
              <a:off x="5287956" y="4976718"/>
              <a:ext cx="12546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bg1"/>
                  </a:solidFill>
                  <a:cs typeface="Arial" pitchFamily="34" charset="0"/>
                </a:rPr>
                <a:t>Identify </a:t>
              </a:r>
              <a:r>
                <a:rPr lang="en-US" altLang="ko-KR" sz="1600" b="1" dirty="0" err="1">
                  <a:solidFill>
                    <a:schemeClr val="bg1"/>
                  </a:solidFill>
                  <a:cs typeface="Arial" pitchFamily="34" charset="0"/>
                </a:rPr>
                <a:t>Opportuniti</a:t>
              </a:r>
              <a:endParaRPr lang="ko-KR" altLang="en-US" sz="1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056A779-EA41-4CF8-82C9-5AB29F8EBE71}"/>
                </a:ext>
              </a:extLst>
            </p:cNvPr>
            <p:cNvSpPr txBox="1"/>
            <p:nvPr/>
          </p:nvSpPr>
          <p:spPr>
            <a:xfrm rot="3600000">
              <a:off x="3676338" y="3749195"/>
              <a:ext cx="16355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bg1"/>
                  </a:solidFill>
                  <a:cs typeface="Arial" pitchFamily="34" charset="0"/>
                </a:rPr>
                <a:t>Reduces the risk </a:t>
              </a:r>
              <a:endParaRPr lang="ko-KR" altLang="en-US" sz="1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759607E-92F7-69E0-CFE4-0316F8AED4B7}"/>
                </a:ext>
              </a:extLst>
            </p:cNvPr>
            <p:cNvSpPr txBox="1"/>
            <p:nvPr/>
          </p:nvSpPr>
          <p:spPr>
            <a:xfrm rot="18000000">
              <a:off x="4300082" y="2241720"/>
              <a:ext cx="12546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bg1"/>
                  </a:solidFill>
                  <a:cs typeface="Arial" pitchFamily="34" charset="0"/>
                </a:rPr>
                <a:t>Know your business</a:t>
              </a:r>
              <a:endParaRPr lang="ko-KR" altLang="en-US" sz="1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65" name="육각형 1706">
              <a:extLst>
                <a:ext uri="{FF2B5EF4-FFF2-40B4-BE49-F238E27FC236}">
                  <a16:creationId xmlns:a16="http://schemas.microsoft.com/office/drawing/2014/main" id="{A3B55533-3F7C-E660-55EE-61F4A4093427}"/>
                </a:ext>
              </a:extLst>
            </p:cNvPr>
            <p:cNvSpPr/>
            <p:nvPr/>
          </p:nvSpPr>
          <p:spPr>
            <a:xfrm>
              <a:off x="5117052" y="2608713"/>
              <a:ext cx="2503466" cy="2121705"/>
            </a:xfrm>
            <a:prstGeom prst="hexagon">
              <a:avLst>
                <a:gd name="adj" fmla="val 29706"/>
                <a:gd name="vf" fmla="val 115470"/>
              </a:avLst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 w="635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68" name="Picture 67">
            <a:extLst>
              <a:ext uri="{FF2B5EF4-FFF2-40B4-BE49-F238E27FC236}">
                <a16:creationId xmlns:a16="http://schemas.microsoft.com/office/drawing/2014/main" id="{77991028-33C0-6288-F8BE-AF7A4DAFF0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5048" y="2987425"/>
            <a:ext cx="2527885" cy="142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448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FFF7E-98FA-4599-7552-00D4BA44F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BI main component </a:t>
            </a:r>
          </a:p>
        </p:txBody>
      </p:sp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id="{351F81D5-38AB-8653-BC03-1356976979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7990898"/>
              </p:ext>
            </p:extLst>
          </p:nvPr>
        </p:nvGraphicFramePr>
        <p:xfrm>
          <a:off x="185057" y="1034143"/>
          <a:ext cx="11919857" cy="5595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1305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7</a:t>
            </a:fld>
            <a:endParaRPr/>
          </a:p>
        </p:txBody>
      </p:sp>
      <p:sp>
        <p:nvSpPr>
          <p:cNvPr id="5981" name="Google Shape;5981;p393"/>
          <p:cNvSpPr txBox="1">
            <a:spLocks noGrp="1"/>
          </p:cNvSpPr>
          <p:nvPr>
            <p:ph type="title" idx="2"/>
          </p:nvPr>
        </p:nvSpPr>
        <p:spPr>
          <a:xfrm>
            <a:off x="365200" y="1390500"/>
            <a:ext cx="11686000" cy="3685600"/>
          </a:xfrm>
          <a:prstGeom prst="rect">
            <a:avLst/>
          </a:prstGeom>
        </p:spPr>
        <p:txBody>
          <a:bodyPr spcFirstLastPara="1" vert="horz" wrap="square" lIns="3413733" tIns="0" rIns="609600" bIns="6096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067" b="1" dirty="0"/>
              <a:t>Everyone Do: Power BI Installation</a:t>
            </a:r>
            <a:endParaRPr sz="3067" b="1" dirty="0"/>
          </a:p>
          <a:p>
            <a:pPr>
              <a:buClr>
                <a:schemeClr val="dk1"/>
              </a:buClr>
              <a:buSzPts val="1100"/>
            </a:pPr>
            <a:endParaRPr sz="3067" dirty="0">
              <a:latin typeface="Roboto Medium"/>
              <a:ea typeface="Roboto Medium"/>
              <a:cs typeface="Roboto Medium"/>
              <a:sym typeface="Roboto Medium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" sz="2533" dirty="0">
                <a:latin typeface="Roboto Light"/>
                <a:ea typeface="Roboto Light"/>
                <a:cs typeface="Roboto Light"/>
                <a:sym typeface="Roboto Light"/>
              </a:rPr>
              <a:t>In this activity, everyone will install </a:t>
            </a:r>
            <a:r>
              <a:rPr lang="en-US" sz="2533" dirty="0">
                <a:latin typeface="Roboto Light"/>
                <a:ea typeface="Roboto Light"/>
                <a:cs typeface="Roboto Light"/>
                <a:sym typeface="Roboto Light"/>
              </a:rPr>
              <a:t>Power BI Desktop</a:t>
            </a:r>
            <a:r>
              <a:rPr lang="en" sz="2533" dirty="0">
                <a:latin typeface="Roboto Light"/>
                <a:ea typeface="Roboto Light"/>
                <a:cs typeface="Roboto Light"/>
                <a:sym typeface="Roboto Light"/>
              </a:rPr>
              <a:t>. </a:t>
            </a:r>
            <a:endParaRPr sz="2533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>
              <a:buClr>
                <a:schemeClr val="dk1"/>
              </a:buClr>
              <a:buSzPts val="1100"/>
            </a:pPr>
            <a:endParaRPr sz="2533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-US" sz="2533" dirty="0">
                <a:latin typeface="Roboto Light"/>
                <a:ea typeface="Roboto Light"/>
                <a:cs typeface="Roboto Light"/>
                <a:sym typeface="Roboto Light"/>
              </a:rPr>
              <a:t>Power BI Desktop is a free version of the Power BI software that includes most of the features available in Power BI Pro. </a:t>
            </a:r>
            <a:endParaRPr lang="en-US" sz="2533" dirty="0"/>
          </a:p>
        </p:txBody>
      </p:sp>
      <p:pic>
        <p:nvPicPr>
          <p:cNvPr id="5" name="Picture 4" descr="A pen and pencil with a black background&#10;&#10;Description automatically generated">
            <a:extLst>
              <a:ext uri="{FF2B5EF4-FFF2-40B4-BE49-F238E27FC236}">
                <a16:creationId xmlns:a16="http://schemas.microsoft.com/office/drawing/2014/main" id="{3D4352F9-81A4-3797-0CFF-9F8D6E747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00" y="428610"/>
            <a:ext cx="4133943" cy="41339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10 minutes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2" name="Google Shape;5992;p395"/>
          <p:cNvSpPr txBox="1">
            <a:spLocks noGrp="1"/>
          </p:cNvSpPr>
          <p:nvPr>
            <p:ph type="title"/>
          </p:nvPr>
        </p:nvSpPr>
        <p:spPr>
          <a:xfrm>
            <a:off x="-16400" y="0"/>
            <a:ext cx="12224800" cy="711600"/>
          </a:xfrm>
          <a:prstGeom prst="rect">
            <a:avLst/>
          </a:prstGeom>
        </p:spPr>
        <p:txBody>
          <a:bodyPr spcFirstLastPara="1" vert="horz" wrap="square" lIns="609600" tIns="243833" rIns="365733" bIns="121900" rtlCol="0" anchor="t" anchorCtr="0">
            <a:noAutofit/>
          </a:bodyPr>
          <a:lstStyle/>
          <a:p>
            <a:pPr>
              <a:buSzPts val="990"/>
            </a:pPr>
            <a:r>
              <a:rPr lang="en" sz="3253" dirty="0"/>
              <a:t>Instructor Do: Loading Data</a:t>
            </a:r>
            <a:endParaRPr sz="3253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3" name="Google Shape;5993;p395"/>
          <p:cNvSpPr/>
          <p:nvPr/>
        </p:nvSpPr>
        <p:spPr>
          <a:xfrm>
            <a:off x="602166" y="3102428"/>
            <a:ext cx="10987667" cy="3363687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400" dirty="0"/>
              <a:t>Power BI can connect to a wide variety of data sources, including file types like </a:t>
            </a:r>
            <a:r>
              <a:rPr lang="en-US" sz="2400" b="1" dirty="0"/>
              <a:t>CSV</a:t>
            </a:r>
            <a:r>
              <a:rPr lang="en-US" sz="2400" dirty="0"/>
              <a:t>, </a:t>
            </a:r>
            <a:r>
              <a:rPr lang="en-US" sz="2400" b="1" dirty="0"/>
              <a:t>Excel</a:t>
            </a:r>
            <a:r>
              <a:rPr lang="en-US" sz="2400" dirty="0"/>
              <a:t>, and </a:t>
            </a:r>
            <a:r>
              <a:rPr lang="en-US" sz="2400" b="1" dirty="0"/>
              <a:t>JSON</a:t>
            </a:r>
            <a:r>
              <a:rPr lang="en-US" sz="2400" dirty="0"/>
              <a:t>, as well as a range of servers such as </a:t>
            </a:r>
            <a:r>
              <a:rPr lang="en-US" sz="2400" b="1" dirty="0"/>
              <a:t>SQL</a:t>
            </a:r>
            <a:r>
              <a:rPr lang="en-US" sz="2400" dirty="0"/>
              <a:t> </a:t>
            </a:r>
            <a:r>
              <a:rPr lang="en-US" sz="2400" b="1" dirty="0"/>
              <a:t>Server</a:t>
            </a:r>
            <a:r>
              <a:rPr lang="en-US" sz="2400" dirty="0"/>
              <a:t>, </a:t>
            </a:r>
            <a:r>
              <a:rPr lang="en-US" sz="2400" b="1" dirty="0"/>
              <a:t>MySQL</a:t>
            </a:r>
            <a:r>
              <a:rPr lang="en-US" sz="2400" dirty="0"/>
              <a:t>, and </a:t>
            </a:r>
            <a:r>
              <a:rPr lang="en-US" sz="2400" b="1" dirty="0"/>
              <a:t>Azure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Power BI enables users to seamlessly integrate data from different sources without needing to convert it into another format, such as a Pandas </a:t>
            </a:r>
            <a:r>
              <a:rPr lang="en-US" sz="2400" b="1" dirty="0" err="1"/>
              <a:t>DataFrame</a:t>
            </a:r>
            <a:r>
              <a:rPr lang="en-US" sz="2400" dirty="0"/>
              <a:t>. It offers built-in tools for loading, exploring, and transforming data, making it easier to manipulate and analyze without the need for additional external processing.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74B346C-02A3-0CDF-1BB6-64FA483B8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6" y="1167082"/>
            <a:ext cx="10247945" cy="175028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D35FD02-EC85-6501-D62C-BB0425E59465}"/>
              </a:ext>
            </a:extLst>
          </p:cNvPr>
          <p:cNvCxnSpPr/>
          <p:nvPr/>
        </p:nvCxnSpPr>
        <p:spPr>
          <a:xfrm>
            <a:off x="228600" y="827314"/>
            <a:ext cx="10722429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5B9968BA-DD55-32F0-4D3E-8B3E17535C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7" y="234786"/>
            <a:ext cx="1215452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762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10</a:t>
            </a:fld>
            <a:endParaRPr/>
          </a:p>
        </p:txBody>
      </p:sp>
      <p:sp>
        <p:nvSpPr>
          <p:cNvPr id="5981" name="Google Shape;5981;p393"/>
          <p:cNvSpPr txBox="1">
            <a:spLocks noGrp="1"/>
          </p:cNvSpPr>
          <p:nvPr>
            <p:ph type="title" idx="2"/>
          </p:nvPr>
        </p:nvSpPr>
        <p:spPr>
          <a:xfrm>
            <a:off x="849087" y="1441021"/>
            <a:ext cx="11202114" cy="1465899"/>
          </a:xfrm>
          <a:prstGeom prst="rect">
            <a:avLst/>
          </a:prstGeom>
        </p:spPr>
        <p:txBody>
          <a:bodyPr spcFirstLastPara="1" vert="horz" wrap="square" lIns="3413733" tIns="0" rIns="609600" bIns="6096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3067" b="1" dirty="0"/>
              <a:t>Instructor Demonstration</a:t>
            </a:r>
            <a:r>
              <a:rPr lang="en" sz="3067" b="1" dirty="0"/>
              <a:t>: </a:t>
            </a:r>
            <a:r>
              <a:rPr lang="en-US" sz="3067" b="1" dirty="0"/>
              <a:t>Loading Data</a:t>
            </a:r>
            <a:endParaRPr sz="3067" b="1" dirty="0"/>
          </a:p>
          <a:p>
            <a:pPr>
              <a:buClr>
                <a:schemeClr val="dk1"/>
              </a:buClr>
              <a:buSzPts val="1100"/>
            </a:pPr>
            <a:endParaRPr sz="3067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C09200">
              <a:alpha val="49804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5 minutes </a:t>
            </a:r>
          </a:p>
        </p:txBody>
      </p:sp>
      <p:pic>
        <p:nvPicPr>
          <p:cNvPr id="12" name="Picture 11" descr="A person standing in front of a board&#10;&#10;Description automatically generated">
            <a:extLst>
              <a:ext uri="{FF2B5EF4-FFF2-40B4-BE49-F238E27FC236}">
                <a16:creationId xmlns:a16="http://schemas.microsoft.com/office/drawing/2014/main" id="{BDD304A6-4CD0-33A5-D245-AA55A57929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6991"/>
            <a:ext cx="3977456" cy="406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869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9734CD24-9B04-024A-9101-D448C4E5DB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4383"/>
            <a:ext cx="12192000" cy="6309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951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ABFCC3B-3CE3-4946-BD4E-8B78748F9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2" y="237961"/>
            <a:ext cx="12173576" cy="638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86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875BB0F2-84B2-7FC0-C459-16BFF77052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2" y="237961"/>
            <a:ext cx="12173576" cy="638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207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17F1DDFE-F334-62B0-E0E7-34779ED82A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41" y="253837"/>
            <a:ext cx="12027518" cy="635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660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15</a:t>
            </a:fld>
            <a:endParaRPr/>
          </a:p>
        </p:txBody>
      </p:sp>
      <p:sp>
        <p:nvSpPr>
          <p:cNvPr id="5981" name="Google Shape;5981;p393"/>
          <p:cNvSpPr txBox="1">
            <a:spLocks noGrp="1"/>
          </p:cNvSpPr>
          <p:nvPr>
            <p:ph type="title" idx="2"/>
          </p:nvPr>
        </p:nvSpPr>
        <p:spPr>
          <a:xfrm>
            <a:off x="849087" y="1441021"/>
            <a:ext cx="11202114" cy="1465899"/>
          </a:xfrm>
          <a:prstGeom prst="rect">
            <a:avLst/>
          </a:prstGeom>
        </p:spPr>
        <p:txBody>
          <a:bodyPr spcFirstLastPara="1" vert="horz" wrap="square" lIns="3413733" tIns="0" rIns="609600" bIns="6096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3067" b="1" dirty="0"/>
              <a:t>Instructor Demonstration</a:t>
            </a:r>
            <a:r>
              <a:rPr lang="en" sz="3067" b="1" dirty="0"/>
              <a:t>: </a:t>
            </a:r>
            <a:r>
              <a:rPr lang="en-US" sz="3067" b="1" dirty="0"/>
              <a:t>Simple visualization (Global Rentals)</a:t>
            </a:r>
            <a:endParaRPr sz="3067" b="1" dirty="0"/>
          </a:p>
          <a:p>
            <a:pPr>
              <a:buClr>
                <a:schemeClr val="dk1"/>
              </a:buClr>
              <a:buSzPts val="1100"/>
            </a:pPr>
            <a:endParaRPr sz="3067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C09200">
              <a:alpha val="49804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5 minutes </a:t>
            </a:r>
          </a:p>
        </p:txBody>
      </p:sp>
      <p:pic>
        <p:nvPicPr>
          <p:cNvPr id="12" name="Picture 11" descr="A person standing in front of a board&#10;&#10;Description automatically generated">
            <a:extLst>
              <a:ext uri="{FF2B5EF4-FFF2-40B4-BE49-F238E27FC236}">
                <a16:creationId xmlns:a16="http://schemas.microsoft.com/office/drawing/2014/main" id="{BDD304A6-4CD0-33A5-D245-AA55A57929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6991"/>
            <a:ext cx="3977456" cy="406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521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C84FB9-686D-9B7B-7BE0-5D4BF259CB49}"/>
              </a:ext>
            </a:extLst>
          </p:cNvPr>
          <p:cNvSpPr txBox="1"/>
          <p:nvPr/>
        </p:nvSpPr>
        <p:spPr>
          <a:xfrm>
            <a:off x="773408" y="992094"/>
            <a:ext cx="3616913" cy="2795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</a:t>
            </a: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?</a:t>
            </a:r>
          </a:p>
        </p:txBody>
      </p:sp>
      <p:pic>
        <p:nvPicPr>
          <p:cNvPr id="8" name="Picture 7" descr="A group of hands with their hands raised&#10;&#10;Description automatically generated">
            <a:extLst>
              <a:ext uri="{FF2B5EF4-FFF2-40B4-BE49-F238E27FC236}">
                <a16:creationId xmlns:a16="http://schemas.microsoft.com/office/drawing/2014/main" id="{EFB8A6E5-CB28-2BCB-2F87-E70727998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801" y="578738"/>
            <a:ext cx="5670549" cy="567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098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17</a:t>
            </a:fld>
            <a:endParaRPr/>
          </a:p>
        </p:txBody>
      </p:sp>
      <p:sp>
        <p:nvSpPr>
          <p:cNvPr id="5981" name="Google Shape;5981;p393"/>
          <p:cNvSpPr txBox="1">
            <a:spLocks noGrp="1"/>
          </p:cNvSpPr>
          <p:nvPr>
            <p:ph type="title" idx="2"/>
          </p:nvPr>
        </p:nvSpPr>
        <p:spPr>
          <a:xfrm>
            <a:off x="365200" y="1390500"/>
            <a:ext cx="11686000" cy="3685600"/>
          </a:xfrm>
          <a:prstGeom prst="rect">
            <a:avLst/>
          </a:prstGeom>
        </p:spPr>
        <p:txBody>
          <a:bodyPr spcFirstLastPara="1" vert="horz" wrap="square" lIns="3413733" tIns="0" rIns="609600" bIns="6096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067" b="1" dirty="0"/>
              <a:t>Student  Do: </a:t>
            </a:r>
            <a:r>
              <a:rPr lang="en-US" sz="3067" b="1" dirty="0"/>
              <a:t>Global Rentals</a:t>
            </a:r>
            <a:r>
              <a:rPr lang="en" sz="3067" b="1" dirty="0"/>
              <a:t> </a:t>
            </a:r>
            <a:r>
              <a:rPr lang="en-US" sz="3067" b="1" dirty="0"/>
              <a:t>visualization</a:t>
            </a:r>
            <a:endParaRPr sz="3067" b="1" dirty="0"/>
          </a:p>
          <a:p>
            <a:pPr>
              <a:buClr>
                <a:schemeClr val="dk1"/>
              </a:buClr>
              <a:buSzPts val="1100"/>
            </a:pPr>
            <a:endParaRPr sz="3067" dirty="0"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latin typeface="Roboto Light"/>
                <a:ea typeface="Roboto Light"/>
                <a:cs typeface="Roboto Light"/>
                <a:sym typeface="Roboto Light"/>
              </a:rPr>
              <a:t>In this activity, you will be given visualizations that you will attempt to recreate using Power BI.</a:t>
            </a:r>
            <a:endParaRPr lang="en-US" sz="2800" dirty="0"/>
          </a:p>
        </p:txBody>
      </p:sp>
      <p:pic>
        <p:nvPicPr>
          <p:cNvPr id="5" name="Picture 4" descr="A pen and pencil with a black background&#10;&#10;Description automatically generated">
            <a:extLst>
              <a:ext uri="{FF2B5EF4-FFF2-40B4-BE49-F238E27FC236}">
                <a16:creationId xmlns:a16="http://schemas.microsoft.com/office/drawing/2014/main" id="{3D4352F9-81A4-3797-0CFF-9F8D6E747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00" y="428610"/>
            <a:ext cx="4133943" cy="41339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15 minutes </a:t>
            </a:r>
          </a:p>
        </p:txBody>
      </p:sp>
    </p:spTree>
    <p:extLst>
      <p:ext uri="{BB962C8B-B14F-4D97-AF65-F5344CB8AC3E}">
        <p14:creationId xmlns:p14="http://schemas.microsoft.com/office/powerpoint/2010/main" val="1411077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0" name="Google Shape;6080;p407"/>
          <p:cNvSpPr txBox="1">
            <a:spLocks noGrp="1"/>
          </p:cNvSpPr>
          <p:nvPr>
            <p:ph type="title"/>
          </p:nvPr>
        </p:nvSpPr>
        <p:spPr>
          <a:xfrm>
            <a:off x="-16400" y="0"/>
            <a:ext cx="12224800" cy="711600"/>
          </a:xfrm>
          <a:prstGeom prst="rect">
            <a:avLst/>
          </a:prstGeom>
        </p:spPr>
        <p:txBody>
          <a:bodyPr spcFirstLastPara="1" vert="horz" wrap="square" lIns="609600" tIns="243833" rIns="365733" bIns="121900" rtlCol="0" anchor="t" anchorCtr="0">
            <a:noAutofit/>
          </a:bodyPr>
          <a:lstStyle/>
          <a:p>
            <a:pPr>
              <a:buSzPts val="990"/>
            </a:pPr>
            <a:r>
              <a:rPr lang="en" sz="3253" dirty="0"/>
              <a:t>Activity: Explore Data</a:t>
            </a:r>
            <a:endParaRPr sz="3253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1" name="Google Shape;6081;p407"/>
          <p:cNvSpPr txBox="1">
            <a:spLocks noGrp="1"/>
          </p:cNvSpPr>
          <p:nvPr>
            <p:ph type="sldNum" idx="12"/>
          </p:nvPr>
        </p:nvSpPr>
        <p:spPr>
          <a:xfrm>
            <a:off x="11477033" y="6609600"/>
            <a:ext cx="349200" cy="140800"/>
          </a:xfrm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rmAutofit fontScale="25000" lnSpcReduction="20000"/>
          </a:bodyPr>
          <a:lstStyle/>
          <a:p>
            <a:fld id="{00000000-1234-1234-1234-123412341234}" type="slidenum">
              <a:rPr lang="en"/>
              <a:pPr/>
              <a:t>18</a:t>
            </a:fld>
            <a:endParaRPr/>
          </a:p>
        </p:txBody>
      </p:sp>
      <p:sp>
        <p:nvSpPr>
          <p:cNvPr id="6082" name="Google Shape;6082;p407"/>
          <p:cNvSpPr/>
          <p:nvPr/>
        </p:nvSpPr>
        <p:spPr>
          <a:xfrm>
            <a:off x="751100" y="1353300"/>
            <a:ext cx="10722400" cy="20756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083" name="Google Shape;6083;p407"/>
          <p:cNvSpPr txBox="1"/>
          <p:nvPr/>
        </p:nvSpPr>
        <p:spPr>
          <a:xfrm>
            <a:off x="710767" y="3526161"/>
            <a:ext cx="10605200" cy="135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23323">
              <a:buSzPts val="1400"/>
              <a:buFont typeface="Roboto"/>
              <a:buChar char="●"/>
            </a:pPr>
            <a:r>
              <a:rPr lang="en" sz="2400" b="1">
                <a:latin typeface="Roboto"/>
                <a:ea typeface="Roboto"/>
                <a:cs typeface="Roboto"/>
                <a:sym typeface="Roboto"/>
              </a:rPr>
              <a:t>Bonus:</a:t>
            </a:r>
            <a:endParaRPr sz="2400" b="1">
              <a:latin typeface="Roboto"/>
              <a:ea typeface="Roboto"/>
              <a:cs typeface="Roboto"/>
              <a:sym typeface="Roboto"/>
            </a:endParaRPr>
          </a:p>
          <a:p>
            <a:pPr marL="1219170" lvl="1" indent="-423323">
              <a:buSzPts val="1400"/>
              <a:buFont typeface="Roboto"/>
              <a:buChar char="○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If you finish early, try experimenting with other possible visualization!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4" name="Google Shape;6084;p407"/>
          <p:cNvSpPr/>
          <p:nvPr/>
        </p:nvSpPr>
        <p:spPr>
          <a:xfrm>
            <a:off x="743567" y="3551667"/>
            <a:ext cx="10775600" cy="1200820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indent="609585"/>
            <a:r>
              <a:rPr lang="en" sz="2400"/>
              <a:t>	</a:t>
            </a:r>
            <a:endParaRPr sz="2400"/>
          </a:p>
        </p:txBody>
      </p:sp>
      <p:sp>
        <p:nvSpPr>
          <p:cNvPr id="6085" name="Google Shape;6085;p407"/>
          <p:cNvSpPr txBox="1"/>
          <p:nvPr/>
        </p:nvSpPr>
        <p:spPr>
          <a:xfrm>
            <a:off x="718500" y="1303410"/>
            <a:ext cx="10667600" cy="1945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23323">
              <a:lnSpc>
                <a:spcPct val="115000"/>
              </a:lnSpc>
              <a:buClr>
                <a:srgbClr val="24292E"/>
              </a:buClr>
              <a:buSzPts val="1400"/>
              <a:buFont typeface="Roboto"/>
              <a:buChar char="●"/>
            </a:pPr>
            <a:r>
              <a:rPr lang="en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Using GlobalRentals.xlsx, visualize the following data:</a:t>
            </a:r>
            <a:endParaRPr sz="2400" dirty="0">
              <a:solidFill>
                <a:srgbClr val="24292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19170" lvl="1" indent="-423323">
              <a:lnSpc>
                <a:spcPct val="115000"/>
              </a:lnSpc>
              <a:buClr>
                <a:srgbClr val="24292E"/>
              </a:buClr>
              <a:buSzPts val="1400"/>
              <a:buFont typeface="Roboto"/>
              <a:buChar char="○"/>
            </a:pPr>
            <a:r>
              <a:rPr lang="en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The customers with the highest amount of paid fees</a:t>
            </a:r>
            <a:endParaRPr sz="2400" dirty="0">
              <a:solidFill>
                <a:srgbClr val="24292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19170" lvl="1" indent="-423323">
              <a:lnSpc>
                <a:spcPct val="115000"/>
              </a:lnSpc>
              <a:buClr>
                <a:srgbClr val="24292E"/>
              </a:buClr>
              <a:buSzPts val="1400"/>
              <a:buFont typeface="Roboto"/>
              <a:buChar char="○"/>
            </a:pPr>
            <a:r>
              <a:rPr lang="en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The customers with more than 150 rental days</a:t>
            </a:r>
            <a:endParaRPr sz="2400" dirty="0">
              <a:solidFill>
                <a:srgbClr val="24292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19170" lvl="1" indent="-423323">
              <a:lnSpc>
                <a:spcPct val="115000"/>
              </a:lnSpc>
              <a:buClr>
                <a:srgbClr val="24292E"/>
              </a:buClr>
              <a:buSzPts val="1400"/>
              <a:buFont typeface="Roboto"/>
              <a:buChar char="○"/>
            </a:pPr>
            <a:r>
              <a:rPr lang="en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The rental days by continent and rating</a:t>
            </a:r>
            <a:endParaRPr sz="2400" dirty="0">
              <a:solidFill>
                <a:srgbClr val="24292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6" name="Google Shape;6086;p407"/>
          <p:cNvSpPr/>
          <p:nvPr/>
        </p:nvSpPr>
        <p:spPr>
          <a:xfrm>
            <a:off x="738533" y="4809203"/>
            <a:ext cx="10722400" cy="12816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609585"/>
            <a:endParaRPr sz="2400"/>
          </a:p>
          <a:p>
            <a:pPr marL="609585"/>
            <a:endParaRPr sz="2400"/>
          </a:p>
          <a:p>
            <a:pPr marL="609585"/>
            <a:endParaRPr sz="2400"/>
          </a:p>
          <a:p>
            <a:pPr marL="609585"/>
            <a:r>
              <a:rPr lang="en" sz="2400"/>
              <a:t>	</a:t>
            </a:r>
            <a:endParaRPr sz="2400"/>
          </a:p>
        </p:txBody>
      </p:sp>
      <p:pic>
        <p:nvPicPr>
          <p:cNvPr id="6087" name="Google Shape;6087;p4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782531" flipH="1">
            <a:off x="914507" y="5160004"/>
            <a:ext cx="835436" cy="835401"/>
          </a:xfrm>
          <a:prstGeom prst="rect">
            <a:avLst/>
          </a:prstGeom>
          <a:noFill/>
          <a:ln>
            <a:noFill/>
          </a:ln>
        </p:spPr>
      </p:pic>
      <p:sp>
        <p:nvSpPr>
          <p:cNvPr id="6088" name="Google Shape;6088;p407"/>
          <p:cNvSpPr txBox="1"/>
          <p:nvPr/>
        </p:nvSpPr>
        <p:spPr>
          <a:xfrm>
            <a:off x="711652" y="4753669"/>
            <a:ext cx="10775600" cy="1040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23323">
              <a:buSzPts val="1400"/>
              <a:buFont typeface="Roboto"/>
              <a:buChar char="●"/>
            </a:pPr>
            <a:r>
              <a:rPr lang="en" sz="2400" b="1" dirty="0">
                <a:latin typeface="Roboto"/>
                <a:ea typeface="Roboto"/>
                <a:cs typeface="Roboto"/>
                <a:sym typeface="Roboto"/>
              </a:rPr>
              <a:t>Hint:</a:t>
            </a:r>
            <a:endParaRPr sz="2400" b="1" dirty="0">
              <a:latin typeface="Roboto"/>
              <a:ea typeface="Roboto"/>
              <a:cs typeface="Roboto"/>
              <a:sym typeface="Roboto"/>
            </a:endParaRPr>
          </a:p>
          <a:p>
            <a:pPr marL="1219170" lvl="1" indent="-423323">
              <a:lnSpc>
                <a:spcPct val="115000"/>
              </a:lnSpc>
              <a:buClr>
                <a:srgbClr val="24292E"/>
              </a:buClr>
              <a:buSzPts val="1400"/>
              <a:buChar char="○"/>
            </a:pPr>
            <a:r>
              <a:rPr lang="en" sz="2400" dirty="0">
                <a:solidFill>
                  <a:srgbClr val="24292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Don’t forget to save the file once finished. 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topwatch with a red ribbon&#10;&#10;Description automatically generated">
            <a:extLst>
              <a:ext uri="{FF2B5EF4-FFF2-40B4-BE49-F238E27FC236}">
                <a16:creationId xmlns:a16="http://schemas.microsoft.com/office/drawing/2014/main" id="{DDB0DF0C-8F35-45FA-48E7-21E8F1DDE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889" y="643466"/>
            <a:ext cx="663222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8581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20</a:t>
            </a:fld>
            <a:endParaRPr/>
          </a:p>
        </p:txBody>
      </p:sp>
      <p:sp>
        <p:nvSpPr>
          <p:cNvPr id="5981" name="Google Shape;5981;p393"/>
          <p:cNvSpPr txBox="1">
            <a:spLocks noGrp="1"/>
          </p:cNvSpPr>
          <p:nvPr>
            <p:ph type="title" idx="2"/>
          </p:nvPr>
        </p:nvSpPr>
        <p:spPr>
          <a:xfrm>
            <a:off x="365200" y="1390500"/>
            <a:ext cx="11686000" cy="3685600"/>
          </a:xfrm>
          <a:prstGeom prst="rect">
            <a:avLst/>
          </a:prstGeom>
        </p:spPr>
        <p:txBody>
          <a:bodyPr spcFirstLastPara="1" vert="horz" wrap="square" lIns="3413733" tIns="0" rIns="609600" bIns="6096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067" b="1" dirty="0"/>
              <a:t>Student  Do: </a:t>
            </a:r>
            <a:r>
              <a:rPr lang="en-US" sz="3067" b="1" dirty="0" err="1"/>
              <a:t>UltimateCandy</a:t>
            </a:r>
            <a:r>
              <a:rPr lang="en-US" sz="3067" b="1" dirty="0"/>
              <a:t> visualization</a:t>
            </a:r>
            <a:endParaRPr sz="3067" b="1" dirty="0"/>
          </a:p>
          <a:p>
            <a:pPr>
              <a:buClr>
                <a:schemeClr val="dk1"/>
              </a:buClr>
              <a:buSzPts val="1100"/>
            </a:pPr>
            <a:endParaRPr sz="3067" dirty="0"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latin typeface="Roboto Light"/>
                <a:ea typeface="Roboto Light"/>
                <a:cs typeface="Roboto Light"/>
                <a:sym typeface="Roboto Light"/>
              </a:rPr>
              <a:t>In this activity, you will be given visualizations that you will attempt to recreate using Power BI.</a:t>
            </a:r>
            <a:endParaRPr lang="en-US" sz="2800" dirty="0"/>
          </a:p>
        </p:txBody>
      </p:sp>
      <p:pic>
        <p:nvPicPr>
          <p:cNvPr id="5" name="Picture 4" descr="A pen and pencil with a black background&#10;&#10;Description automatically generated">
            <a:extLst>
              <a:ext uri="{FF2B5EF4-FFF2-40B4-BE49-F238E27FC236}">
                <a16:creationId xmlns:a16="http://schemas.microsoft.com/office/drawing/2014/main" id="{3D4352F9-81A4-3797-0CFF-9F8D6E747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00" y="428610"/>
            <a:ext cx="4133943" cy="41339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15 minutes </a:t>
            </a:r>
          </a:p>
        </p:txBody>
      </p:sp>
    </p:spTree>
    <p:extLst>
      <p:ext uri="{BB962C8B-B14F-4D97-AF65-F5344CB8AC3E}">
        <p14:creationId xmlns:p14="http://schemas.microsoft.com/office/powerpoint/2010/main" val="30141977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0" name="Google Shape;6080;p407"/>
          <p:cNvSpPr txBox="1">
            <a:spLocks noGrp="1"/>
          </p:cNvSpPr>
          <p:nvPr>
            <p:ph type="title"/>
          </p:nvPr>
        </p:nvSpPr>
        <p:spPr>
          <a:xfrm>
            <a:off x="-16400" y="0"/>
            <a:ext cx="12224800" cy="711600"/>
          </a:xfrm>
          <a:prstGeom prst="rect">
            <a:avLst/>
          </a:prstGeom>
        </p:spPr>
        <p:txBody>
          <a:bodyPr spcFirstLastPara="1" vert="horz" wrap="square" lIns="609600" tIns="243833" rIns="365733" bIns="121900" rtlCol="0" anchor="t" anchorCtr="0">
            <a:noAutofit/>
          </a:bodyPr>
          <a:lstStyle/>
          <a:p>
            <a:pPr>
              <a:buSzPts val="990"/>
            </a:pPr>
            <a:r>
              <a:rPr lang="en" sz="3253" dirty="0"/>
              <a:t>Activity: Explore Data</a:t>
            </a:r>
            <a:endParaRPr sz="3253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1" name="Google Shape;6081;p407"/>
          <p:cNvSpPr txBox="1">
            <a:spLocks noGrp="1"/>
          </p:cNvSpPr>
          <p:nvPr>
            <p:ph type="sldNum" idx="12"/>
          </p:nvPr>
        </p:nvSpPr>
        <p:spPr>
          <a:xfrm>
            <a:off x="11477033" y="6609600"/>
            <a:ext cx="349200" cy="140800"/>
          </a:xfrm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rmAutofit fontScale="25000" lnSpcReduction="20000"/>
          </a:bodyPr>
          <a:lstStyle/>
          <a:p>
            <a:fld id="{00000000-1234-1234-1234-123412341234}" type="slidenum">
              <a:rPr lang="en"/>
              <a:pPr/>
              <a:t>21</a:t>
            </a:fld>
            <a:endParaRPr/>
          </a:p>
        </p:txBody>
      </p:sp>
      <p:sp>
        <p:nvSpPr>
          <p:cNvPr id="6082" name="Google Shape;6082;p407"/>
          <p:cNvSpPr/>
          <p:nvPr/>
        </p:nvSpPr>
        <p:spPr>
          <a:xfrm>
            <a:off x="751100" y="1353300"/>
            <a:ext cx="10722400" cy="20756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083" name="Google Shape;6083;p407"/>
          <p:cNvSpPr txBox="1"/>
          <p:nvPr/>
        </p:nvSpPr>
        <p:spPr>
          <a:xfrm>
            <a:off x="710767" y="3526161"/>
            <a:ext cx="10605200" cy="135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23323">
              <a:buSzPts val="1400"/>
              <a:buFont typeface="Roboto"/>
              <a:buChar char="●"/>
            </a:pPr>
            <a:r>
              <a:rPr lang="en" sz="2400" b="1" dirty="0">
                <a:latin typeface="Roboto"/>
                <a:ea typeface="Roboto"/>
                <a:cs typeface="Roboto"/>
                <a:sym typeface="Roboto"/>
              </a:rPr>
              <a:t>Bonus:</a:t>
            </a:r>
            <a:endParaRPr sz="2400" b="1" dirty="0">
              <a:latin typeface="Roboto"/>
              <a:ea typeface="Roboto"/>
              <a:cs typeface="Roboto"/>
              <a:sym typeface="Roboto"/>
            </a:endParaRPr>
          </a:p>
          <a:p>
            <a:pPr marL="1219170" lvl="1" indent="-423323">
              <a:buSzPts val="1400"/>
              <a:buFont typeface="Roboto"/>
              <a:buChar char="○"/>
            </a:pPr>
            <a:r>
              <a:rPr lang="en" sz="2400" dirty="0">
                <a:latin typeface="Roboto"/>
                <a:ea typeface="Roboto"/>
                <a:cs typeface="Roboto"/>
                <a:sym typeface="Roboto"/>
              </a:rPr>
              <a:t>If you finish early, try experimenting with other possible visualization!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4" name="Google Shape;6084;p407"/>
          <p:cNvSpPr/>
          <p:nvPr/>
        </p:nvSpPr>
        <p:spPr>
          <a:xfrm>
            <a:off x="743567" y="3551667"/>
            <a:ext cx="10775600" cy="1200820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indent="609585"/>
            <a:r>
              <a:rPr lang="en" sz="2400"/>
              <a:t>	</a:t>
            </a:r>
            <a:endParaRPr sz="2400"/>
          </a:p>
        </p:txBody>
      </p:sp>
      <p:sp>
        <p:nvSpPr>
          <p:cNvPr id="6086" name="Google Shape;6086;p407"/>
          <p:cNvSpPr/>
          <p:nvPr/>
        </p:nvSpPr>
        <p:spPr>
          <a:xfrm>
            <a:off x="738533" y="4809203"/>
            <a:ext cx="10722400" cy="12816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609585"/>
            <a:endParaRPr sz="2400"/>
          </a:p>
          <a:p>
            <a:pPr marL="609585"/>
            <a:endParaRPr sz="2400"/>
          </a:p>
          <a:p>
            <a:pPr marL="609585"/>
            <a:endParaRPr sz="2400"/>
          </a:p>
          <a:p>
            <a:pPr marL="609585"/>
            <a:r>
              <a:rPr lang="en" sz="2400"/>
              <a:t>	</a:t>
            </a:r>
            <a:endParaRPr sz="2400"/>
          </a:p>
        </p:txBody>
      </p:sp>
      <p:pic>
        <p:nvPicPr>
          <p:cNvPr id="6087" name="Google Shape;6087;p4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782531" flipH="1">
            <a:off x="914507" y="5160004"/>
            <a:ext cx="835436" cy="835401"/>
          </a:xfrm>
          <a:prstGeom prst="rect">
            <a:avLst/>
          </a:prstGeom>
          <a:noFill/>
          <a:ln>
            <a:noFill/>
          </a:ln>
        </p:spPr>
      </p:pic>
      <p:sp>
        <p:nvSpPr>
          <p:cNvPr id="6088" name="Google Shape;6088;p407"/>
          <p:cNvSpPr txBox="1"/>
          <p:nvPr/>
        </p:nvSpPr>
        <p:spPr>
          <a:xfrm>
            <a:off x="711652" y="4753669"/>
            <a:ext cx="10775600" cy="1040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23323">
              <a:buSzPts val="1400"/>
              <a:buFont typeface="Roboto"/>
              <a:buChar char="●"/>
            </a:pPr>
            <a:r>
              <a:rPr lang="en" sz="2400" b="1" dirty="0">
                <a:latin typeface="Roboto"/>
                <a:ea typeface="Roboto"/>
                <a:cs typeface="Roboto"/>
                <a:sym typeface="Roboto"/>
              </a:rPr>
              <a:t>Hint:</a:t>
            </a:r>
            <a:endParaRPr sz="2400" b="1" dirty="0">
              <a:latin typeface="Roboto"/>
              <a:ea typeface="Roboto"/>
              <a:cs typeface="Roboto"/>
              <a:sym typeface="Roboto"/>
            </a:endParaRPr>
          </a:p>
          <a:p>
            <a:pPr marL="1219170" lvl="1" indent="-423323">
              <a:lnSpc>
                <a:spcPct val="115000"/>
              </a:lnSpc>
              <a:buClr>
                <a:srgbClr val="24292E"/>
              </a:buClr>
              <a:buSzPts val="1400"/>
              <a:buChar char="○"/>
            </a:pPr>
            <a:r>
              <a:rPr lang="en" sz="2400" dirty="0">
                <a:solidFill>
                  <a:srgbClr val="24292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Don’t forget to save the file once finished. 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A3C5DE-9241-99DC-2D61-EE684BB0BFB9}"/>
              </a:ext>
            </a:extLst>
          </p:cNvPr>
          <p:cNvSpPr txBox="1"/>
          <p:nvPr/>
        </p:nvSpPr>
        <p:spPr>
          <a:xfrm>
            <a:off x="957957" y="1154061"/>
            <a:ext cx="1048294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2400" dirty="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Using UltimateCandy.xlsx, visualize the following data: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Create a pair of bar graphs that chart the win percentage of each candy.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Create a scatter plot comparing the sugar percentage against the win percentage</a:t>
            </a:r>
          </a:p>
        </p:txBody>
      </p:sp>
    </p:spTree>
    <p:extLst>
      <p:ext uri="{BB962C8B-B14F-4D97-AF65-F5344CB8AC3E}">
        <p14:creationId xmlns:p14="http://schemas.microsoft.com/office/powerpoint/2010/main" val="1487545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topwatch with a red ribbon&#10;&#10;Description automatically generated">
            <a:extLst>
              <a:ext uri="{FF2B5EF4-FFF2-40B4-BE49-F238E27FC236}">
                <a16:creationId xmlns:a16="http://schemas.microsoft.com/office/drawing/2014/main" id="{DDB0DF0C-8F35-45FA-48E7-21E8F1DDE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889" y="643466"/>
            <a:ext cx="663222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7930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artoon of a sand clock&#10;&#10;Description automatically generated">
            <a:extLst>
              <a:ext uri="{FF2B5EF4-FFF2-40B4-BE49-F238E27FC236}">
                <a16:creationId xmlns:a16="http://schemas.microsoft.com/office/drawing/2014/main" id="{E3920EF5-8A4A-9D80-D036-7833250159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171" y="338861"/>
            <a:ext cx="6226629" cy="618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85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1927</TotalTime>
  <Words>539</Words>
  <Application>Microsoft Office PowerPoint</Application>
  <PresentationFormat>Widescreen</PresentationFormat>
  <Paragraphs>207</Paragraphs>
  <Slides>23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Roboto</vt:lpstr>
      <vt:lpstr>Roboto Light</vt:lpstr>
      <vt:lpstr>Roboto Medium</vt:lpstr>
      <vt:lpstr>Office Theme</vt:lpstr>
      <vt:lpstr>Introduction to Power BI </vt:lpstr>
      <vt:lpstr>Class Objectives </vt:lpstr>
      <vt:lpstr>PowerPoint Presentation</vt:lpstr>
      <vt:lpstr>  10 Minutes</vt:lpstr>
      <vt:lpstr>Why we need BI</vt:lpstr>
      <vt:lpstr>Power BI main component </vt:lpstr>
      <vt:lpstr>  10 Minutes</vt:lpstr>
      <vt:lpstr>Instructor Do: Loading Data</vt:lpstr>
      <vt:lpstr>PowerPoint Presentation</vt:lpstr>
      <vt:lpstr>  10 Minutes</vt:lpstr>
      <vt:lpstr>PowerPoint Presentation</vt:lpstr>
      <vt:lpstr>PowerPoint Presentation</vt:lpstr>
      <vt:lpstr>PowerPoint Presentation</vt:lpstr>
      <vt:lpstr>PowerPoint Presentation</vt:lpstr>
      <vt:lpstr>  10 Minutes</vt:lpstr>
      <vt:lpstr>PowerPoint Presentation</vt:lpstr>
      <vt:lpstr>  10 Minutes</vt:lpstr>
      <vt:lpstr>Activity: Explore Data</vt:lpstr>
      <vt:lpstr>PowerPoint Presentation</vt:lpstr>
      <vt:lpstr>  10 Minutes</vt:lpstr>
      <vt:lpstr>Activity: Explore Data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Mousa</dc:creator>
  <cp:lastModifiedBy>Ahmad Mousa</cp:lastModifiedBy>
  <cp:revision>9</cp:revision>
  <dcterms:created xsi:type="dcterms:W3CDTF">2024-11-06T17:37:33Z</dcterms:created>
  <dcterms:modified xsi:type="dcterms:W3CDTF">2024-12-02T17:59:19Z</dcterms:modified>
</cp:coreProperties>
</file>