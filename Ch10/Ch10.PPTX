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</p:sldMasterIdLst>
  <p:notesMasterIdLst>
    <p:notesMasterId r:id="rId29"/>
  </p:notesMasterIdLst>
  <p:sldIdLst>
    <p:sldId id="256" r:id="rId2"/>
    <p:sldId id="268" r:id="rId3"/>
    <p:sldId id="259" r:id="rId4"/>
    <p:sldId id="329" r:id="rId5"/>
    <p:sldId id="340" r:id="rId6"/>
    <p:sldId id="341" r:id="rId7"/>
    <p:sldId id="349" r:id="rId8"/>
    <p:sldId id="374" r:id="rId9"/>
    <p:sldId id="350" r:id="rId10"/>
    <p:sldId id="351" r:id="rId11"/>
    <p:sldId id="267" r:id="rId12"/>
    <p:sldId id="290" r:id="rId13"/>
    <p:sldId id="266" r:id="rId14"/>
    <p:sldId id="298" r:id="rId15"/>
    <p:sldId id="292" r:id="rId16"/>
    <p:sldId id="328" r:id="rId17"/>
    <p:sldId id="375" r:id="rId18"/>
    <p:sldId id="323" r:id="rId19"/>
    <p:sldId id="324" r:id="rId20"/>
    <p:sldId id="326" r:id="rId21"/>
    <p:sldId id="376" r:id="rId22"/>
    <p:sldId id="377" r:id="rId23"/>
    <p:sldId id="379" r:id="rId24"/>
    <p:sldId id="378" r:id="rId25"/>
    <p:sldId id="380" r:id="rId26"/>
    <p:sldId id="381" r:id="rId27"/>
    <p:sldId id="28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9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9141D-405F-4B53-9ED9-F5E6B9ACF4CF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C8F5E-759F-436F-8A80-239E61BF6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3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7" name="Google Shape;5937;gc69d1e7c39_0_4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8" name="Google Shape;5938;gc69d1e7c39_0_4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4" name="Google Shape;5954;g20c38ac825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5" name="Google Shape;5955;g20c38ac825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1.1 - temp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C8F5E-759F-436F-8A80-239E61BF6B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31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740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6" name="Google Shape;6076;gc69d1e7c39_0_110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7" name="Google Shape;6077;gc69d1e7c39_0_110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4292E"/>
                </a:solidFill>
              </a:rPr>
              <a:t>2.2</a:t>
            </a:r>
            <a:endParaRPr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4292E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24292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rgbClr val="24292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710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https://charts.powerbi.tips/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C8F5E-759F-436F-8A80-239E61BF6BD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31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769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494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96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18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62207-0DD0-C04A-23F2-31B966895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C8647-D2A8-8859-6BB8-CEA2CF25B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C962A-5657-8484-FACA-AE91D79A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E98C5-4066-11AA-44FB-CBAD8C686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E9AB9-2876-FBDF-9F41-87B064A5E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33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7EB0-1132-B4C4-1655-24B4C9CB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902F8-8E9E-5F56-7EF1-71A0C32F2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2479-5337-499F-926A-722CD755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A19F5-C9EB-7020-B29E-D3A58BFF1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AD131-2BA5-C17C-ED46-503D17BF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5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FF1A-7406-4165-D046-D32055706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02563-9083-14EC-D927-450E933C2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639AD-09B6-3D25-FF16-6C337B8D9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CDD71-A4DD-B17E-1E25-25589CFD4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3066-1151-9816-871E-E1898B934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64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7789-975A-C27C-64DA-FEA479CA0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7AC5-4F63-B59E-E9A3-15E103C3C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C7B8D-8BF9-9018-79F7-961AA4109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8E0B5-2BC8-C92F-99E7-1E970176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7AEBB-F3D7-ECB0-2E8E-75D604EE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286FE-16EA-EC2A-CBFE-E8105E5D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16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2128-9982-E49C-D08A-52AE1DB27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84836-45AF-0817-D783-4B44ABFB0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69C14-442D-539A-4EF0-1E79ECC34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CAA6A-53BA-6A43-D62E-0D6C44BF0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739A2-C2A8-1050-DA44-C6939FA28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CF49F5-F0A0-8307-1B3B-18CB9513B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B75015-E2B0-48F3-6948-28EA4926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73380-BD1B-A52B-CCE5-7B33A5AF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3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B755-113E-6B7D-A4B0-720E56C5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4A1AF-188A-4DC8-4C79-8E2B07B1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4270A-548E-B654-E00B-FF7C9DC1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96945-55D4-9914-D02C-81F139A5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7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9CEC58-D582-F40F-DD9D-E9A3F2D07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73278-AF60-691D-A4FB-4F40C994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AD2B1-CA62-EBD6-0DE9-C7E14233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16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850E1-F4E3-037F-C250-3A40BB323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E277B-FD87-E925-1896-850365207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7EC01-31F9-145F-E2CC-C5B17FD22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E4C42-F673-BE08-8E5F-1BA584C9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C69E6-9EA8-64CB-B141-99954A848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260DA-F011-91DD-DDF4-3F8F4DE9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7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1F0D5-7CAA-766D-C0AA-2702B29DF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99069-586A-8737-0637-0B682642A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30584-AC19-EF27-FE16-69CAD34F2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83F4E-10CB-80E7-3A7C-CB923819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148EE-DF3F-C185-15A6-203C0B48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76B75-6E64-C2B0-B971-D6243143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07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15A89-3495-3AC3-F37B-CAFE858C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5B39F-6154-9A2A-EA23-B9CEAE91C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F9C89-7099-40AB-50A6-1A1D79275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38F98-3AF8-DE88-B8C6-6098E6144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432A8-95E7-18F6-16E1-E693CCA2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6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C3C0AA-D680-2408-27CA-A81A887A1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E5BD7-345A-3101-5690-5C72ADDC9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94ABA-D266-3CBA-DD7B-F8BD58A2E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20431-5BF9-8585-B5A5-33BF72E5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AFA9B-BA66-7AE6-B01D-6603F8C1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63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Text Only">
  <p:cSld name="9. Text Only">
    <p:spTree>
      <p:nvGrpSpPr>
        <p:cNvPr id="1" name="Shape 3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0" name="Google Shape;3590;p246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182875" rIns="27430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91" name="Google Shape;3591;p246"/>
          <p:cNvSpPr txBox="1">
            <a:spLocks noGrp="1"/>
          </p:cNvSpPr>
          <p:nvPr>
            <p:ph type="subTitle" idx="1"/>
          </p:nvPr>
        </p:nvSpPr>
        <p:spPr>
          <a:xfrm>
            <a:off x="0" y="901300"/>
            <a:ext cx="12192000" cy="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91425" rIns="45720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93" name="Google Shape;3593;p246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 rtl="0">
              <a:buNone/>
              <a:defRPr sz="800">
                <a:solidFill>
                  <a:srgbClr val="000000"/>
                </a:solidFill>
              </a:defRPr>
            </a:lvl1pPr>
            <a:lvl2pPr lvl="1" rtl="0">
              <a:buNone/>
              <a:defRPr sz="800">
                <a:solidFill>
                  <a:srgbClr val="000000"/>
                </a:solidFill>
              </a:defRPr>
            </a:lvl2pPr>
            <a:lvl3pPr lvl="2" rtl="0">
              <a:buNone/>
              <a:defRPr sz="800">
                <a:solidFill>
                  <a:srgbClr val="000000"/>
                </a:solidFill>
              </a:defRPr>
            </a:lvl3pPr>
            <a:lvl4pPr lvl="3" rtl="0">
              <a:buNone/>
              <a:defRPr sz="800">
                <a:solidFill>
                  <a:srgbClr val="000000"/>
                </a:solidFill>
              </a:defRPr>
            </a:lvl4pPr>
            <a:lvl5pPr lvl="4" rtl="0">
              <a:buNone/>
              <a:defRPr sz="800">
                <a:solidFill>
                  <a:srgbClr val="000000"/>
                </a:solidFill>
              </a:defRPr>
            </a:lvl5pPr>
            <a:lvl6pPr lvl="5" rtl="0">
              <a:buNone/>
              <a:defRPr sz="800">
                <a:solidFill>
                  <a:srgbClr val="000000"/>
                </a:solidFill>
              </a:defRPr>
            </a:lvl6pPr>
            <a:lvl7pPr lvl="6" rtl="0">
              <a:buNone/>
              <a:defRPr sz="800">
                <a:solidFill>
                  <a:srgbClr val="000000"/>
                </a:solidFill>
              </a:defRPr>
            </a:lvl7pPr>
            <a:lvl8pPr lvl="7" rtl="0">
              <a:buNone/>
              <a:defRPr sz="800">
                <a:solidFill>
                  <a:srgbClr val="000000"/>
                </a:solidFill>
              </a:defRPr>
            </a:lvl8pPr>
            <a:lvl9pPr lvl="8" rtl="0">
              <a:buNone/>
              <a:defRPr sz="8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595" name="Google Shape;3595;p246"/>
          <p:cNvSpPr txBox="1">
            <a:spLocks noGrp="1"/>
          </p:cNvSpPr>
          <p:nvPr>
            <p:ph type="subTitle" idx="2"/>
          </p:nvPr>
        </p:nvSpPr>
        <p:spPr>
          <a:xfrm>
            <a:off x="-16400" y="6555533"/>
            <a:ext cx="106292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457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33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96" name="Google Shape;3596;p246"/>
          <p:cNvSpPr txBox="1">
            <a:spLocks noGrp="1"/>
          </p:cNvSpPr>
          <p:nvPr>
            <p:ph type="body" idx="3"/>
          </p:nvPr>
        </p:nvSpPr>
        <p:spPr>
          <a:xfrm>
            <a:off x="233" y="1712333"/>
            <a:ext cx="12192000" cy="48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0" rIns="457200" bIns="914400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1219170" lvl="1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828754" lvl="2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438339" lvl="3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047924" lvl="4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657509" lvl="5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4267093" lvl="6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4876678" lvl="7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5486263" lvl="8" indent="-423323" rtl="0">
              <a:spcBef>
                <a:spcPts val="1067"/>
              </a:spcBef>
              <a:spcAft>
                <a:spcPts val="1067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2397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. Activity">
  <p:cSld name="12. Activity">
    <p:spTree>
      <p:nvGrpSpPr>
        <p:cNvPr id="1" name="Shape 3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6" name="Google Shape;3616;p249"/>
          <p:cNvSpPr txBox="1">
            <a:spLocks noGrp="1"/>
          </p:cNvSpPr>
          <p:nvPr>
            <p:ph type="title"/>
          </p:nvPr>
        </p:nvSpPr>
        <p:spPr>
          <a:xfrm>
            <a:off x="-134800" y="5646133"/>
            <a:ext cx="119604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9125" rIns="10058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19" name="Google Shape;3619;p249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 rtl="0">
              <a:buNone/>
              <a:defRPr sz="800">
                <a:solidFill>
                  <a:srgbClr val="000000"/>
                </a:solidFill>
              </a:defRPr>
            </a:lvl1pPr>
            <a:lvl2pPr lvl="1" rtl="0">
              <a:buNone/>
              <a:defRPr sz="800">
                <a:solidFill>
                  <a:srgbClr val="000000"/>
                </a:solidFill>
              </a:defRPr>
            </a:lvl2pPr>
            <a:lvl3pPr lvl="2" rtl="0">
              <a:buNone/>
              <a:defRPr sz="800">
                <a:solidFill>
                  <a:srgbClr val="000000"/>
                </a:solidFill>
              </a:defRPr>
            </a:lvl3pPr>
            <a:lvl4pPr lvl="3" rtl="0">
              <a:buNone/>
              <a:defRPr sz="800">
                <a:solidFill>
                  <a:srgbClr val="000000"/>
                </a:solidFill>
              </a:defRPr>
            </a:lvl4pPr>
            <a:lvl5pPr lvl="4" rtl="0">
              <a:buNone/>
              <a:defRPr sz="800">
                <a:solidFill>
                  <a:srgbClr val="000000"/>
                </a:solidFill>
              </a:defRPr>
            </a:lvl5pPr>
            <a:lvl6pPr lvl="5" rtl="0">
              <a:buNone/>
              <a:defRPr sz="800">
                <a:solidFill>
                  <a:srgbClr val="000000"/>
                </a:solidFill>
              </a:defRPr>
            </a:lvl6pPr>
            <a:lvl7pPr lvl="6" rtl="0">
              <a:buNone/>
              <a:defRPr sz="800">
                <a:solidFill>
                  <a:srgbClr val="000000"/>
                </a:solidFill>
              </a:defRPr>
            </a:lvl7pPr>
            <a:lvl8pPr lvl="7" rtl="0">
              <a:buNone/>
              <a:defRPr sz="800">
                <a:solidFill>
                  <a:srgbClr val="000000"/>
                </a:solidFill>
              </a:defRPr>
            </a:lvl8pPr>
            <a:lvl9pPr lvl="8" rtl="0">
              <a:buNone/>
              <a:defRPr sz="8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621" name="Google Shape;3621;p249"/>
          <p:cNvSpPr txBox="1">
            <a:spLocks noGrp="1"/>
          </p:cNvSpPr>
          <p:nvPr>
            <p:ph type="subTitle" idx="1"/>
          </p:nvPr>
        </p:nvSpPr>
        <p:spPr>
          <a:xfrm>
            <a:off x="-16400" y="6555533"/>
            <a:ext cx="106292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457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33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22" name="Google Shape;3622;p249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460400" cy="36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60300" tIns="0" rIns="457200" bIns="4572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239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. Bullets 1–4 (Yellow/Green)">
  <p:cSld name="26. Bullets 1–4 (Yellow/Green)"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p209"/>
          <p:cNvSpPr/>
          <p:nvPr/>
        </p:nvSpPr>
        <p:spPr>
          <a:xfrm>
            <a:off x="1803400" y="1838433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24" name="Google Shape;2924;p209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wrap="square" lIns="457200" tIns="182875" rIns="27430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25" name="Google Shape;2925;p209"/>
          <p:cNvSpPr txBox="1">
            <a:spLocks noGrp="1"/>
          </p:cNvSpPr>
          <p:nvPr>
            <p:ph type="subTitle" idx="1"/>
          </p:nvPr>
        </p:nvSpPr>
        <p:spPr>
          <a:xfrm>
            <a:off x="0" y="901300"/>
            <a:ext cx="12192000" cy="486400"/>
          </a:xfrm>
          <a:prstGeom prst="rect">
            <a:avLst/>
          </a:prstGeom>
        </p:spPr>
        <p:txBody>
          <a:bodyPr spcFirstLastPara="1" wrap="square" lIns="457200" tIns="91425" rIns="45720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2926" name="Google Shape;2926;p209"/>
          <p:cNvCxnSpPr/>
          <p:nvPr/>
        </p:nvCxnSpPr>
        <p:spPr>
          <a:xfrm>
            <a:off x="365833" y="853440"/>
            <a:ext cx="11460800" cy="1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7" name="Google Shape;2927;p209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 rtl="0">
              <a:buNone/>
              <a:defRPr sz="800">
                <a:solidFill>
                  <a:srgbClr val="000000"/>
                </a:solidFill>
              </a:defRPr>
            </a:lvl1pPr>
            <a:lvl2pPr lvl="1" rtl="0">
              <a:buNone/>
              <a:defRPr sz="800">
                <a:solidFill>
                  <a:srgbClr val="000000"/>
                </a:solidFill>
              </a:defRPr>
            </a:lvl2pPr>
            <a:lvl3pPr lvl="2" rtl="0">
              <a:buNone/>
              <a:defRPr sz="800">
                <a:solidFill>
                  <a:srgbClr val="000000"/>
                </a:solidFill>
              </a:defRPr>
            </a:lvl3pPr>
            <a:lvl4pPr lvl="3" rtl="0">
              <a:buNone/>
              <a:defRPr sz="800">
                <a:solidFill>
                  <a:srgbClr val="000000"/>
                </a:solidFill>
              </a:defRPr>
            </a:lvl4pPr>
            <a:lvl5pPr lvl="4" rtl="0">
              <a:buNone/>
              <a:defRPr sz="800">
                <a:solidFill>
                  <a:srgbClr val="000000"/>
                </a:solidFill>
              </a:defRPr>
            </a:lvl5pPr>
            <a:lvl6pPr lvl="5" rtl="0">
              <a:buNone/>
              <a:defRPr sz="800">
                <a:solidFill>
                  <a:srgbClr val="000000"/>
                </a:solidFill>
              </a:defRPr>
            </a:lvl6pPr>
            <a:lvl7pPr lvl="6" rtl="0">
              <a:buNone/>
              <a:defRPr sz="800">
                <a:solidFill>
                  <a:srgbClr val="000000"/>
                </a:solidFill>
              </a:defRPr>
            </a:lvl7pPr>
            <a:lvl8pPr lvl="7" rtl="0">
              <a:buNone/>
              <a:defRPr sz="800">
                <a:solidFill>
                  <a:srgbClr val="000000"/>
                </a:solidFill>
              </a:defRPr>
            </a:lvl8pPr>
            <a:lvl9pPr lvl="8" rtl="0">
              <a:buNone/>
              <a:defRPr sz="8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928" name="Google Shape;2928;p209"/>
          <p:cNvCxnSpPr/>
          <p:nvPr/>
        </p:nvCxnSpPr>
        <p:spPr>
          <a:xfrm>
            <a:off x="365760" y="6541940"/>
            <a:ext cx="11460800" cy="13600"/>
          </a:xfrm>
          <a:prstGeom prst="straightConnector1">
            <a:avLst/>
          </a:prstGeom>
          <a:noFill/>
          <a:ln w="9525" cap="flat" cmpd="sng">
            <a:solidFill>
              <a:srgbClr val="A9B7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9" name="Google Shape;2929;p209"/>
          <p:cNvSpPr txBox="1">
            <a:spLocks noGrp="1"/>
          </p:cNvSpPr>
          <p:nvPr>
            <p:ph type="subTitle" idx="2"/>
          </p:nvPr>
        </p:nvSpPr>
        <p:spPr>
          <a:xfrm>
            <a:off x="-16400" y="6555533"/>
            <a:ext cx="10629200" cy="302400"/>
          </a:xfrm>
          <a:prstGeom prst="rect">
            <a:avLst/>
          </a:prstGeom>
        </p:spPr>
        <p:txBody>
          <a:bodyPr spcFirstLastPara="1" wrap="square" lIns="274300" tIns="457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33"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0" name="Google Shape;2930;p209"/>
          <p:cNvSpPr txBox="1">
            <a:spLocks noGrp="1"/>
          </p:cNvSpPr>
          <p:nvPr>
            <p:ph type="subTitle" idx="3"/>
          </p:nvPr>
        </p:nvSpPr>
        <p:spPr>
          <a:xfrm>
            <a:off x="16300" y="1864000"/>
            <a:ext cx="121920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1" name="Google Shape;2931;p209"/>
          <p:cNvSpPr/>
          <p:nvPr/>
        </p:nvSpPr>
        <p:spPr>
          <a:xfrm>
            <a:off x="1803400" y="2974848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2" name="Google Shape;2932;p209"/>
          <p:cNvSpPr/>
          <p:nvPr/>
        </p:nvSpPr>
        <p:spPr>
          <a:xfrm>
            <a:off x="1803400" y="4098467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3" name="Google Shape;2933;p209"/>
          <p:cNvSpPr/>
          <p:nvPr/>
        </p:nvSpPr>
        <p:spPr>
          <a:xfrm>
            <a:off x="1803400" y="5225300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4" name="Google Shape;2934;p209"/>
          <p:cNvSpPr txBox="1">
            <a:spLocks noGrp="1"/>
          </p:cNvSpPr>
          <p:nvPr>
            <p:ph type="subTitle" idx="4"/>
          </p:nvPr>
        </p:nvSpPr>
        <p:spPr>
          <a:xfrm>
            <a:off x="-16300" y="2978067"/>
            <a:ext cx="122248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5" name="Google Shape;2935;p209"/>
          <p:cNvSpPr txBox="1">
            <a:spLocks noGrp="1"/>
          </p:cNvSpPr>
          <p:nvPr>
            <p:ph type="subTitle" idx="5"/>
          </p:nvPr>
        </p:nvSpPr>
        <p:spPr>
          <a:xfrm>
            <a:off x="0" y="4101700"/>
            <a:ext cx="122248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6" name="Google Shape;2936;p209"/>
          <p:cNvSpPr txBox="1">
            <a:spLocks noGrp="1"/>
          </p:cNvSpPr>
          <p:nvPr>
            <p:ph type="subTitle" idx="6"/>
          </p:nvPr>
        </p:nvSpPr>
        <p:spPr>
          <a:xfrm>
            <a:off x="-16400" y="5225300"/>
            <a:ext cx="122248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937" name="Google Shape;2937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3025" y="1870415"/>
            <a:ext cx="1047423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8" name="Google Shape;2938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3025" y="2969464"/>
            <a:ext cx="1047423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9" name="Google Shape;2939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6409" y="5222097"/>
            <a:ext cx="1047423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0" name="Google Shape;2940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3025" y="4109681"/>
            <a:ext cx="1047423" cy="809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9608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9AD4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66CCE-7051-D813-F46E-D14319817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6B23E-43C2-CFB0-71BE-ADAD573D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76007-6AC2-AB21-A487-80F7F9223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AB6AB-B19C-4A18-B35D-F02BE370A671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E16FA-3667-276A-432B-C94778CB94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2A165-1336-DA6B-4342-368466A5D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991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70" r:id="rId12"/>
    <p:sldLayoutId id="2147483871" r:id="rId13"/>
    <p:sldLayoutId id="214748387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5E2C-E9D4-5293-77D7-487B946CC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186057" cy="2387600"/>
          </a:xfrm>
        </p:spPr>
        <p:txBody>
          <a:bodyPr/>
          <a:lstStyle/>
          <a:p>
            <a:pPr algn="ctr"/>
            <a:r>
              <a:rPr lang="en-US" dirty="0"/>
              <a:t>Popular Visualizations In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D4649-2DA0-59F0-EC18-EC83782992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Ahmad Mousa </a:t>
            </a:r>
          </a:p>
        </p:txBody>
      </p:sp>
    </p:spTree>
    <p:extLst>
      <p:ext uri="{BB962C8B-B14F-4D97-AF65-F5344CB8AC3E}">
        <p14:creationId xmlns:p14="http://schemas.microsoft.com/office/powerpoint/2010/main" val="748437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0" name="Google Shape;5940;p388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vert="horz" wrap="square" lIns="609600" tIns="243833" rIns="365733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/>
              <a:t>Class Objectives</a:t>
            </a:r>
            <a:endParaRPr>
              <a:solidFill>
                <a:schemeClr val="dk1"/>
              </a:solidFill>
            </a:endParaRPr>
          </a:p>
          <a:p>
            <a:endParaRPr>
              <a:solidFill>
                <a:schemeClr val="dk1"/>
              </a:solidFill>
            </a:endParaRPr>
          </a:p>
        </p:txBody>
      </p:sp>
      <p:sp>
        <p:nvSpPr>
          <p:cNvPr id="5941" name="Google Shape;5941;p388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  <p:sp>
        <p:nvSpPr>
          <p:cNvPr id="5942" name="Google Shape;5942;p388"/>
          <p:cNvSpPr txBox="1">
            <a:spLocks noGrp="1"/>
          </p:cNvSpPr>
          <p:nvPr>
            <p:ph type="subTitle" idx="1"/>
          </p:nvPr>
        </p:nvSpPr>
        <p:spPr>
          <a:xfrm>
            <a:off x="0" y="901300"/>
            <a:ext cx="12192000" cy="486400"/>
          </a:xfrm>
          <a:prstGeom prst="rect">
            <a:avLst/>
          </a:prstGeom>
        </p:spPr>
        <p:txBody>
          <a:bodyPr spcFirstLastPara="1" vert="horz" wrap="square" lIns="609600" tIns="121900" rIns="609600" bIns="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>
                <a:solidFill>
                  <a:schemeClr val="dk1"/>
                </a:solidFill>
              </a:rPr>
              <a:t>By the end of this lesson, you will be able to:</a:t>
            </a:r>
            <a:endParaRPr/>
          </a:p>
        </p:txBody>
      </p:sp>
      <p:sp>
        <p:nvSpPr>
          <p:cNvPr id="5943" name="Google Shape;5943;p388"/>
          <p:cNvSpPr txBox="1">
            <a:spLocks noGrp="1"/>
          </p:cNvSpPr>
          <p:nvPr>
            <p:ph type="subTitle" idx="3"/>
          </p:nvPr>
        </p:nvSpPr>
        <p:spPr>
          <a:xfrm>
            <a:off x="16300" y="2025339"/>
            <a:ext cx="121920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1867" dirty="0"/>
              <a:t>Create a Power BI Report</a:t>
            </a:r>
          </a:p>
        </p:txBody>
      </p:sp>
      <p:sp>
        <p:nvSpPr>
          <p:cNvPr id="5944" name="Google Shape;5944;p388"/>
          <p:cNvSpPr txBox="1">
            <a:spLocks noGrp="1"/>
          </p:cNvSpPr>
          <p:nvPr>
            <p:ph type="subTitle" idx="4"/>
          </p:nvPr>
        </p:nvSpPr>
        <p:spPr>
          <a:xfrm>
            <a:off x="-16400" y="3148560"/>
            <a:ext cx="122248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2000" dirty="0"/>
              <a:t>Add a filter to a Report in Power BI</a:t>
            </a:r>
          </a:p>
        </p:txBody>
      </p:sp>
      <p:sp>
        <p:nvSpPr>
          <p:cNvPr id="5945" name="Google Shape;5945;p388"/>
          <p:cNvSpPr txBox="1">
            <a:spLocks noGrp="1"/>
          </p:cNvSpPr>
          <p:nvPr>
            <p:ph type="subTitle" idx="5"/>
          </p:nvPr>
        </p:nvSpPr>
        <p:spPr>
          <a:xfrm>
            <a:off x="0" y="4266092"/>
            <a:ext cx="122248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1867" dirty="0"/>
              <a:t>Create Report with Interactions</a:t>
            </a:r>
          </a:p>
        </p:txBody>
      </p:sp>
      <p:sp>
        <p:nvSpPr>
          <p:cNvPr id="5946" name="Google Shape;5946;p388"/>
          <p:cNvSpPr txBox="1">
            <a:spLocks noGrp="1"/>
          </p:cNvSpPr>
          <p:nvPr>
            <p:ph type="subTitle" idx="6"/>
          </p:nvPr>
        </p:nvSpPr>
        <p:spPr>
          <a:xfrm>
            <a:off x="-16400" y="5400156"/>
            <a:ext cx="122248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1867" dirty="0"/>
              <a:t>Publish, save and Share Reports in Power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7" name="Google Shape;5957;p39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  <p:pic>
        <p:nvPicPr>
          <p:cNvPr id="5958" name="Google Shape;5958;p3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92000" cy="685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bar chart with black background&#10;&#10;Description automatically generated">
            <a:extLst>
              <a:ext uri="{FF2B5EF4-FFF2-40B4-BE49-F238E27FC236}">
                <a16:creationId xmlns:a16="http://schemas.microsoft.com/office/drawing/2014/main" id="{1780E563-1659-D578-EFB5-005558FB9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43" y="2694214"/>
            <a:ext cx="7402286" cy="41637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CA45DE-0E5A-2BCE-8D6A-969F4E4DAD2D}"/>
              </a:ext>
            </a:extLst>
          </p:cNvPr>
          <p:cNvSpPr/>
          <p:nvPr/>
        </p:nvSpPr>
        <p:spPr>
          <a:xfrm>
            <a:off x="1558208" y="1062335"/>
            <a:ext cx="95763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rgbClr val="FFC000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Visualizations in a report view </a:t>
            </a:r>
          </a:p>
        </p:txBody>
      </p:sp>
    </p:spTree>
    <p:extLst>
      <p:ext uri="{BB962C8B-B14F-4D97-AF65-F5344CB8AC3E}">
        <p14:creationId xmlns:p14="http://schemas.microsoft.com/office/powerpoint/2010/main" val="2123591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07411D-912F-4869-47C9-2C1215ED1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77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544BCD-0EF6-9066-570F-51E7148D62F0}"/>
              </a:ext>
            </a:extLst>
          </p:cNvPr>
          <p:cNvSpPr txBox="1"/>
          <p:nvPr/>
        </p:nvSpPr>
        <p:spPr>
          <a:xfrm>
            <a:off x="3507129" y="1041722"/>
            <a:ext cx="5034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047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B3A1532-6AB1-3066-DDDD-F8D64C8EA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220724"/>
            <a:ext cx="10905066" cy="441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653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EED06F-C251-D534-787C-7C36D4B1B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68" y="838067"/>
            <a:ext cx="10960663" cy="518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98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2CB102C-9611-40B5-F8BF-E42F77F6D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5" y="996825"/>
            <a:ext cx="12059270" cy="486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58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BA3A2C1-71E8-4D86-0ABD-55CA979F8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56" y="806315"/>
            <a:ext cx="11417887" cy="524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3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45F4C8C-8D97-8BE1-08EE-757CF7FDA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76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33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11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1142999" y="1441021"/>
            <a:ext cx="11477715" cy="1465899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67" b="1" dirty="0"/>
              <a:t>Instructor Demonstration: Create a Power BI Report</a:t>
            </a:r>
            <a:br>
              <a:rPr lang="en-US" sz="3067" b="1" dirty="0"/>
            </a:br>
            <a:endParaRPr lang="en-US"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C09200">
              <a:alpha val="49804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25 minutes </a:t>
            </a:r>
          </a:p>
        </p:txBody>
      </p:sp>
      <p:pic>
        <p:nvPicPr>
          <p:cNvPr id="12" name="Picture 11" descr="A person standing in front of a board&#10;&#10;Description automatically generated">
            <a:extLst>
              <a:ext uri="{FF2B5EF4-FFF2-40B4-BE49-F238E27FC236}">
                <a16:creationId xmlns:a16="http://schemas.microsoft.com/office/drawing/2014/main" id="{BDD304A6-4CD0-33A5-D245-AA55A5792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991"/>
            <a:ext cx="3977456" cy="40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46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C84FB9-686D-9B7B-7BE0-5D4BF259CB49}"/>
              </a:ext>
            </a:extLst>
          </p:cNvPr>
          <p:cNvSpPr txBox="1"/>
          <p:nvPr/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?</a:t>
            </a:r>
          </a:p>
        </p:txBody>
      </p:sp>
      <p:pic>
        <p:nvPicPr>
          <p:cNvPr id="8" name="Picture 7" descr="A group of hands with their hands raised&#10;&#10;Description automatically generated">
            <a:extLst>
              <a:ext uri="{FF2B5EF4-FFF2-40B4-BE49-F238E27FC236}">
                <a16:creationId xmlns:a16="http://schemas.microsoft.com/office/drawing/2014/main" id="{EFB8A6E5-CB28-2BCB-2F87-E70727998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801" y="578738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72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13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686000" cy="3685600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067" b="1" dirty="0"/>
              <a:t>Students Do: </a:t>
            </a:r>
            <a:r>
              <a:rPr lang="en-US" sz="3067" b="1" dirty="0"/>
              <a:t>Create a Power BI Report</a:t>
            </a:r>
            <a:br>
              <a:rPr lang="en-US" sz="3067" b="1" dirty="0"/>
            </a:b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>
              <a:buClr>
                <a:schemeClr val="dk1"/>
              </a:buClr>
              <a:buSzPts val="1100"/>
            </a:pPr>
            <a:endParaRPr sz="25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Picture 4" descr="A pen and pencil with a black background&#10;&#10;Description automatically generated">
            <a:extLst>
              <a:ext uri="{FF2B5EF4-FFF2-40B4-BE49-F238E27FC236}">
                <a16:creationId xmlns:a16="http://schemas.microsoft.com/office/drawing/2014/main" id="{3D4352F9-81A4-3797-0CFF-9F8D6E74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00" y="428610"/>
            <a:ext cx="4133943" cy="4133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 minutes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0" name="Google Shape;6080;p407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vert="horz" wrap="square" lIns="609600" tIns="243833" rIns="365733" bIns="121900" rtlCol="0" anchor="t" anchorCtr="0">
            <a:noAutofit/>
          </a:bodyPr>
          <a:lstStyle/>
          <a:p>
            <a:pPr>
              <a:buSzPts val="990"/>
            </a:pPr>
            <a:r>
              <a:rPr lang="en" sz="3253" dirty="0"/>
              <a:t>Activity: Explore Data</a:t>
            </a:r>
            <a:endParaRPr sz="3253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1" name="Google Shape;6081;p407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rmAutofit fontScale="25000" lnSpcReduction="20000"/>
          </a:bodyPr>
          <a:lstStyle/>
          <a:p>
            <a:fld id="{00000000-1234-1234-1234-123412341234}" type="slidenum">
              <a:rPr lang="en"/>
              <a:pPr/>
              <a:t>14</a:t>
            </a:fld>
            <a:endParaRPr/>
          </a:p>
        </p:txBody>
      </p:sp>
      <p:sp>
        <p:nvSpPr>
          <p:cNvPr id="6082" name="Google Shape;6082;p407"/>
          <p:cNvSpPr/>
          <p:nvPr/>
        </p:nvSpPr>
        <p:spPr>
          <a:xfrm>
            <a:off x="751100" y="1353299"/>
            <a:ext cx="10722400" cy="3343653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086" name="Google Shape;6086;p407"/>
          <p:cNvSpPr/>
          <p:nvPr/>
        </p:nvSpPr>
        <p:spPr>
          <a:xfrm>
            <a:off x="738533" y="4809203"/>
            <a:ext cx="10722400" cy="1281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609585"/>
            <a:endParaRPr sz="2400"/>
          </a:p>
          <a:p>
            <a:pPr marL="609585"/>
            <a:endParaRPr sz="2400"/>
          </a:p>
          <a:p>
            <a:pPr marL="609585"/>
            <a:endParaRPr sz="2400"/>
          </a:p>
          <a:p>
            <a:pPr marL="609585"/>
            <a:r>
              <a:rPr lang="en" sz="2400"/>
              <a:t>	</a:t>
            </a:r>
            <a:endParaRPr sz="2400"/>
          </a:p>
        </p:txBody>
      </p:sp>
      <p:pic>
        <p:nvPicPr>
          <p:cNvPr id="6087" name="Google Shape;6087;p4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782531" flipH="1">
            <a:off x="914507" y="5160004"/>
            <a:ext cx="835436" cy="835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88" name="Google Shape;6088;p407"/>
          <p:cNvSpPr txBox="1"/>
          <p:nvPr/>
        </p:nvSpPr>
        <p:spPr>
          <a:xfrm>
            <a:off x="711652" y="4753669"/>
            <a:ext cx="10775600" cy="1040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buSzPts val="1400"/>
              <a:buFont typeface="Roboto"/>
              <a:buChar char="●"/>
            </a:pP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Hint:</a:t>
            </a:r>
            <a:endParaRPr sz="2400" b="1" dirty="0">
              <a:latin typeface="Roboto"/>
              <a:ea typeface="Roboto"/>
              <a:cs typeface="Roboto"/>
              <a:sym typeface="Roboto"/>
            </a:endParaRPr>
          </a:p>
          <a:p>
            <a:pPr marL="1219170" lvl="1" indent="-423323">
              <a:lnSpc>
                <a:spcPct val="115000"/>
              </a:lnSpc>
              <a:buClr>
                <a:srgbClr val="24292E"/>
              </a:buClr>
              <a:buSzPts val="1400"/>
              <a:buChar char="○"/>
            </a:pPr>
            <a:r>
              <a:rPr lang="en" sz="2400" dirty="0">
                <a:solidFill>
                  <a:srgbClr val="24292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Don’t forget to save the file once finished. 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1FDDDB-6D3D-CC61-74C4-1FC34A3E5F34}"/>
              </a:ext>
            </a:extLst>
          </p:cNvPr>
          <p:cNvSpPr txBox="1"/>
          <p:nvPr/>
        </p:nvSpPr>
        <p:spPr>
          <a:xfrm>
            <a:off x="1153886" y="1469571"/>
            <a:ext cx="1000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</a:t>
            </a:r>
            <a:r>
              <a:rPr lang="en-US" sz="1800" b="1" dirty="0"/>
              <a:t>film data </a:t>
            </a:r>
            <a:r>
              <a:rPr lang="en-US" sz="1800" dirty="0"/>
              <a:t>do: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680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topwatch with a red ribbon&#10;&#10;Description automatically generated">
            <a:extLst>
              <a:ext uri="{FF2B5EF4-FFF2-40B4-BE49-F238E27FC236}">
                <a16:creationId xmlns:a16="http://schemas.microsoft.com/office/drawing/2014/main" id="{DDB0DF0C-8F35-45FA-48E7-21E8F1DDE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89" y="643466"/>
            <a:ext cx="66322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00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bar chart with black background&#10;&#10;Description automatically generated">
            <a:extLst>
              <a:ext uri="{FF2B5EF4-FFF2-40B4-BE49-F238E27FC236}">
                <a16:creationId xmlns:a16="http://schemas.microsoft.com/office/drawing/2014/main" id="{1780E563-1659-D578-EFB5-005558FB9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43" y="2694214"/>
            <a:ext cx="7402286" cy="41637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CA45DE-0E5A-2BCE-8D6A-969F4E4DAD2D}"/>
              </a:ext>
            </a:extLst>
          </p:cNvPr>
          <p:cNvSpPr/>
          <p:nvPr/>
        </p:nvSpPr>
        <p:spPr>
          <a:xfrm>
            <a:off x="2940324" y="1062335"/>
            <a:ext cx="68121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rgbClr val="FFC000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Custom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959989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543698A8-B550-9AA6-571E-46510A069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1053978"/>
            <a:ext cx="12179926" cy="475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975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18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849087" y="1441021"/>
            <a:ext cx="11202114" cy="1465899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67" b="1" dirty="0"/>
              <a:t>Instructor Demonstration</a:t>
            </a:r>
            <a:r>
              <a:rPr lang="en" sz="3067" b="1" dirty="0"/>
              <a:t>: </a:t>
            </a:r>
            <a:r>
              <a:rPr lang="en-US" sz="3067" b="1" dirty="0"/>
              <a:t>Report filter and Interactions</a:t>
            </a: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C09200">
              <a:alpha val="49804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 minutes </a:t>
            </a:r>
          </a:p>
        </p:txBody>
      </p:sp>
      <p:pic>
        <p:nvPicPr>
          <p:cNvPr id="12" name="Picture 11" descr="A person standing in front of a board&#10;&#10;Description automatically generated">
            <a:extLst>
              <a:ext uri="{FF2B5EF4-FFF2-40B4-BE49-F238E27FC236}">
                <a16:creationId xmlns:a16="http://schemas.microsoft.com/office/drawing/2014/main" id="{BDD304A6-4CD0-33A5-D245-AA55A5792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991"/>
            <a:ext cx="3977456" cy="40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42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19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686000" cy="3685600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067" b="1" dirty="0"/>
              <a:t>Everyone Do: </a:t>
            </a:r>
            <a:r>
              <a:rPr lang="en-US" sz="3067" b="1" dirty="0"/>
              <a:t>Report filter</a:t>
            </a:r>
            <a:endParaRPr sz="25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Picture 4" descr="A pen and pencil with a black background&#10;&#10;Description automatically generated">
            <a:extLst>
              <a:ext uri="{FF2B5EF4-FFF2-40B4-BE49-F238E27FC236}">
                <a16:creationId xmlns:a16="http://schemas.microsoft.com/office/drawing/2014/main" id="{3D4352F9-81A4-3797-0CFF-9F8D6E74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00" y="428610"/>
            <a:ext cx="4133943" cy="4133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15 minutes </a:t>
            </a:r>
          </a:p>
        </p:txBody>
      </p:sp>
    </p:spTree>
    <p:extLst>
      <p:ext uri="{BB962C8B-B14F-4D97-AF65-F5344CB8AC3E}">
        <p14:creationId xmlns:p14="http://schemas.microsoft.com/office/powerpoint/2010/main" val="1918344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topwatch with a red ribbon&#10;&#10;Description automatically generated">
            <a:extLst>
              <a:ext uri="{FF2B5EF4-FFF2-40B4-BE49-F238E27FC236}">
                <a16:creationId xmlns:a16="http://schemas.microsoft.com/office/drawing/2014/main" id="{DDB0DF0C-8F35-45FA-48E7-21E8F1DDE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89" y="643466"/>
            <a:ext cx="66322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26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bar chart with black background&#10;&#10;Description automatically generated">
            <a:extLst>
              <a:ext uri="{FF2B5EF4-FFF2-40B4-BE49-F238E27FC236}">
                <a16:creationId xmlns:a16="http://schemas.microsoft.com/office/drawing/2014/main" id="{1780E563-1659-D578-EFB5-005558FB9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43" y="2694214"/>
            <a:ext cx="7402286" cy="41637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CA45DE-0E5A-2BCE-8D6A-969F4E4DAD2D}"/>
              </a:ext>
            </a:extLst>
          </p:cNvPr>
          <p:cNvSpPr/>
          <p:nvPr/>
        </p:nvSpPr>
        <p:spPr>
          <a:xfrm>
            <a:off x="1891544" y="1062335"/>
            <a:ext cx="89096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rgbClr val="FFC000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Drill down in a visualization </a:t>
            </a:r>
          </a:p>
        </p:txBody>
      </p:sp>
    </p:spTree>
    <p:extLst>
      <p:ext uri="{BB962C8B-B14F-4D97-AF65-F5344CB8AC3E}">
        <p14:creationId xmlns:p14="http://schemas.microsoft.com/office/powerpoint/2010/main" val="1387513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E32EE90-F2A6-0CDB-696A-47F9765B9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35" y="768213"/>
            <a:ext cx="11284530" cy="532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231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966ECDD-1D4C-950B-AF04-DE35829C2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72" y="542776"/>
            <a:ext cx="11779855" cy="577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87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24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849087" y="1441021"/>
            <a:ext cx="11202114" cy="1465899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67" b="1" dirty="0"/>
              <a:t>Instructor Demonstration</a:t>
            </a:r>
            <a:r>
              <a:rPr lang="en" sz="3067" b="1" dirty="0"/>
              <a:t>: </a:t>
            </a:r>
            <a:r>
              <a:rPr lang="en-US" sz="3067" b="1" dirty="0"/>
              <a:t>Report filter and Interactions</a:t>
            </a: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C09200">
              <a:alpha val="49804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 minutes </a:t>
            </a:r>
          </a:p>
        </p:txBody>
      </p:sp>
      <p:pic>
        <p:nvPicPr>
          <p:cNvPr id="12" name="Picture 11" descr="A person standing in front of a board&#10;&#10;Description automatically generated">
            <a:extLst>
              <a:ext uri="{FF2B5EF4-FFF2-40B4-BE49-F238E27FC236}">
                <a16:creationId xmlns:a16="http://schemas.microsoft.com/office/drawing/2014/main" id="{BDD304A6-4CD0-33A5-D245-AA55A5792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991"/>
            <a:ext cx="3977456" cy="40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61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25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686000" cy="3685600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067" b="1" dirty="0"/>
              <a:t>Everyone Do: </a:t>
            </a:r>
            <a:r>
              <a:rPr lang="en-US" sz="3067" b="1" dirty="0"/>
              <a:t>Report filter</a:t>
            </a:r>
            <a:endParaRPr sz="25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Picture 4" descr="A pen and pencil with a black background&#10;&#10;Description automatically generated">
            <a:extLst>
              <a:ext uri="{FF2B5EF4-FFF2-40B4-BE49-F238E27FC236}">
                <a16:creationId xmlns:a16="http://schemas.microsoft.com/office/drawing/2014/main" id="{3D4352F9-81A4-3797-0CFF-9F8D6E74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00" y="428610"/>
            <a:ext cx="4133943" cy="4133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10 </a:t>
            </a:r>
            <a:r>
              <a:rPr lang="en-US" sz="2000" dirty="0"/>
              <a:t>minutes </a:t>
            </a:r>
          </a:p>
        </p:txBody>
      </p:sp>
    </p:spTree>
    <p:extLst>
      <p:ext uri="{BB962C8B-B14F-4D97-AF65-F5344CB8AC3E}">
        <p14:creationId xmlns:p14="http://schemas.microsoft.com/office/powerpoint/2010/main" val="1913128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topwatch with a red ribbon&#10;&#10;Description automatically generated">
            <a:extLst>
              <a:ext uri="{FF2B5EF4-FFF2-40B4-BE49-F238E27FC236}">
                <a16:creationId xmlns:a16="http://schemas.microsoft.com/office/drawing/2014/main" id="{DDB0DF0C-8F35-45FA-48E7-21E8F1DDE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89" y="643466"/>
            <a:ext cx="66322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18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of a sand clock&#10;&#10;Description automatically generated">
            <a:extLst>
              <a:ext uri="{FF2B5EF4-FFF2-40B4-BE49-F238E27FC236}">
                <a16:creationId xmlns:a16="http://schemas.microsoft.com/office/drawing/2014/main" id="{E3920EF5-8A4A-9D80-D036-783325015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171" y="338861"/>
            <a:ext cx="6226629" cy="618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11410</TotalTime>
  <Words>210</Words>
  <Application>Microsoft Office PowerPoint</Application>
  <PresentationFormat>Widescreen</PresentationFormat>
  <Paragraphs>108</Paragraphs>
  <Slides>27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Roboto</vt:lpstr>
      <vt:lpstr>Roboto Light</vt:lpstr>
      <vt:lpstr>Roboto Medium</vt:lpstr>
      <vt:lpstr>Office Theme</vt:lpstr>
      <vt:lpstr>Popular Visualizations In POWER BI</vt:lpstr>
      <vt:lpstr>Class Objectives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10 Minutes</vt:lpstr>
      <vt:lpstr>PowerPoint Presentation</vt:lpstr>
      <vt:lpstr>  10 Minutes</vt:lpstr>
      <vt:lpstr>Activity: Explore Data</vt:lpstr>
      <vt:lpstr>PowerPoint Presentation</vt:lpstr>
      <vt:lpstr>PowerPoint Presentation</vt:lpstr>
      <vt:lpstr>PowerPoint Presentation</vt:lpstr>
      <vt:lpstr>  10 Minutes</vt:lpstr>
      <vt:lpstr>  10 Minutes</vt:lpstr>
      <vt:lpstr>PowerPoint Presentation</vt:lpstr>
      <vt:lpstr>PowerPoint Presentation</vt:lpstr>
      <vt:lpstr>PowerPoint Presentation</vt:lpstr>
      <vt:lpstr>PowerPoint Presentation</vt:lpstr>
      <vt:lpstr>  10 Minutes</vt:lpstr>
      <vt:lpstr>  10 Minutes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Mousa</dc:creator>
  <cp:lastModifiedBy>Ahmad Mousa</cp:lastModifiedBy>
  <cp:revision>19</cp:revision>
  <dcterms:created xsi:type="dcterms:W3CDTF">2024-11-06T17:37:33Z</dcterms:created>
  <dcterms:modified xsi:type="dcterms:W3CDTF">2024-12-07T16:24:54Z</dcterms:modified>
</cp:coreProperties>
</file>